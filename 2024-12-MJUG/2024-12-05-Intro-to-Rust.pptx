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lvl1pPr>
    <a:lvl2pPr marL="0" marR="0" indent="22860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lvl2pPr>
    <a:lvl3pPr marL="0" marR="0" indent="45720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lvl3pPr>
    <a:lvl4pPr marL="0" marR="0" indent="68580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lvl4pPr>
    <a:lvl5pPr marL="0" marR="0" indent="91440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lvl5pPr>
    <a:lvl6pPr marL="0" marR="0" indent="114300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lvl6pPr>
    <a:lvl7pPr marL="0" marR="0" indent="137160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lvl7pPr>
    <a:lvl8pPr marL="0" marR="0" indent="160020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lvl8pPr>
    <a:lvl9pPr marL="0" marR="0" indent="182880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chemeClr val="accent2">
                  <a:satOff val="-5186"/>
                  <a:lumOff val="-28409"/>
                </a:schemeClr>
              </a:solidFill>
              <a:prstDash val="solid"/>
              <a:miter lim="400000"/>
            </a:ln>
          </a:right>
          <a:top>
            <a:ln w="12700" cap="flat">
              <a:solidFill>
                <a:schemeClr val="accent2">
                  <a:satOff val="-5186"/>
                  <a:lumOff val="-28409"/>
                </a:schemeClr>
              </a:solidFill>
              <a:prstDash val="solid"/>
              <a:miter lim="400000"/>
            </a:ln>
          </a:top>
          <a:bottom>
            <a:ln w="12700" cap="flat">
              <a:solidFill>
                <a:schemeClr val="accent2">
                  <a:satOff val="-5186"/>
                  <a:lumOff val="-28409"/>
                </a:schemeClr>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solidFill>
            <a:srgbClr val="375A7D"/>
          </a:solidFill>
        </a:fill>
      </a:tcStyle>
    </a:wholeTbl>
    <a:band2H>
      <a:tcTxStyle/>
      <a:tcStyle>
        <a:tcBdr/>
        <a:fill>
          <a:solidFill>
            <a:srgbClr val="3B7499"/>
          </a:solidFill>
        </a:fill>
      </a:tcStyle>
    </a:band2H>
    <a:firstCol>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rgbClr val="53D5FD"/>
              </a:solidFill>
              <a:prstDash val="solid"/>
              <a:miter lim="400000"/>
            </a:ln>
          </a:right>
          <a:top>
            <a:ln w="12700" cap="flat">
              <a:solidFill>
                <a:schemeClr val="accent2">
                  <a:satOff val="-5186"/>
                  <a:lumOff val="-28409"/>
                </a:schemeClr>
              </a:solidFill>
              <a:prstDash val="solid"/>
              <a:miter lim="400000"/>
            </a:ln>
          </a:top>
          <a:bottom>
            <a:ln w="12700" cap="flat">
              <a:solidFill>
                <a:schemeClr val="accent2">
                  <a:satOff val="-5186"/>
                  <a:lumOff val="-28409"/>
                </a:schemeClr>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solidFill>
            <a:schemeClr val="accent1">
              <a:hueOff val="450000"/>
              <a:satOff val="-18071"/>
              <a:lumOff val="-14609"/>
            </a:schemeClr>
          </a:solidFill>
        </a:fill>
      </a:tcStyle>
    </a:firstCol>
    <a:lastRow>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chemeClr val="accent2">
                  <a:satOff val="-5186"/>
                  <a:lumOff val="-28409"/>
                </a:schemeClr>
              </a:solidFill>
              <a:prstDash val="solid"/>
              <a:miter lim="400000"/>
            </a:ln>
          </a:right>
          <a:top>
            <a:ln w="12700" cap="flat">
              <a:solidFill>
                <a:srgbClr val="53D5FD"/>
              </a:solidFill>
              <a:prstDash val="solid"/>
              <a:miter lim="400000"/>
            </a:ln>
          </a:top>
          <a:bottom>
            <a:ln w="12700" cap="flat">
              <a:solidFill>
                <a:schemeClr val="accent2">
                  <a:satOff val="-5186"/>
                  <a:lumOff val="-28409"/>
                </a:schemeClr>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solidFill>
            <a:schemeClr val="accent1">
              <a:hueOff val="450000"/>
              <a:satOff val="-18071"/>
              <a:lumOff val="-14609"/>
            </a:schemeClr>
          </a:solidFill>
        </a:fill>
      </a:tcStyle>
    </a:lastRow>
    <a:firstRow>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chemeClr val="accent2">
                  <a:satOff val="-5186"/>
                  <a:lumOff val="-28409"/>
                </a:schemeClr>
              </a:solidFill>
              <a:prstDash val="solid"/>
              <a:miter lim="400000"/>
            </a:ln>
          </a:right>
          <a:top>
            <a:ln w="12700" cap="flat">
              <a:solidFill>
                <a:schemeClr val="accent2">
                  <a:satOff val="-5186"/>
                  <a:lumOff val="-28409"/>
                </a:schemeClr>
              </a:solidFill>
              <a:prstDash val="solid"/>
              <a:miter lim="400000"/>
            </a:ln>
          </a:top>
          <a:bottom>
            <a:ln w="12700" cap="flat">
              <a:solidFill>
                <a:srgbClr val="53D5FD"/>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solidFill>
            <a:schemeClr val="accent1">
              <a:hueOff val="450000"/>
              <a:satOff val="-18071"/>
              <a:lumOff val="-14609"/>
            </a:schemeClr>
          </a:solidFill>
        </a:fill>
      </a:tcStyle>
    </a:firstRow>
  </a:tblStyle>
  <a:tblStyle styleId="{C7B018BB-80A7-4F77-B60F-C8B233D01FF8}" styleName="">
    <a:tblBg/>
    <a:wholeTbl>
      <a:tcTxStyle b="off" i="off">
        <a:font>
          <a:latin typeface="Avenir Medium"/>
          <a:ea typeface="Avenir Medium"/>
          <a:cs typeface="Avenir Medium"/>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50800" cap="flat">
              <a:solidFill>
                <a:srgbClr val="000000"/>
              </a:solidFill>
              <a:prstDash val="solid"/>
              <a:miter lim="400000"/>
            </a:ln>
          </a:top>
          <a:bottom>
            <a:ln w="50800" cap="flat">
              <a:solidFill>
                <a:srgbClr val="000000"/>
              </a:solidFill>
              <a:prstDash val="solid"/>
              <a:miter lim="400000"/>
            </a:ln>
          </a:bottom>
          <a:insideH>
            <a:ln w="508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0A0A0A">
              <a:alpha val="92000"/>
            </a:srgbClr>
          </a:solidFill>
        </a:fill>
      </a:tcStyle>
    </a:band2H>
    <a:firstCol>
      <a:tcTxStyle b="off" i="off">
        <a:font>
          <a:latin typeface="Avenir Medium"/>
          <a:ea typeface="Avenir Medium"/>
          <a:cs typeface="Avenir Medium"/>
        </a:font>
        <a:srgbClr val="FFFFFF"/>
      </a:tcTxStyle>
      <a:tcStyle>
        <a:tcBdr>
          <a:left>
            <a:ln w="25400" cap="flat">
              <a:solidFill>
                <a:srgbClr val="000000"/>
              </a:solidFill>
              <a:prstDash val="solid"/>
              <a:miter lim="400000"/>
            </a:ln>
          </a:left>
          <a:right>
            <a:ln w="88900" cap="flat">
              <a:solidFill>
                <a:srgbClr val="000000"/>
              </a:solidFill>
              <a:prstDash val="solid"/>
              <a:miter lim="400000"/>
            </a:ln>
          </a:right>
          <a:top>
            <a:ln w="50800" cap="flat">
              <a:solidFill>
                <a:srgbClr val="000000"/>
              </a:solidFill>
              <a:prstDash val="solid"/>
              <a:miter lim="400000"/>
            </a:ln>
          </a:top>
          <a:bottom>
            <a:ln w="50800" cap="flat">
              <a:solidFill>
                <a:srgbClr val="000000"/>
              </a:solidFill>
              <a:prstDash val="solid"/>
              <a:miter lim="400000"/>
            </a:ln>
          </a:bottom>
          <a:insideH>
            <a:ln w="508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ff" i="off">
        <a:font>
          <a:latin typeface="Avenir Medium"/>
          <a:ea typeface="Avenir Medium"/>
          <a:cs typeface="Avenir Medium"/>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889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Avenir Medium"/>
          <a:ea typeface="Avenir Medium"/>
          <a:cs typeface="Avenir Medium"/>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889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EEE7283C-3CF3-47DC-8721-378D4A62B228}" styleName="">
    <a:tblBg/>
    <a:wholeTbl>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chemeClr val="accent2">
                  <a:satOff val="-5186"/>
                  <a:lumOff val="-28409"/>
                </a:schemeClr>
              </a:solidFill>
              <a:prstDash val="solid"/>
              <a:miter lim="400000"/>
            </a:ln>
          </a:right>
          <a:top>
            <a:ln w="12700" cap="flat">
              <a:solidFill>
                <a:schemeClr val="accent2">
                  <a:satOff val="-5186"/>
                  <a:lumOff val="-28409"/>
                </a:schemeClr>
              </a:solidFill>
              <a:prstDash val="solid"/>
              <a:miter lim="400000"/>
            </a:ln>
          </a:top>
          <a:bottom>
            <a:ln w="12700" cap="flat">
              <a:solidFill>
                <a:schemeClr val="accent2">
                  <a:satOff val="-5186"/>
                  <a:lumOff val="-28409"/>
                </a:schemeClr>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noFill/>
        </a:fill>
      </a:tcStyle>
    </a:wholeTbl>
    <a:band2H>
      <a:tcTxStyle/>
      <a:tcStyle>
        <a:tcBdr/>
        <a:fill>
          <a:solidFill>
            <a:srgbClr val="00EDFF">
              <a:alpha val="24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solidFill>
                <a:schemeClr val="accent2">
                  <a:satOff val="-5186"/>
                  <a:lumOff val="-28409"/>
                </a:schemeClr>
              </a:solidFill>
              <a:prstDash val="solid"/>
              <a:miter lim="400000"/>
            </a:ln>
          </a:insideV>
        </a:tcBdr>
        <a:fill>
          <a:solidFill>
            <a:schemeClr val="accent2">
              <a:satOff val="-5186"/>
              <a:lumOff val="-12389"/>
            </a:scheme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miter lim="400000"/>
            </a:ln>
          </a:top>
          <a:bottom>
            <a:ln w="12700" cap="flat">
              <a:noFill/>
              <a:miter lim="400000"/>
            </a:ln>
          </a:bottom>
          <a:insideH>
            <a:ln w="12700" cap="flat">
              <a:solidFill>
                <a:srgbClr val="00919C">
                  <a:alpha val="79000"/>
                </a:srgbClr>
              </a:solidFill>
              <a:prstDash val="solid"/>
              <a:miter lim="400000"/>
            </a:ln>
          </a:insideH>
          <a:insideV>
            <a:ln w="12700" cap="flat">
              <a:noFill/>
              <a:miter lim="400000"/>
            </a:ln>
          </a:insideV>
        </a:tcBdr>
        <a:fill>
          <a:no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00919C">
                  <a:alpha val="79000"/>
                </a:srgbClr>
              </a:solidFill>
              <a:prstDash val="solid"/>
              <a:miter lim="400000"/>
            </a:ln>
          </a:insideH>
          <a:insideV>
            <a:ln w="12700" cap="flat">
              <a:noFill/>
              <a:miter lim="400000"/>
            </a:ln>
          </a:insideV>
        </a:tcBdr>
        <a:fill>
          <a:solidFill>
            <a:schemeClr val="accent2">
              <a:satOff val="-5186"/>
              <a:lumOff val="-28409"/>
            </a:schemeClr>
          </a:solidFill>
        </a:fill>
      </a:tcStyle>
    </a:firstRow>
  </a:tblStyle>
  <a:tblStyle styleId="{CF821DB8-F4EB-4A41-A1BA-3FCAFE7338EE}" styleName="">
    <a:tblBg/>
    <a:wholeTbl>
      <a:tcTxStyle b="off" i="off">
        <a:fontRef idx="minor">
          <a:srgbClr val="FFFFFF"/>
        </a:fontRef>
        <a:srgbClr val="FFFFFF"/>
      </a:tcTxStyle>
      <a:tcStyle>
        <a:tcBdr>
          <a:left>
            <a:ln w="12700" cap="flat">
              <a:noFill/>
              <a:miter lim="400000"/>
            </a:ln>
          </a:left>
          <a:right>
            <a:ln w="12700" cap="flat">
              <a:noFill/>
              <a:miter lim="400000"/>
            </a:ln>
          </a:right>
          <a:top>
            <a:ln w="25400" cap="rnd">
              <a:solidFill>
                <a:srgbClr val="4F4F4F"/>
              </a:solidFill>
              <a:custDash>
                <a:ds d="100000" sp="200000"/>
              </a:custDash>
              <a:miter lim="400000"/>
            </a:ln>
          </a:top>
          <a:bottom>
            <a:ln w="25400" cap="rnd">
              <a:solidFill>
                <a:srgbClr val="4F4F4F"/>
              </a:solidFill>
              <a:custDash>
                <a:ds d="100000" sp="200000"/>
              </a:custDash>
              <a:miter lim="400000"/>
            </a:ln>
          </a:bottom>
          <a:insideH>
            <a:ln w="25400" cap="rnd">
              <a:solidFill>
                <a:srgbClr val="4F4F4F"/>
              </a:solidFill>
              <a:custDash>
                <a:ds d="100000" sp="200000"/>
              </a:custDash>
              <a:miter lim="400000"/>
            </a:ln>
          </a:insideH>
          <a:insideV>
            <a:ln w="12700" cap="flat">
              <a:noFill/>
              <a:miter lim="400000"/>
            </a:ln>
          </a:insideV>
        </a:tcBdr>
        <a:fill>
          <a:noFill/>
        </a:fill>
      </a:tcStyle>
    </a:wholeTbl>
    <a:band2H>
      <a:tcTxStyle/>
      <a:tcStyle>
        <a:tcBdr/>
        <a:fill>
          <a:solidFill>
            <a:srgbClr val="6D6D6D">
              <a:alpha val="25000"/>
            </a:srgbClr>
          </a:solidFill>
        </a:fill>
      </a:tcStyle>
    </a:band2H>
    <a:firstCol>
      <a:tcTxStyle b="off" i="off">
        <a:fontRef idx="minor">
          <a:srgbClr val="FFFFFF"/>
        </a:fontRef>
        <a:srgbClr val="FFFFFF"/>
      </a:tcTxStyle>
      <a:tcStyle>
        <a:tcBdr>
          <a:left>
            <a:ln w="12700" cap="flat">
              <a:noFill/>
              <a:miter lim="400000"/>
            </a:ln>
          </a:left>
          <a:right>
            <a:ln w="25400" cap="flat">
              <a:noFill/>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noFill/>
              <a:miter lim="400000"/>
            </a:ln>
          </a:insideV>
        </a:tcBdr>
        <a:fill>
          <a:solidFill>
            <a:srgbClr val="808080">
              <a:alpha val="32000"/>
            </a:srgb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50800" cap="flat">
              <a:solidFill>
                <a:srgbClr val="000000"/>
              </a:solidFill>
              <a:prstDash val="solid"/>
              <a:miter lim="400000"/>
            </a:ln>
          </a:top>
          <a:bottom>
            <a:ln w="12700" cap="flat">
              <a:noFill/>
              <a:miter lim="400000"/>
            </a:ln>
          </a:bottom>
          <a:insideH>
            <a:ln w="12700" cap="flat">
              <a:solidFill>
                <a:srgbClr val="000000"/>
              </a:solidFill>
              <a:prstDash val="solid"/>
              <a:miter lim="400000"/>
            </a:ln>
          </a:insideH>
          <a:insideV>
            <a:ln w="12700" cap="flat">
              <a:noFill/>
              <a:miter lim="400000"/>
            </a:ln>
          </a:insideV>
        </a:tcBdr>
        <a:fill>
          <a:solidFill>
            <a:srgbClr val="941B00">
              <a:alpha val="80000"/>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50800" cap="flat">
              <a:solidFill>
                <a:srgbClr val="000000"/>
              </a:solidFill>
              <a:prstDash val="solid"/>
              <a:miter lim="400000"/>
            </a:ln>
          </a:bottom>
          <a:insideH>
            <a:ln w="12700" cap="flat">
              <a:solidFill>
                <a:srgbClr val="000000"/>
              </a:solidFill>
              <a:prstDash val="solid"/>
              <a:miter lim="400000"/>
            </a:ln>
          </a:insideH>
          <a:insideV>
            <a:ln w="12700" cap="flat">
              <a:noFill/>
              <a:miter lim="400000"/>
            </a:ln>
          </a:insideV>
        </a:tcBdr>
        <a:fill>
          <a:solidFill>
            <a:srgbClr val="CD2600">
              <a:alpha val="80000"/>
            </a:srgbClr>
          </a:solidFill>
        </a:fill>
      </a:tcStyle>
    </a:firstRow>
  </a:tblStyle>
  <a:tblStyle styleId="{33BA23B1-9221-436E-865A-0063620EA4FD}"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4F4F4F"/>
              </a:solidFill>
              <a:prstDash val="solid"/>
              <a:miter lim="400000"/>
            </a:ln>
          </a:top>
          <a:bottom>
            <a:ln w="12700" cap="flat">
              <a:solidFill>
                <a:srgbClr val="4F4F4F"/>
              </a:solidFill>
              <a:prstDash val="solid"/>
              <a:miter lim="400000"/>
            </a:ln>
          </a:bottom>
          <a:insideH>
            <a:ln w="12700" cap="flat">
              <a:solidFill>
                <a:srgbClr val="4F4F4F"/>
              </a:solidFill>
              <a:prstDash val="solid"/>
              <a:miter lim="400000"/>
            </a:ln>
          </a:insideH>
          <a:insideV>
            <a:ln w="12700" cap="flat">
              <a:noFill/>
              <a:miter lim="400000"/>
            </a:ln>
          </a:insideV>
        </a:tcBdr>
        <a:fill>
          <a:noFill/>
        </a:fill>
      </a:tcStyle>
    </a:wholeTbl>
    <a:band2H>
      <a:tcTxStyle/>
      <a:tcStyle>
        <a:tcBdr/>
        <a:fill>
          <a:solidFill>
            <a:srgbClr val="797A7B">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4F4F4F"/>
              </a:solidFill>
              <a:prstDash val="solid"/>
              <a:miter lim="400000"/>
            </a:ln>
          </a:top>
          <a:bottom>
            <a:ln w="12700" cap="flat">
              <a:solidFill>
                <a:srgbClr val="4F4F4F"/>
              </a:solidFill>
              <a:prstDash val="solid"/>
              <a:miter lim="400000"/>
            </a:ln>
          </a:bottom>
          <a:insideH>
            <a:ln w="12700" cap="flat">
              <a:solidFill>
                <a:srgbClr val="4F4F4F"/>
              </a:solidFill>
              <a:prstDash val="solid"/>
              <a:miter lim="400000"/>
            </a:ln>
          </a:insideH>
          <a:insideV>
            <a:ln w="12700" cap="flat">
              <a:noFill/>
              <a:miter lim="400000"/>
            </a:ln>
          </a:insideV>
        </a:tcBdr>
        <a:fill>
          <a:solidFill>
            <a:srgbClr val="1F2428"/>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808080"/>
              </a:solidFill>
              <a:prstDash val="solid"/>
              <a:miter lim="400000"/>
            </a:ln>
          </a:insideH>
          <a:insideV>
            <a:ln w="12700" cap="flat">
              <a:noFill/>
              <a:miter lim="400000"/>
            </a:ln>
          </a:insideV>
        </a:tcBdr>
        <a:fill>
          <a:solidFill>
            <a:srgbClr val="484B4C"/>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808080"/>
              </a:solidFill>
              <a:prstDash val="solid"/>
              <a:miter lim="400000"/>
            </a:ln>
          </a:insideH>
          <a:insideV>
            <a:ln w="12700" cap="flat">
              <a:noFill/>
              <a:miter lim="400000"/>
            </a:ln>
          </a:insideV>
        </a:tcBdr>
        <a:fill>
          <a:solidFill>
            <a:srgbClr val="484B4C"/>
          </a:solidFill>
        </a:fill>
      </a:tcStyle>
    </a:firstRow>
  </a:tblStyle>
  <a:tblStyle styleId="{2708684C-4D16-4618-839F-0558EEFCDFE6}"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797979"/>
              </a:solidFill>
              <a:custDash>
                <a:ds d="200000" sp="200000"/>
              </a:custDash>
              <a:miter lim="400000"/>
            </a:ln>
          </a:top>
          <a:bottom>
            <a:ln w="12700" cap="flat">
              <a:solidFill>
                <a:srgbClr val="797979"/>
              </a:solidFill>
              <a:custDash>
                <a:ds d="200000" sp="200000"/>
              </a:custDash>
              <a:miter lim="400000"/>
            </a:ln>
          </a:bottom>
          <a:insideH>
            <a:ln w="12700" cap="flat">
              <a:solidFill>
                <a:srgbClr val="797979"/>
              </a:solidFill>
              <a:custDash>
                <a:ds d="200000" sp="200000"/>
              </a:custDash>
              <a:miter lim="400000"/>
            </a:ln>
          </a:insideH>
          <a:insideV>
            <a:ln w="12700" cap="flat">
              <a:noFill/>
              <a:miter lim="400000"/>
            </a:ln>
          </a:insideV>
        </a:tcBdr>
        <a:fill>
          <a:noFill/>
        </a:fill>
      </a:tcStyle>
    </a:wholeTbl>
    <a:band2H>
      <a:tcTxStyle/>
      <a:tcStyle>
        <a:tcBdr/>
        <a:fill>
          <a:solidFill>
            <a:srgbClr val="797A7B">
              <a:alpha val="30000"/>
            </a:srgbClr>
          </a:solidFill>
        </a:fill>
      </a:tcStyle>
    </a:band2H>
    <a:firstCol>
      <a:tcTxStyle b="off" i="off">
        <a:fontRef idx="minor">
          <a:srgbClr val="FFFFFF"/>
        </a:fontRef>
        <a:srgbClr val="FFFFFF"/>
      </a:tcTxStyle>
      <a:tcStyle>
        <a:tcBdr>
          <a:left>
            <a:ln w="12700" cap="flat">
              <a:noFill/>
              <a:miter lim="400000"/>
            </a:ln>
          </a:left>
          <a:right>
            <a:ln w="12700" cap="flat">
              <a:solidFill>
                <a:srgbClr val="FFFFFF"/>
              </a:solidFill>
              <a:prstDash val="solid"/>
              <a:miter lim="400000"/>
            </a:ln>
          </a:right>
          <a:top>
            <a:ln w="12700" cap="flat">
              <a:solidFill>
                <a:srgbClr val="797979"/>
              </a:solidFill>
              <a:custDash>
                <a:ds d="200000" sp="200000"/>
              </a:custDash>
              <a:miter lim="400000"/>
            </a:ln>
          </a:top>
          <a:bottom>
            <a:ln w="12700" cap="flat">
              <a:solidFill>
                <a:srgbClr val="797979"/>
              </a:solidFill>
              <a:custDash>
                <a:ds d="200000" sp="200000"/>
              </a:custDash>
              <a:miter lim="400000"/>
            </a:ln>
          </a:bottom>
          <a:insideH>
            <a:ln w="12700" cap="flat">
              <a:solidFill>
                <a:srgbClr val="797979"/>
              </a:solidFill>
              <a:custDash>
                <a:ds d="200000" sp="200000"/>
              </a:custDash>
              <a:miter lim="400000"/>
            </a:ln>
          </a:insideH>
          <a:insideV>
            <a:ln w="12700" cap="flat">
              <a:noFill/>
              <a:miter lim="400000"/>
            </a:ln>
          </a:insideV>
        </a:tcBdr>
        <a:fill>
          <a:no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miter lim="400000"/>
            </a:ln>
          </a:top>
          <a:bottom>
            <a:ln w="12700" cap="flat">
              <a:noFill/>
              <a:miter lim="400000"/>
            </a:ln>
          </a:bottom>
          <a:insideH>
            <a:ln w="12700" cap="flat">
              <a:solidFill>
                <a:srgbClr val="797979"/>
              </a:solidFill>
              <a:prstDash val="solid"/>
              <a:miter lim="400000"/>
            </a:ln>
          </a:insideH>
          <a:insideV>
            <a:ln w="12700" cap="flat">
              <a:noFill/>
              <a:miter lim="400000"/>
            </a:ln>
          </a:insideV>
        </a:tcBdr>
        <a:fill>
          <a:noFill/>
        </a:fill>
      </a:tcStyle>
    </a:lastRow>
    <a:firstRow>
      <a:tcTxStyle b="off" i="off">
        <a:fontRef idx="minor">
          <a:schemeClr val="accent2">
            <a:satOff val="44164"/>
            <a:lumOff val="14231"/>
          </a:schemeClr>
        </a:fontRef>
        <a:schemeClr val="accent2">
          <a:satOff val="44164"/>
          <a:lumOff val="14231"/>
        </a:schemeClr>
      </a:tcTxStyle>
      <a:tcStyle>
        <a:tcBdr>
          <a:left>
            <a:ln w="12700" cap="flat">
              <a:noFill/>
              <a:miter lim="400000"/>
            </a:ln>
          </a:left>
          <a:right>
            <a:ln w="12700" cap="flat">
              <a:noFill/>
              <a:miter lim="400000"/>
            </a:ln>
          </a:right>
          <a:top>
            <a:ln w="12700" cap="flat">
              <a:noFill/>
              <a:miter lim="400000"/>
            </a:ln>
          </a:top>
          <a:bottom>
            <a:ln w="12700" cap="flat">
              <a:solidFill>
                <a:srgbClr val="FFFFFF"/>
              </a:solidFill>
              <a:prstDash val="solid"/>
              <a:miter lim="400000"/>
            </a:ln>
          </a:bottom>
          <a:insideH>
            <a:ln w="12700" cap="flat">
              <a:solidFill>
                <a:srgbClr val="797979"/>
              </a:solidFill>
              <a:prstDash val="solid"/>
              <a:miter lim="400000"/>
            </a:ln>
          </a:insideH>
          <a:insideV>
            <a:ln w="12700" cap="flat">
              <a:noFill/>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60" d="100"/>
          <a:sy n="60" d="100"/>
        </p:scale>
        <p:origin x="80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4" name="Shape 154"/>
          <p:cNvSpPr>
            <a:spLocks noGrp="1" noRot="1" noChangeAspect="1"/>
          </p:cNvSpPr>
          <p:nvPr>
            <p:ph type="sldImg"/>
          </p:nvPr>
        </p:nvSpPr>
        <p:spPr>
          <a:xfrm>
            <a:off x="1143000" y="685800"/>
            <a:ext cx="4572000" cy="3429000"/>
          </a:xfrm>
          <a:prstGeom prst="rect">
            <a:avLst/>
          </a:prstGeom>
        </p:spPr>
        <p:txBody>
          <a:bodyPr/>
          <a:lstStyle/>
          <a:p>
            <a:endParaRPr/>
          </a:p>
        </p:txBody>
      </p:sp>
      <p:sp>
        <p:nvSpPr>
          <p:cNvPr id="155" name="Shape 15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2300">
        <a:latin typeface="Avenir"/>
        <a:ea typeface="Avenir"/>
        <a:cs typeface="Avenir"/>
        <a:sym typeface="Avenir Roman"/>
      </a:defRPr>
    </a:lvl1pPr>
    <a:lvl2pPr indent="228600" defTabSz="457200" latinLnBrk="0">
      <a:defRPr sz="2300">
        <a:latin typeface="Avenir"/>
        <a:ea typeface="Avenir"/>
        <a:cs typeface="Avenir"/>
        <a:sym typeface="Avenir Roman"/>
      </a:defRPr>
    </a:lvl2pPr>
    <a:lvl3pPr indent="457200" defTabSz="457200" latinLnBrk="0">
      <a:defRPr sz="2300">
        <a:latin typeface="Avenir"/>
        <a:ea typeface="Avenir"/>
        <a:cs typeface="Avenir"/>
        <a:sym typeface="Avenir Roman"/>
      </a:defRPr>
    </a:lvl3pPr>
    <a:lvl4pPr indent="685800" defTabSz="457200" latinLnBrk="0">
      <a:defRPr sz="2300">
        <a:latin typeface="Avenir"/>
        <a:ea typeface="Avenir"/>
        <a:cs typeface="Avenir"/>
        <a:sym typeface="Avenir Roman"/>
      </a:defRPr>
    </a:lvl4pPr>
    <a:lvl5pPr indent="914400" defTabSz="457200" latinLnBrk="0">
      <a:defRPr sz="2300">
        <a:latin typeface="Avenir"/>
        <a:ea typeface="Avenir"/>
        <a:cs typeface="Avenir"/>
        <a:sym typeface="Avenir Roman"/>
      </a:defRPr>
    </a:lvl5pPr>
    <a:lvl6pPr indent="1143000" defTabSz="457200" latinLnBrk="0">
      <a:defRPr sz="2300">
        <a:latin typeface="Avenir"/>
        <a:ea typeface="Avenir"/>
        <a:cs typeface="Avenir"/>
        <a:sym typeface="Avenir Roman"/>
      </a:defRPr>
    </a:lvl6pPr>
    <a:lvl7pPr indent="1371600" defTabSz="457200" latinLnBrk="0">
      <a:defRPr sz="2300">
        <a:latin typeface="Avenir"/>
        <a:ea typeface="Avenir"/>
        <a:cs typeface="Avenir"/>
        <a:sym typeface="Avenir Roman"/>
      </a:defRPr>
    </a:lvl7pPr>
    <a:lvl8pPr indent="1600200" defTabSz="457200" latinLnBrk="0">
      <a:defRPr sz="2300">
        <a:latin typeface="Avenir"/>
        <a:ea typeface="Avenir"/>
        <a:cs typeface="Avenir"/>
        <a:sym typeface="Avenir Roman"/>
      </a:defRPr>
    </a:lvl8pPr>
    <a:lvl9pPr indent="1828800" defTabSz="457200" latinLnBrk="0">
      <a:defRPr sz="23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flickr.com/photos/scotnelson/8715618508/in/photostrea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Shape 159"/>
          <p:cNvSpPr>
            <a:spLocks noGrp="1" noRot="1" noChangeAspect="1"/>
          </p:cNvSpPr>
          <p:nvPr>
            <p:ph type="sldImg"/>
          </p:nvPr>
        </p:nvSpPr>
        <p:spPr>
          <a:xfrm>
            <a:off x="381000" y="685800"/>
            <a:ext cx="6096000" cy="3429000"/>
          </a:xfrm>
          <a:prstGeom prst="rect">
            <a:avLst/>
          </a:prstGeom>
        </p:spPr>
        <p:txBody>
          <a:bodyPr/>
          <a:lstStyle/>
          <a:p>
            <a:endParaRPr/>
          </a:p>
        </p:txBody>
      </p:sp>
      <p:sp>
        <p:nvSpPr>
          <p:cNvPr id="160" name="Shape 160"/>
          <p:cNvSpPr>
            <a:spLocks noGrp="1"/>
          </p:cNvSpPr>
          <p:nvPr>
            <p:ph type="body" sz="quarter" idx="1"/>
          </p:nvPr>
        </p:nvSpPr>
        <p:spPr>
          <a:prstGeom prst="rect">
            <a:avLst/>
          </a:prstGeom>
        </p:spPr>
        <p:txBody>
          <a:bodyPr/>
          <a:lstStyle/>
          <a:p>
            <a:pPr>
              <a:defRPr sz="2400">
                <a:latin typeface="Arial"/>
                <a:ea typeface="Arial"/>
                <a:cs typeface="Arial"/>
                <a:sym typeface="Arial"/>
              </a:defRPr>
            </a:pPr>
            <a:r>
              <a:t>Introduction to the Rust programming language for Java Developers</a:t>
            </a:r>
          </a:p>
          <a:p>
            <a:pPr>
              <a:defRPr sz="2400">
                <a:latin typeface="Arial"/>
                <a:ea typeface="Arial"/>
                <a:cs typeface="Arial"/>
                <a:sym typeface="Arial"/>
              </a:defRPr>
            </a:pPr>
            <a:r>
              <a:t>A presentation for the Miami Java (JVM) User Group.</a:t>
            </a:r>
          </a:p>
          <a:p>
            <a:pPr>
              <a:defRPr sz="2400">
                <a:latin typeface="Arial"/>
                <a:ea typeface="Arial"/>
                <a:cs typeface="Arial"/>
                <a:sym typeface="Arial"/>
              </a:defRPr>
            </a:pPr>
            <a:r>
              <a:t>Thursday, December 5, 2024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Shape 179"/>
          <p:cNvSpPr>
            <a:spLocks noGrp="1" noRot="1" noChangeAspect="1"/>
          </p:cNvSpPr>
          <p:nvPr>
            <p:ph type="sldImg"/>
          </p:nvPr>
        </p:nvSpPr>
        <p:spPr>
          <a:xfrm>
            <a:off x="381000" y="685800"/>
            <a:ext cx="6096000" cy="3429000"/>
          </a:xfrm>
          <a:prstGeom prst="rect">
            <a:avLst/>
          </a:prstGeom>
        </p:spPr>
        <p:txBody>
          <a:bodyPr/>
          <a:lstStyle/>
          <a:p>
            <a:endParaRPr/>
          </a:p>
        </p:txBody>
      </p:sp>
      <p:sp>
        <p:nvSpPr>
          <p:cNvPr id="180" name="Shape 180"/>
          <p:cNvSpPr>
            <a:spLocks noGrp="1"/>
          </p:cNvSpPr>
          <p:nvPr>
            <p:ph type="body" sz="quarter" idx="1"/>
          </p:nvPr>
        </p:nvSpPr>
        <p:spPr>
          <a:prstGeom prst="rect">
            <a:avLst/>
          </a:prstGeom>
        </p:spPr>
        <p:txBody>
          <a:bodyPr/>
          <a:lstStyle>
            <a:lvl1pPr>
              <a:defRPr sz="2400">
                <a:latin typeface="Arial"/>
                <a:ea typeface="Arial"/>
                <a:cs typeface="Arial"/>
                <a:sym typeface="Arial"/>
              </a:defRPr>
            </a:lvl1pPr>
          </a:lstStyle>
          <a:p>
            <a:r>
              <a:t>Organizer of Miami JVM Group (Miami Java User Group)</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Shape 189"/>
          <p:cNvSpPr>
            <a:spLocks noGrp="1" noRot="1" noChangeAspect="1"/>
          </p:cNvSpPr>
          <p:nvPr>
            <p:ph type="sldImg"/>
          </p:nvPr>
        </p:nvSpPr>
        <p:spPr>
          <a:xfrm>
            <a:off x="381000" y="685800"/>
            <a:ext cx="6096000" cy="3429000"/>
          </a:xfrm>
          <a:prstGeom prst="rect">
            <a:avLst/>
          </a:prstGeom>
        </p:spPr>
        <p:txBody>
          <a:bodyPr/>
          <a:lstStyle/>
          <a:p>
            <a:endParaRPr/>
          </a:p>
        </p:txBody>
      </p:sp>
      <p:sp>
        <p:nvSpPr>
          <p:cNvPr id="190" name="Shape 190"/>
          <p:cNvSpPr>
            <a:spLocks noGrp="1"/>
          </p:cNvSpPr>
          <p:nvPr>
            <p:ph type="body" sz="quarter" idx="1"/>
          </p:nvPr>
        </p:nvSpPr>
        <p:spPr>
          <a:prstGeom prst="rect">
            <a:avLst/>
          </a:prstGeom>
        </p:spPr>
        <p:txBody>
          <a:bodyPr/>
          <a:lstStyle>
            <a:lvl1pPr>
              <a:defRPr sz="2400"/>
            </a:lvl1pPr>
          </a:lstStyle>
          <a:p>
            <a:r>
              <a:t>Rust logo based on bicycle chainring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xfrm>
            <a:off x="381000" y="685800"/>
            <a:ext cx="6096000" cy="3429000"/>
          </a:xfrm>
          <a:prstGeom prst="rect">
            <a:avLst/>
          </a:prstGeom>
        </p:spPr>
        <p:txBody>
          <a:bodyPr/>
          <a:lstStyle/>
          <a:p>
            <a:endParaRPr/>
          </a:p>
        </p:txBody>
      </p:sp>
      <p:sp>
        <p:nvSpPr>
          <p:cNvPr id="207" name="Shape 207"/>
          <p:cNvSpPr>
            <a:spLocks noGrp="1"/>
          </p:cNvSpPr>
          <p:nvPr>
            <p:ph type="body" sz="quarter" idx="1"/>
          </p:nvPr>
        </p:nvSpPr>
        <p:spPr>
          <a:prstGeom prst="rect">
            <a:avLst/>
          </a:prstGeom>
        </p:spPr>
        <p:txBody>
          <a:bodyPr/>
          <a:lstStyle/>
          <a:p>
            <a:pPr>
              <a:defRPr sz="2400"/>
            </a:pPr>
            <a:r>
              <a:t>Trivia: Mozilla is a portmanteau of "Mosaic and Godzilla”</a:t>
            </a:r>
          </a:p>
          <a:p>
            <a:pPr>
              <a:defRPr sz="2400"/>
            </a:pPr>
            <a:r>
              <a:t>Additional Trivia: Godzilla is a portmanteau of the Japanese words</a:t>
            </a:r>
          </a:p>
          <a:p>
            <a:pPr>
              <a:defRPr sz="2400"/>
            </a:pPr>
            <a:r>
              <a:t>gorira (ゴリラ, "gorilla") and kujira (鯨クジラ, "whale"), pronounced in Japanese as Gojira.</a:t>
            </a:r>
          </a:p>
          <a:p>
            <a:r>
              <a:t>Rust Fungus image: </a:t>
            </a:r>
            <a:r>
              <a:rPr u="sng">
                <a:hlinkClick r:id="rId3"/>
              </a:rPr>
              <a:t>https://www.flickr.com/photos/scotnelson/8715618508/in/photostream/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Shape 216"/>
          <p:cNvSpPr>
            <a:spLocks noGrp="1" noRot="1" noChangeAspect="1"/>
          </p:cNvSpPr>
          <p:nvPr>
            <p:ph type="sldImg"/>
          </p:nvPr>
        </p:nvSpPr>
        <p:spPr>
          <a:xfrm>
            <a:off x="381000" y="685800"/>
            <a:ext cx="6096000" cy="3429000"/>
          </a:xfrm>
          <a:prstGeom prst="rect">
            <a:avLst/>
          </a:prstGeom>
        </p:spPr>
        <p:txBody>
          <a:bodyPr/>
          <a:lstStyle/>
          <a:p>
            <a:endParaRPr/>
          </a:p>
        </p:txBody>
      </p:sp>
      <p:sp>
        <p:nvSpPr>
          <p:cNvPr id="217" name="Shape 217"/>
          <p:cNvSpPr>
            <a:spLocks noGrp="1"/>
          </p:cNvSpPr>
          <p:nvPr>
            <p:ph type="body" sz="quarter" idx="1"/>
          </p:nvPr>
        </p:nvSpPr>
        <p:spPr>
          <a:prstGeom prst="rect">
            <a:avLst/>
          </a:prstGeom>
        </p:spPr>
        <p:txBody>
          <a:bodyPr/>
          <a:lstStyle/>
          <a:p>
            <a:pPr>
              <a:defRPr sz="2400"/>
            </a:pPr>
            <a:r>
              <a:t>ISA = Instruction Set Architecture (x86/ARM/RISC-V)</a:t>
            </a:r>
          </a:p>
          <a:p>
            <a:pPr>
              <a:defRPr sz="2400"/>
            </a:pPr>
            <a:r>
              <a:t>ARM = Advanced RISC Machine / Acorn RISC Machine from Acorn Computer</a:t>
            </a:r>
          </a:p>
          <a:p>
            <a:pPr>
              <a:defRPr sz="2400"/>
            </a:pPr>
            <a:r>
              <a:t>IR = Intermediate Representation (strongly typed RISC instruction set)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Shape 239"/>
          <p:cNvSpPr>
            <a:spLocks noGrp="1" noRot="1" noChangeAspect="1"/>
          </p:cNvSpPr>
          <p:nvPr>
            <p:ph type="sldImg"/>
          </p:nvPr>
        </p:nvSpPr>
        <p:spPr>
          <a:xfrm>
            <a:off x="381000" y="685800"/>
            <a:ext cx="6096000" cy="3429000"/>
          </a:xfrm>
          <a:prstGeom prst="rect">
            <a:avLst/>
          </a:prstGeom>
        </p:spPr>
        <p:txBody>
          <a:bodyPr/>
          <a:lstStyle/>
          <a:p>
            <a:endParaRPr/>
          </a:p>
        </p:txBody>
      </p:sp>
      <p:sp>
        <p:nvSpPr>
          <p:cNvPr id="240" name="Shape 240"/>
          <p:cNvSpPr>
            <a:spLocks noGrp="1"/>
          </p:cNvSpPr>
          <p:nvPr>
            <p:ph type="body" sz="quarter" idx="1"/>
          </p:nvPr>
        </p:nvSpPr>
        <p:spPr>
          <a:prstGeom prst="rect">
            <a:avLst/>
          </a:prstGeom>
        </p:spPr>
        <p:txBody>
          <a:bodyPr/>
          <a:lstStyle>
            <a:lvl1pPr>
              <a:defRPr sz="2400"/>
            </a:lvl1pPr>
          </a:lstStyle>
          <a:p>
            <a:r>
              <a:t>Zero-cost abstraction like 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Shape 263"/>
          <p:cNvSpPr>
            <a:spLocks noGrp="1" noRot="1" noChangeAspect="1"/>
          </p:cNvSpPr>
          <p:nvPr>
            <p:ph type="sldImg"/>
          </p:nvPr>
        </p:nvSpPr>
        <p:spPr>
          <a:xfrm>
            <a:off x="381000" y="685800"/>
            <a:ext cx="6096000" cy="3429000"/>
          </a:xfrm>
          <a:prstGeom prst="rect">
            <a:avLst/>
          </a:prstGeom>
        </p:spPr>
        <p:txBody>
          <a:bodyPr/>
          <a:lstStyle/>
          <a:p>
            <a:endParaRPr/>
          </a:p>
        </p:txBody>
      </p:sp>
      <p:sp>
        <p:nvSpPr>
          <p:cNvPr id="264" name="Shape 264"/>
          <p:cNvSpPr>
            <a:spLocks noGrp="1"/>
          </p:cNvSpPr>
          <p:nvPr>
            <p:ph type="body" sz="quarter" idx="1"/>
          </p:nvPr>
        </p:nvSpPr>
        <p:spPr>
          <a:prstGeom prst="rect">
            <a:avLst/>
          </a:prstGeom>
        </p:spPr>
        <p:txBody>
          <a:bodyPr/>
          <a:lstStyle>
            <a:lvl1pPr>
              <a:defRPr sz="2400"/>
            </a:lvl1pPr>
          </a:lstStyle>
          <a:p>
            <a:r>
              <a:t>There is a drama with Linux kernel developers slow adoption of Rust.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Shape 285"/>
          <p:cNvSpPr>
            <a:spLocks noGrp="1" noRot="1" noChangeAspect="1"/>
          </p:cNvSpPr>
          <p:nvPr>
            <p:ph type="sldImg"/>
          </p:nvPr>
        </p:nvSpPr>
        <p:spPr>
          <a:xfrm>
            <a:off x="381000" y="685800"/>
            <a:ext cx="6096000" cy="3429000"/>
          </a:xfrm>
          <a:prstGeom prst="rect">
            <a:avLst/>
          </a:prstGeom>
        </p:spPr>
        <p:txBody>
          <a:bodyPr/>
          <a:lstStyle/>
          <a:p>
            <a:endParaRPr/>
          </a:p>
        </p:txBody>
      </p:sp>
      <p:sp>
        <p:nvSpPr>
          <p:cNvPr id="286" name="Shape 286"/>
          <p:cNvSpPr>
            <a:spLocks noGrp="1"/>
          </p:cNvSpPr>
          <p:nvPr>
            <p:ph type="body" sz="quarter" idx="1"/>
          </p:nvPr>
        </p:nvSpPr>
        <p:spPr>
          <a:prstGeom prst="rect">
            <a:avLst/>
          </a:prstGeom>
        </p:spPr>
        <p:txBody>
          <a:bodyPr/>
          <a:lstStyle>
            <a:lvl1pPr>
              <a:defRPr sz="2400"/>
            </a:lvl1pPr>
          </a:lstStyle>
          <a:p>
            <a:r>
              <a:t>Rust is not the majority. Other memory safe languages like Kotlin are being used.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Shape 294"/>
          <p:cNvSpPr>
            <a:spLocks noGrp="1" noRot="1" noChangeAspect="1"/>
          </p:cNvSpPr>
          <p:nvPr>
            <p:ph type="sldImg"/>
          </p:nvPr>
        </p:nvSpPr>
        <p:spPr>
          <a:xfrm>
            <a:off x="381000" y="685800"/>
            <a:ext cx="6096000" cy="3429000"/>
          </a:xfrm>
          <a:prstGeom prst="rect">
            <a:avLst/>
          </a:prstGeom>
        </p:spPr>
        <p:txBody>
          <a:bodyPr/>
          <a:lstStyle/>
          <a:p>
            <a:endParaRPr/>
          </a:p>
        </p:txBody>
      </p:sp>
      <p:sp>
        <p:nvSpPr>
          <p:cNvPr id="295" name="Shape 295"/>
          <p:cNvSpPr>
            <a:spLocks noGrp="1"/>
          </p:cNvSpPr>
          <p:nvPr>
            <p:ph type="body" sz="quarter" idx="1"/>
          </p:nvPr>
        </p:nvSpPr>
        <p:spPr>
          <a:prstGeom prst="rect">
            <a:avLst/>
          </a:prstGeom>
        </p:spPr>
        <p:txBody>
          <a:bodyPr/>
          <a:lstStyle/>
          <a:p>
            <a:r>
              <a:t>Safe C++ : Currently proposal with no implementation</a:t>
            </a:r>
          </a:p>
          <a:p>
            <a:r>
              <a:t>Fil-C : Available for use, only works on Linux, 1.5 to 5 times slower than C</a:t>
            </a:r>
          </a:p>
          <a:p>
            <a:r>
              <a:t>TrapC : A memory safe fork of C, includes C++ constructors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Shape 307"/>
          <p:cNvSpPr>
            <a:spLocks noGrp="1" noRot="1" noChangeAspect="1"/>
          </p:cNvSpPr>
          <p:nvPr>
            <p:ph type="sldImg"/>
          </p:nvPr>
        </p:nvSpPr>
        <p:spPr>
          <a:xfrm>
            <a:off x="381000" y="685800"/>
            <a:ext cx="6096000" cy="3429000"/>
          </a:xfrm>
          <a:prstGeom prst="rect">
            <a:avLst/>
          </a:prstGeom>
        </p:spPr>
        <p:txBody>
          <a:bodyPr/>
          <a:lstStyle/>
          <a:p>
            <a:endParaRPr/>
          </a:p>
        </p:txBody>
      </p:sp>
      <p:sp>
        <p:nvSpPr>
          <p:cNvPr id="308" name="Shape 308"/>
          <p:cNvSpPr>
            <a:spLocks noGrp="1"/>
          </p:cNvSpPr>
          <p:nvPr>
            <p:ph type="body" sz="quarter" idx="1"/>
          </p:nvPr>
        </p:nvSpPr>
        <p:spPr>
          <a:prstGeom prst="rect">
            <a:avLst/>
          </a:prstGeom>
        </p:spPr>
        <p:txBody>
          <a:bodyPr/>
          <a:lstStyle/>
          <a:p>
            <a:r>
              <a:t>As of 2024, 700 rules in Clippy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Shape 323"/>
          <p:cNvSpPr>
            <a:spLocks noGrp="1" noRot="1" noChangeAspect="1"/>
          </p:cNvSpPr>
          <p:nvPr>
            <p:ph type="sldImg"/>
          </p:nvPr>
        </p:nvSpPr>
        <p:spPr>
          <a:xfrm>
            <a:off x="381000" y="685800"/>
            <a:ext cx="6096000" cy="3429000"/>
          </a:xfrm>
          <a:prstGeom prst="rect">
            <a:avLst/>
          </a:prstGeom>
        </p:spPr>
        <p:txBody>
          <a:bodyPr/>
          <a:lstStyle/>
          <a:p>
            <a:endParaRPr/>
          </a:p>
        </p:txBody>
      </p:sp>
      <p:sp>
        <p:nvSpPr>
          <p:cNvPr id="324" name="Shape 324"/>
          <p:cNvSpPr>
            <a:spLocks noGrp="1"/>
          </p:cNvSpPr>
          <p:nvPr>
            <p:ph type="body" sz="quarter" idx="1"/>
          </p:nvPr>
        </p:nvSpPr>
        <p:spPr>
          <a:prstGeom prst="rect">
            <a:avLst/>
          </a:prstGeom>
        </p:spPr>
        <p:txBody>
          <a:bodyPr/>
          <a:lstStyle/>
          <a:p>
            <a:r>
              <a:t>Rust crates are in source code</a:t>
            </a:r>
          </a:p>
          <a:p>
            <a:r>
              <a:t>Compared to Java’s Maven central jar files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Shape 349"/>
          <p:cNvSpPr>
            <a:spLocks noGrp="1" noRot="1" noChangeAspect="1"/>
          </p:cNvSpPr>
          <p:nvPr>
            <p:ph type="sldImg"/>
          </p:nvPr>
        </p:nvSpPr>
        <p:spPr>
          <a:xfrm>
            <a:off x="381000" y="685800"/>
            <a:ext cx="6096000" cy="3429000"/>
          </a:xfrm>
          <a:prstGeom prst="rect">
            <a:avLst/>
          </a:prstGeom>
        </p:spPr>
        <p:txBody>
          <a:bodyPr/>
          <a:lstStyle/>
          <a:p>
            <a:endParaRPr/>
          </a:p>
        </p:txBody>
      </p:sp>
      <p:sp>
        <p:nvSpPr>
          <p:cNvPr id="350" name="Shape 350"/>
          <p:cNvSpPr>
            <a:spLocks noGrp="1"/>
          </p:cNvSpPr>
          <p:nvPr>
            <p:ph type="body" sz="quarter" idx="1"/>
          </p:nvPr>
        </p:nvSpPr>
        <p:spPr>
          <a:prstGeom prst="rect">
            <a:avLst/>
          </a:prstGeom>
        </p:spPr>
        <p:txBody>
          <a:bodyPr/>
          <a:lstStyle/>
          <a:p>
            <a:pPr>
              <a:defRPr sz="1500"/>
            </a:pPr>
            <a:r>
              <a:t>1. String (Heap-allocated, growable string)</a:t>
            </a:r>
          </a:p>
          <a:p>
            <a:pPr>
              <a:defRPr sz="1500"/>
            </a:pPr>
            <a:r>
              <a:t>Description:</a:t>
            </a:r>
          </a:p>
          <a:p>
            <a:pPr>
              <a:defRPr sz="1500"/>
            </a:pPr>
            <a:r>
              <a:t>A growable, mutable string type stored on the heap.</a:t>
            </a:r>
          </a:p>
          <a:p>
            <a:pPr>
              <a:defRPr sz="1500"/>
            </a:pPr>
            <a:r>
              <a:t>Often used when the string content might change or its size is not known at compile time.</a:t>
            </a:r>
          </a:p>
          <a:p>
            <a:pPr>
              <a:defRPr sz="1500"/>
            </a:pPr>
            <a:r>
              <a:t>Key Features:</a:t>
            </a:r>
          </a:p>
          <a:p>
            <a:pPr>
              <a:defRPr sz="1500"/>
            </a:pPr>
            <a:r>
              <a:t>Owned, meaning it manages its own memory and ensures it gets freed when it goes out of scope.</a:t>
            </a:r>
          </a:p>
          <a:p>
            <a:pPr>
              <a:defRPr sz="1500"/>
            </a:pPr>
            <a:r>
              <a:t>Can grow or shrink as needed.</a:t>
            </a:r>
          </a:p>
          <a:p>
            <a:pPr>
              <a:defRPr sz="1500"/>
            </a:pPr>
            <a:r>
              <a:t>Commonly used when creating or processing strings dynamically.</a:t>
            </a:r>
          </a:p>
          <a:p>
            <a:pPr>
              <a:defRPr sz="1500"/>
            </a:pPr>
            <a:endParaRPr/>
          </a:p>
          <a:p>
            <a:pPr>
              <a:defRPr sz="1500"/>
            </a:pPr>
            <a:r>
              <a:t>2. &amp;str (String slice)</a:t>
            </a:r>
          </a:p>
          <a:p>
            <a:pPr>
              <a:defRPr sz="1500"/>
            </a:pPr>
            <a:r>
              <a:t>Description:</a:t>
            </a:r>
          </a:p>
          <a:p>
            <a:pPr>
              <a:defRPr sz="1500"/>
            </a:pPr>
            <a:r>
              <a:t>A borrowed, immutable view of a string, usually a portion of a String or a string literal.</a:t>
            </a:r>
          </a:p>
          <a:p>
            <a:pPr>
              <a:defRPr sz="1500"/>
            </a:pPr>
            <a:r>
              <a:t>Often referred to as a "string slice."</a:t>
            </a:r>
          </a:p>
          <a:p>
            <a:pPr>
              <a:defRPr sz="1500"/>
            </a:pPr>
            <a:r>
              <a:t>Key Features:</a:t>
            </a:r>
          </a:p>
          <a:p>
            <a:pPr>
              <a:defRPr sz="1500"/>
            </a:pPr>
            <a:r>
              <a:t>Not owned; does not manage its own memory.</a:t>
            </a:r>
          </a:p>
          <a:p>
            <a:pPr>
              <a:defRPr sz="1500"/>
            </a:pPr>
            <a:r>
              <a:t>Used for references to string data, avoiding unnecessary allocations.</a:t>
            </a:r>
          </a:p>
          <a:p>
            <a:pPr>
              <a:defRPr sz="1500"/>
            </a:pPr>
            <a:endParaRPr/>
          </a:p>
          <a:p>
            <a:pPr>
              <a:defRPr sz="1500"/>
            </a:pPr>
            <a:r>
              <a:t>3. String Literals</a:t>
            </a:r>
          </a:p>
          <a:p>
            <a:pPr>
              <a:defRPr sz="1500"/>
            </a:pPr>
            <a:r>
              <a:t>Description:</a:t>
            </a:r>
          </a:p>
          <a:p>
            <a:pPr>
              <a:defRPr sz="1500"/>
            </a:pPr>
            <a:r>
              <a:t>A statically allocated string with the type &amp;'static str.</a:t>
            </a:r>
          </a:p>
          <a:p>
            <a:pPr>
              <a:defRPr sz="1500"/>
            </a:pPr>
            <a:r>
              <a:t>Used for hard-coded strings in a program.</a:t>
            </a:r>
          </a:p>
          <a:p>
            <a:pPr>
              <a:defRPr sz="1500"/>
            </a:pPr>
            <a:r>
              <a:t>Key Features:</a:t>
            </a:r>
          </a:p>
          <a:p>
            <a:pPr>
              <a:defRPr sz="1500"/>
            </a:pPr>
            <a:r>
              <a:t>Lives for the entire duration of the program ('static lifetime).</a:t>
            </a:r>
          </a:p>
          <a:p>
            <a:pPr>
              <a:defRPr sz="1500"/>
            </a:pPr>
            <a:r>
              <a:t>Efficient for fixed strings as they don't require dynamic memory allocation.</a:t>
            </a:r>
          </a:p>
          <a:p>
            <a:pPr>
              <a:defRPr sz="1500"/>
            </a:pPr>
            <a:endParaRPr/>
          </a:p>
          <a:p>
            <a:pPr>
              <a:defRPr sz="1500"/>
            </a:pPr>
            <a:r>
              <a:t>4. CString (C-compatible string)</a:t>
            </a:r>
          </a:p>
          <a:p>
            <a:pPr>
              <a:defRPr sz="1500"/>
            </a:pPr>
            <a:r>
              <a:t>Description:</a:t>
            </a:r>
          </a:p>
          <a:p>
            <a:pPr>
              <a:defRPr sz="1500"/>
            </a:pPr>
            <a:r>
              <a:t>A heap-allocated, null-terminated string compatible with C-style strings.</a:t>
            </a:r>
          </a:p>
          <a:p>
            <a:pPr>
              <a:defRPr sz="1500"/>
            </a:pPr>
            <a:r>
              <a:t>Useful when interacting with C libraries or FFI (Foreign Function Interface).</a:t>
            </a:r>
          </a:p>
          <a:p>
            <a:pPr>
              <a:defRPr sz="1500"/>
            </a:pPr>
            <a:r>
              <a:t>Key Features:</a:t>
            </a:r>
          </a:p>
          <a:p>
            <a:pPr>
              <a:defRPr sz="1500"/>
            </a:pPr>
            <a:r>
              <a:t>Null-terminated to match C conventions.</a:t>
            </a:r>
          </a:p>
          <a:p>
            <a:pPr>
              <a:defRPr sz="1500"/>
            </a:pPr>
            <a:r>
              <a:t>Cannot contain internal null bytes.</a:t>
            </a:r>
          </a:p>
          <a:p>
            <a:pPr>
              <a:defRPr sz="1500"/>
            </a:pPr>
            <a:endParaRPr/>
          </a:p>
          <a:p>
            <a:pPr>
              <a:defRPr sz="1500"/>
            </a:pPr>
            <a:r>
              <a:t>5. OsString and OsStr (Operating system strings)</a:t>
            </a:r>
          </a:p>
          <a:p>
            <a:pPr>
              <a:defRPr sz="1500"/>
            </a:pPr>
            <a:r>
              <a:t>Description:</a:t>
            </a:r>
          </a:p>
          <a:p>
            <a:pPr>
              <a:defRPr sz="1500"/>
            </a:pPr>
            <a:r>
              <a:t>Designed for strings that interact with the operating system (e.g., file paths).</a:t>
            </a:r>
          </a:p>
          <a:p>
            <a:pPr>
              <a:defRPr sz="1500"/>
            </a:pPr>
            <a:r>
              <a:t>Works seamlessly with platform-specific encoding.</a:t>
            </a:r>
          </a:p>
          <a:p>
            <a:pPr>
              <a:defRPr sz="1500"/>
            </a:pPr>
            <a:r>
              <a:t>Key Features:</a:t>
            </a:r>
          </a:p>
          <a:p>
            <a:pPr>
              <a:defRPr sz="1500"/>
            </a:pPr>
            <a:r>
              <a:t>OsString: Owned, growable, heap-allocated string.</a:t>
            </a:r>
          </a:p>
          <a:p>
            <a:pPr>
              <a:defRPr sz="1500"/>
            </a:pPr>
            <a:r>
              <a:t>OsStr: Borrowed, immutable slice.</a:t>
            </a:r>
          </a:p>
          <a:p>
            <a:pPr>
              <a:defRPr sz="1500"/>
            </a:pPr>
            <a:endParaRPr/>
          </a:p>
          <a:p>
            <a:pPr>
              <a:defRPr sz="1500"/>
            </a:pPr>
            <a:r>
              <a:t>6. Cow&lt;'a, str&gt; (Clone-on-write string)</a:t>
            </a:r>
          </a:p>
          <a:p>
            <a:pPr>
              <a:defRPr sz="1500"/>
            </a:pPr>
            <a:r>
              <a:t>Description:</a:t>
            </a:r>
          </a:p>
          <a:p>
            <a:pPr>
              <a:defRPr sz="1500"/>
            </a:pPr>
            <a:r>
              <a:t>A string type that can act as either borrowed or owned, optimizing for cases where ownership isn't always necessary.</a:t>
            </a:r>
          </a:p>
          <a:p>
            <a:pPr>
              <a:defRPr sz="1500"/>
            </a:pPr>
            <a:r>
              <a:t>Key Features:</a:t>
            </a:r>
          </a:p>
          <a:p>
            <a:pPr>
              <a:defRPr sz="1500"/>
            </a:pPr>
            <a:r>
              <a:t>Borrowed when no modification is needed.</a:t>
            </a:r>
          </a:p>
          <a:p>
            <a:pPr>
              <a:defRPr sz="1500"/>
            </a:pPr>
            <a:r>
              <a:t>Cloned into an owned String only if modification is required.</a:t>
            </a:r>
          </a:p>
          <a:p>
            <a:pPr>
              <a:defRPr sz="1500"/>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Shape 357"/>
          <p:cNvSpPr>
            <a:spLocks noGrp="1" noRot="1" noChangeAspect="1"/>
          </p:cNvSpPr>
          <p:nvPr>
            <p:ph type="sldImg"/>
          </p:nvPr>
        </p:nvSpPr>
        <p:spPr>
          <a:xfrm>
            <a:off x="381000" y="685800"/>
            <a:ext cx="6096000" cy="3429000"/>
          </a:xfrm>
          <a:prstGeom prst="rect">
            <a:avLst/>
          </a:prstGeom>
        </p:spPr>
        <p:txBody>
          <a:bodyPr/>
          <a:lstStyle/>
          <a:p>
            <a:endParaRPr/>
          </a:p>
        </p:txBody>
      </p:sp>
      <p:sp>
        <p:nvSpPr>
          <p:cNvPr id="358" name="Shape 358"/>
          <p:cNvSpPr>
            <a:spLocks noGrp="1"/>
          </p:cNvSpPr>
          <p:nvPr>
            <p:ph type="body" sz="quarter" idx="1"/>
          </p:nvPr>
        </p:nvSpPr>
        <p:spPr>
          <a:prstGeom prst="rect">
            <a:avLst/>
          </a:prstGeom>
        </p:spPr>
        <p:txBody>
          <a:bodyPr/>
          <a:lstStyle/>
          <a:p>
            <a:pPr>
              <a:defRPr sz="1500"/>
            </a:pPr>
            <a:r>
              <a:t>1. String (Heap-allocated, growable string)</a:t>
            </a:r>
          </a:p>
          <a:p>
            <a:pPr>
              <a:defRPr sz="1500"/>
            </a:pPr>
            <a:r>
              <a:t>Description:</a:t>
            </a:r>
          </a:p>
          <a:p>
            <a:pPr>
              <a:defRPr sz="1500"/>
            </a:pPr>
            <a:r>
              <a:t>A growable, mutable string type stored on the heap.</a:t>
            </a:r>
          </a:p>
          <a:p>
            <a:pPr>
              <a:defRPr sz="1500"/>
            </a:pPr>
            <a:r>
              <a:t>Often used when the string content might change or its size is not known at compile time.</a:t>
            </a:r>
          </a:p>
          <a:p>
            <a:pPr>
              <a:defRPr sz="1500"/>
            </a:pPr>
            <a:r>
              <a:t>Key Features:</a:t>
            </a:r>
          </a:p>
          <a:p>
            <a:pPr>
              <a:defRPr sz="1500"/>
            </a:pPr>
            <a:r>
              <a:t>Owned, meaning it manages its own memory and ensures it gets freed when it goes out of scope.</a:t>
            </a:r>
          </a:p>
          <a:p>
            <a:pPr>
              <a:defRPr sz="1500"/>
            </a:pPr>
            <a:r>
              <a:t>Can grow or shrink as needed.</a:t>
            </a:r>
          </a:p>
          <a:p>
            <a:pPr>
              <a:defRPr sz="1500"/>
            </a:pPr>
            <a:r>
              <a:t>Commonly used when creating or processing strings dynamically.</a:t>
            </a:r>
          </a:p>
          <a:p>
            <a:pPr>
              <a:defRPr sz="1500"/>
            </a:pPr>
            <a:endParaRPr/>
          </a:p>
          <a:p>
            <a:pPr>
              <a:defRPr sz="1500"/>
            </a:pPr>
            <a:r>
              <a:t>2. &amp;str (String slice)</a:t>
            </a:r>
          </a:p>
          <a:p>
            <a:pPr>
              <a:defRPr sz="1500"/>
            </a:pPr>
            <a:r>
              <a:t>Description:</a:t>
            </a:r>
          </a:p>
          <a:p>
            <a:pPr>
              <a:defRPr sz="1500"/>
            </a:pPr>
            <a:r>
              <a:t>A borrowed, immutable view of a string, usually a portion of a String or a string literal.</a:t>
            </a:r>
          </a:p>
          <a:p>
            <a:pPr>
              <a:defRPr sz="1500"/>
            </a:pPr>
            <a:r>
              <a:t>Often referred to as a "string slice."</a:t>
            </a:r>
          </a:p>
          <a:p>
            <a:pPr>
              <a:defRPr sz="1500"/>
            </a:pPr>
            <a:r>
              <a:t>Key Features:</a:t>
            </a:r>
          </a:p>
          <a:p>
            <a:pPr>
              <a:defRPr sz="1500"/>
            </a:pPr>
            <a:r>
              <a:t>Not owned; does not manage its own memory.</a:t>
            </a:r>
          </a:p>
          <a:p>
            <a:pPr>
              <a:defRPr sz="1500"/>
            </a:pPr>
            <a:r>
              <a:t>Used for references to string data, avoiding unnecessary allocations.</a:t>
            </a:r>
          </a:p>
          <a:p>
            <a:pPr>
              <a:defRPr sz="1500"/>
            </a:pPr>
            <a:endParaRPr/>
          </a:p>
          <a:p>
            <a:pPr>
              <a:defRPr sz="1500"/>
            </a:pPr>
            <a:r>
              <a:t>3. String Literals</a:t>
            </a:r>
          </a:p>
          <a:p>
            <a:pPr>
              <a:defRPr sz="1500"/>
            </a:pPr>
            <a:r>
              <a:t>Description:</a:t>
            </a:r>
          </a:p>
          <a:p>
            <a:pPr>
              <a:defRPr sz="1500"/>
            </a:pPr>
            <a:r>
              <a:t>A statically allocated string with the type &amp;'static str.</a:t>
            </a:r>
          </a:p>
          <a:p>
            <a:pPr>
              <a:defRPr sz="1500"/>
            </a:pPr>
            <a:r>
              <a:t>Used for hard-coded strings in a program.</a:t>
            </a:r>
          </a:p>
          <a:p>
            <a:pPr>
              <a:defRPr sz="1500"/>
            </a:pPr>
            <a:r>
              <a:t>Key Features:</a:t>
            </a:r>
          </a:p>
          <a:p>
            <a:pPr>
              <a:defRPr sz="1500"/>
            </a:pPr>
            <a:r>
              <a:t>Lives for the entire duration of the program ('static lifetime).</a:t>
            </a:r>
          </a:p>
          <a:p>
            <a:pPr>
              <a:defRPr sz="1500"/>
            </a:pPr>
            <a:r>
              <a:t>Efficient for fixed strings as they don't require dynamic memory allocation.</a:t>
            </a:r>
          </a:p>
          <a:p>
            <a:pPr>
              <a:defRPr sz="1500"/>
            </a:pPr>
            <a:endParaRPr/>
          </a:p>
          <a:p>
            <a:pPr>
              <a:defRPr sz="1500"/>
            </a:pPr>
            <a:r>
              <a:t>4. CString (C-compatible string)</a:t>
            </a:r>
          </a:p>
          <a:p>
            <a:pPr>
              <a:defRPr sz="1500"/>
            </a:pPr>
            <a:r>
              <a:t>Description:</a:t>
            </a:r>
          </a:p>
          <a:p>
            <a:pPr>
              <a:defRPr sz="1500"/>
            </a:pPr>
            <a:r>
              <a:t>A heap-allocated, null-terminated string compatible with C-style strings.</a:t>
            </a:r>
          </a:p>
          <a:p>
            <a:pPr>
              <a:defRPr sz="1500"/>
            </a:pPr>
            <a:r>
              <a:t>Useful when interacting with C libraries or FFI (Foreign Function Interface).</a:t>
            </a:r>
          </a:p>
          <a:p>
            <a:pPr>
              <a:defRPr sz="1500"/>
            </a:pPr>
            <a:r>
              <a:t>Key Features:</a:t>
            </a:r>
          </a:p>
          <a:p>
            <a:pPr>
              <a:defRPr sz="1500"/>
            </a:pPr>
            <a:r>
              <a:t>Null-terminated to match C conventions.</a:t>
            </a:r>
          </a:p>
          <a:p>
            <a:pPr>
              <a:defRPr sz="1500"/>
            </a:pPr>
            <a:r>
              <a:t>Cannot contain internal null bytes.</a:t>
            </a:r>
          </a:p>
          <a:p>
            <a:pPr>
              <a:defRPr sz="1500"/>
            </a:pPr>
            <a:endParaRPr/>
          </a:p>
          <a:p>
            <a:pPr>
              <a:defRPr sz="1500"/>
            </a:pPr>
            <a:r>
              <a:t>5. OsString and OsStr (Operating system strings)</a:t>
            </a:r>
          </a:p>
          <a:p>
            <a:pPr>
              <a:defRPr sz="1500"/>
            </a:pPr>
            <a:r>
              <a:t>Description:</a:t>
            </a:r>
          </a:p>
          <a:p>
            <a:pPr>
              <a:defRPr sz="1500"/>
            </a:pPr>
            <a:r>
              <a:t>Designed for strings that interact with the operating system (e.g., file paths).</a:t>
            </a:r>
          </a:p>
          <a:p>
            <a:pPr>
              <a:defRPr sz="1500"/>
            </a:pPr>
            <a:r>
              <a:t>Works seamlessly with platform-specific encoding.</a:t>
            </a:r>
          </a:p>
          <a:p>
            <a:pPr>
              <a:defRPr sz="1500"/>
            </a:pPr>
            <a:r>
              <a:t>Key Features:</a:t>
            </a:r>
          </a:p>
          <a:p>
            <a:pPr>
              <a:defRPr sz="1500"/>
            </a:pPr>
            <a:r>
              <a:t>OsString: Owned, growable, heap-allocated string.</a:t>
            </a:r>
          </a:p>
          <a:p>
            <a:pPr>
              <a:defRPr sz="1500"/>
            </a:pPr>
            <a:r>
              <a:t>OsStr: Borrowed, immutable slice.</a:t>
            </a:r>
          </a:p>
          <a:p>
            <a:pPr>
              <a:defRPr sz="1500"/>
            </a:pPr>
            <a:endParaRPr/>
          </a:p>
          <a:p>
            <a:pPr>
              <a:defRPr sz="1500"/>
            </a:pPr>
            <a:r>
              <a:t>6. Cow&lt;'a, str&gt; (Clone-on-write string)</a:t>
            </a:r>
          </a:p>
          <a:p>
            <a:pPr>
              <a:defRPr sz="1500"/>
            </a:pPr>
            <a:r>
              <a:t>Description:</a:t>
            </a:r>
          </a:p>
          <a:p>
            <a:pPr>
              <a:defRPr sz="1500"/>
            </a:pPr>
            <a:r>
              <a:t>A string type that can act as either borrowed or owned, optimizing for cases where ownership isn't always necessary.</a:t>
            </a:r>
          </a:p>
          <a:p>
            <a:pPr>
              <a:defRPr sz="1500"/>
            </a:pPr>
            <a:r>
              <a:t>Key Features:</a:t>
            </a:r>
          </a:p>
          <a:p>
            <a:pPr>
              <a:defRPr sz="1500"/>
            </a:pPr>
            <a:r>
              <a:t>Borrowed when no modification is needed.</a:t>
            </a:r>
          </a:p>
          <a:p>
            <a:pPr>
              <a:defRPr sz="1500"/>
            </a:pPr>
            <a:r>
              <a:t>Cloned into an owned String only if modification is required.</a:t>
            </a:r>
          </a:p>
          <a:p>
            <a:pPr>
              <a:defRPr sz="1500"/>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hape 415"/>
          <p:cNvSpPr>
            <a:spLocks noGrp="1" noRot="1" noChangeAspect="1"/>
          </p:cNvSpPr>
          <p:nvPr>
            <p:ph type="sldImg"/>
          </p:nvPr>
        </p:nvSpPr>
        <p:spPr>
          <a:xfrm>
            <a:off x="381000" y="685800"/>
            <a:ext cx="6096000" cy="3429000"/>
          </a:xfrm>
          <a:prstGeom prst="rect">
            <a:avLst/>
          </a:prstGeom>
        </p:spPr>
        <p:txBody>
          <a:bodyPr/>
          <a:lstStyle/>
          <a:p>
            <a:endParaRPr/>
          </a:p>
        </p:txBody>
      </p:sp>
      <p:sp>
        <p:nvSpPr>
          <p:cNvPr id="416" name="Shape 416"/>
          <p:cNvSpPr>
            <a:spLocks noGrp="1"/>
          </p:cNvSpPr>
          <p:nvPr>
            <p:ph type="body" sz="quarter" idx="1"/>
          </p:nvPr>
        </p:nvSpPr>
        <p:spPr>
          <a:prstGeom prst="rect">
            <a:avLst/>
          </a:prstGeom>
        </p:spPr>
        <p:txBody>
          <a:bodyPr/>
          <a:lstStyle>
            <a:lvl1pPr>
              <a:defRPr sz="2400"/>
            </a:lvl1pPr>
          </a:lstStyle>
          <a:p>
            <a:r>
              <a:t>https://en.wikipedia.org/wiki/Asm.js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443"/>
          <p:cNvSpPr>
            <a:spLocks noGrp="1" noRot="1" noChangeAspect="1"/>
          </p:cNvSpPr>
          <p:nvPr>
            <p:ph type="sldImg"/>
          </p:nvPr>
        </p:nvSpPr>
        <p:spPr>
          <a:xfrm>
            <a:off x="381000" y="685800"/>
            <a:ext cx="6096000" cy="3429000"/>
          </a:xfrm>
          <a:prstGeom prst="rect">
            <a:avLst/>
          </a:prstGeom>
        </p:spPr>
        <p:txBody>
          <a:bodyPr/>
          <a:lstStyle/>
          <a:p>
            <a:endParaRPr/>
          </a:p>
        </p:txBody>
      </p:sp>
      <p:sp>
        <p:nvSpPr>
          <p:cNvPr id="444" name="Shape 444"/>
          <p:cNvSpPr>
            <a:spLocks noGrp="1"/>
          </p:cNvSpPr>
          <p:nvPr>
            <p:ph type="body" sz="quarter" idx="1"/>
          </p:nvPr>
        </p:nvSpPr>
        <p:spPr>
          <a:prstGeom prst="rect">
            <a:avLst/>
          </a:prstGeom>
        </p:spPr>
        <p:txBody>
          <a:bodyPr/>
          <a:lstStyle>
            <a:lvl1pPr>
              <a:defRPr sz="2400"/>
            </a:lvl1pPr>
          </a:lstStyle>
          <a:p>
            <a:r>
              <a:t>Learning more about Rust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Shape 464"/>
          <p:cNvSpPr>
            <a:spLocks noGrp="1" noRot="1" noChangeAspect="1"/>
          </p:cNvSpPr>
          <p:nvPr>
            <p:ph type="sldImg"/>
          </p:nvPr>
        </p:nvSpPr>
        <p:spPr>
          <a:xfrm>
            <a:off x="381000" y="685800"/>
            <a:ext cx="6096000" cy="3429000"/>
          </a:xfrm>
          <a:prstGeom prst="rect">
            <a:avLst/>
          </a:prstGeom>
        </p:spPr>
        <p:txBody>
          <a:bodyPr/>
          <a:lstStyle/>
          <a:p>
            <a:endParaRPr/>
          </a:p>
        </p:txBody>
      </p:sp>
      <p:sp>
        <p:nvSpPr>
          <p:cNvPr id="465" name="Shape 465"/>
          <p:cNvSpPr>
            <a:spLocks noGrp="1"/>
          </p:cNvSpPr>
          <p:nvPr>
            <p:ph type="body" sz="quarter" idx="1"/>
          </p:nvPr>
        </p:nvSpPr>
        <p:spPr>
          <a:prstGeom prst="rect">
            <a:avLst/>
          </a:prstGeom>
        </p:spPr>
        <p:txBody>
          <a:bodyPr/>
          <a:lstStyle>
            <a:lvl1pPr>
              <a:defRPr sz="2400"/>
            </a:lvl1pPr>
          </a:lstStyle>
          <a:p>
            <a:r>
              <a:t>Thank You</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Shape 472"/>
          <p:cNvSpPr>
            <a:spLocks noGrp="1" noRot="1" noChangeAspect="1"/>
          </p:cNvSpPr>
          <p:nvPr>
            <p:ph type="sldImg"/>
          </p:nvPr>
        </p:nvSpPr>
        <p:spPr>
          <a:xfrm>
            <a:off x="381000" y="685800"/>
            <a:ext cx="6096000" cy="3429000"/>
          </a:xfrm>
          <a:prstGeom prst="rect">
            <a:avLst/>
          </a:prstGeom>
        </p:spPr>
        <p:txBody>
          <a:bodyPr/>
          <a:lstStyle/>
          <a:p>
            <a:endParaRPr/>
          </a:p>
        </p:txBody>
      </p:sp>
      <p:sp>
        <p:nvSpPr>
          <p:cNvPr id="473" name="Shape 473"/>
          <p:cNvSpPr>
            <a:spLocks noGrp="1"/>
          </p:cNvSpPr>
          <p:nvPr>
            <p:ph type="body" sz="quarter" idx="1"/>
          </p:nvPr>
        </p:nvSpPr>
        <p:spPr>
          <a:prstGeom prst="rect">
            <a:avLst/>
          </a:prstGeom>
        </p:spPr>
        <p:txBody>
          <a:bodyPr/>
          <a:lstStyle>
            <a:lvl1pPr>
              <a:defRPr sz="2400"/>
            </a:lvl1pPr>
          </a:lstStyle>
          <a:p>
            <a:r>
              <a:t>References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Shape 480"/>
          <p:cNvSpPr>
            <a:spLocks noGrp="1" noRot="1" noChangeAspect="1"/>
          </p:cNvSpPr>
          <p:nvPr>
            <p:ph type="sldImg"/>
          </p:nvPr>
        </p:nvSpPr>
        <p:spPr>
          <a:xfrm>
            <a:off x="381000" y="685800"/>
            <a:ext cx="6096000" cy="3429000"/>
          </a:xfrm>
          <a:prstGeom prst="rect">
            <a:avLst/>
          </a:prstGeom>
        </p:spPr>
        <p:txBody>
          <a:bodyPr/>
          <a:lstStyle/>
          <a:p>
            <a:endParaRPr/>
          </a:p>
        </p:txBody>
      </p:sp>
      <p:sp>
        <p:nvSpPr>
          <p:cNvPr id="481" name="Shape 481"/>
          <p:cNvSpPr>
            <a:spLocks noGrp="1"/>
          </p:cNvSpPr>
          <p:nvPr>
            <p:ph type="body" sz="quarter" idx="1"/>
          </p:nvPr>
        </p:nvSpPr>
        <p:spPr>
          <a:prstGeom prst="rect">
            <a:avLst/>
          </a:prstGeom>
        </p:spPr>
        <p:txBody>
          <a:bodyPr/>
          <a:lstStyle>
            <a:lvl1pPr>
              <a:defRPr sz="2400"/>
            </a:lvl1pPr>
          </a:lstStyle>
          <a:p>
            <a:r>
              <a:t>References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Shape 488"/>
          <p:cNvSpPr>
            <a:spLocks noGrp="1" noRot="1" noChangeAspect="1"/>
          </p:cNvSpPr>
          <p:nvPr>
            <p:ph type="sldImg"/>
          </p:nvPr>
        </p:nvSpPr>
        <p:spPr>
          <a:xfrm>
            <a:off x="381000" y="685800"/>
            <a:ext cx="6096000" cy="3429000"/>
          </a:xfrm>
          <a:prstGeom prst="rect">
            <a:avLst/>
          </a:prstGeom>
        </p:spPr>
        <p:txBody>
          <a:bodyPr/>
          <a:lstStyle/>
          <a:p>
            <a:endParaRPr/>
          </a:p>
        </p:txBody>
      </p:sp>
      <p:sp>
        <p:nvSpPr>
          <p:cNvPr id="489" name="Shape 489"/>
          <p:cNvSpPr>
            <a:spLocks noGrp="1"/>
          </p:cNvSpPr>
          <p:nvPr>
            <p:ph type="body" sz="quarter" idx="1"/>
          </p:nvPr>
        </p:nvSpPr>
        <p:spPr>
          <a:prstGeom prst="rect">
            <a:avLst/>
          </a:prstGeom>
        </p:spPr>
        <p:txBody>
          <a:bodyPr/>
          <a:lstStyle>
            <a:lvl1pPr>
              <a:defRPr sz="2400"/>
            </a:lvl1pPr>
          </a:lstStyle>
          <a:p>
            <a:r>
              <a:t>References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Shape 496"/>
          <p:cNvSpPr>
            <a:spLocks noGrp="1" noRot="1" noChangeAspect="1"/>
          </p:cNvSpPr>
          <p:nvPr>
            <p:ph type="sldImg"/>
          </p:nvPr>
        </p:nvSpPr>
        <p:spPr>
          <a:xfrm>
            <a:off x="381000" y="685800"/>
            <a:ext cx="6096000" cy="3429000"/>
          </a:xfrm>
          <a:prstGeom prst="rect">
            <a:avLst/>
          </a:prstGeom>
        </p:spPr>
        <p:txBody>
          <a:bodyPr/>
          <a:lstStyle/>
          <a:p>
            <a:endParaRPr/>
          </a:p>
        </p:txBody>
      </p:sp>
      <p:sp>
        <p:nvSpPr>
          <p:cNvPr id="497" name="Shape 497"/>
          <p:cNvSpPr>
            <a:spLocks noGrp="1"/>
          </p:cNvSpPr>
          <p:nvPr>
            <p:ph type="body" sz="quarter" idx="1"/>
          </p:nvPr>
        </p:nvSpPr>
        <p:spPr>
          <a:prstGeom prst="rect">
            <a:avLst/>
          </a:prstGeom>
        </p:spPr>
        <p:txBody>
          <a:bodyPr/>
          <a:lstStyle>
            <a:lvl1pPr>
              <a:defRPr sz="2400"/>
            </a:lvl1pPr>
          </a:lstStyle>
          <a:p>
            <a:r>
              <a:t>References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Shape 504"/>
          <p:cNvSpPr>
            <a:spLocks noGrp="1" noRot="1" noChangeAspect="1"/>
          </p:cNvSpPr>
          <p:nvPr>
            <p:ph type="sldImg"/>
          </p:nvPr>
        </p:nvSpPr>
        <p:spPr>
          <a:xfrm>
            <a:off x="381000" y="685800"/>
            <a:ext cx="6096000" cy="3429000"/>
          </a:xfrm>
          <a:prstGeom prst="rect">
            <a:avLst/>
          </a:prstGeom>
        </p:spPr>
        <p:txBody>
          <a:bodyPr/>
          <a:lstStyle/>
          <a:p>
            <a:endParaRPr/>
          </a:p>
        </p:txBody>
      </p:sp>
      <p:sp>
        <p:nvSpPr>
          <p:cNvPr id="505" name="Shape 505"/>
          <p:cNvSpPr>
            <a:spLocks noGrp="1"/>
          </p:cNvSpPr>
          <p:nvPr>
            <p:ph type="body" sz="quarter" idx="1"/>
          </p:nvPr>
        </p:nvSpPr>
        <p:spPr>
          <a:prstGeom prst="rect">
            <a:avLst/>
          </a:prstGeom>
        </p:spPr>
        <p:txBody>
          <a:bodyPr/>
          <a:lstStyle>
            <a:lvl1pPr>
              <a:defRPr sz="2400"/>
            </a:lvl1pPr>
          </a:lstStyle>
          <a:p>
            <a:r>
              <a:t>References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Shape 524"/>
          <p:cNvSpPr>
            <a:spLocks noGrp="1" noRot="1" noChangeAspect="1"/>
          </p:cNvSpPr>
          <p:nvPr>
            <p:ph type="sldImg"/>
          </p:nvPr>
        </p:nvSpPr>
        <p:spPr>
          <a:xfrm>
            <a:off x="381000" y="685800"/>
            <a:ext cx="6096000" cy="3429000"/>
          </a:xfrm>
          <a:prstGeom prst="rect">
            <a:avLst/>
          </a:prstGeom>
        </p:spPr>
        <p:txBody>
          <a:bodyPr/>
          <a:lstStyle/>
          <a:p>
            <a:endParaRPr/>
          </a:p>
        </p:txBody>
      </p:sp>
      <p:sp>
        <p:nvSpPr>
          <p:cNvPr id="525" name="Shape 525"/>
          <p:cNvSpPr>
            <a:spLocks noGrp="1"/>
          </p:cNvSpPr>
          <p:nvPr>
            <p:ph type="body" sz="quarter" idx="1"/>
          </p:nvPr>
        </p:nvSpPr>
        <p:spPr>
          <a:prstGeom prst="rect">
            <a:avLst/>
          </a:prstGeom>
        </p:spPr>
        <p:txBody>
          <a:bodyPr/>
          <a:lstStyle>
            <a:lvl1pPr>
              <a:defRPr sz="2400"/>
            </a:lvl1pPr>
          </a:lstStyle>
          <a:p>
            <a:r>
              <a:t>JetBrains released a new IDE for Rust named, RustRover, released May 21, 2024 that is not reflected in this survey data.</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 name="Shape 533"/>
          <p:cNvSpPr>
            <a:spLocks noGrp="1" noRot="1" noChangeAspect="1"/>
          </p:cNvSpPr>
          <p:nvPr>
            <p:ph type="sldImg"/>
          </p:nvPr>
        </p:nvSpPr>
        <p:spPr>
          <a:xfrm>
            <a:off x="381000" y="685800"/>
            <a:ext cx="6096000" cy="3429000"/>
          </a:xfrm>
          <a:prstGeom prst="rect">
            <a:avLst/>
          </a:prstGeom>
        </p:spPr>
        <p:txBody>
          <a:bodyPr/>
          <a:lstStyle/>
          <a:p>
            <a:endParaRPr/>
          </a:p>
        </p:txBody>
      </p:sp>
      <p:sp>
        <p:nvSpPr>
          <p:cNvPr id="534" name="Shape 534"/>
          <p:cNvSpPr>
            <a:spLocks noGrp="1"/>
          </p:cNvSpPr>
          <p:nvPr>
            <p:ph type="body" sz="quarter" idx="1"/>
          </p:nvPr>
        </p:nvSpPr>
        <p:spPr>
          <a:prstGeom prst="rect">
            <a:avLst/>
          </a:prstGeom>
        </p:spPr>
        <p:txBody>
          <a:bodyPr/>
          <a:lstStyle/>
          <a:p>
            <a:pPr>
              <a:defRPr sz="2400"/>
            </a:pPr>
            <a:r>
              <a:t>Trivia: Blazor is a portmanteau of Browser and Razor</a:t>
            </a:r>
          </a:p>
          <a:p>
            <a:pPr>
              <a:defRPr sz="2400"/>
            </a:pPr>
            <a:r>
              <a:t>(In .NET, the view generator engine is typically called "Razor")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976687" y="6036468"/>
            <a:ext cx="16430626" cy="3125392"/>
          </a:xfrm>
          <a:prstGeom prst="rect">
            <a:avLst/>
          </a:prstGeom>
        </p:spPr>
        <p:txBody>
          <a:bodyPr/>
          <a:lstStyle>
            <a:lvl1pPr>
              <a:defRPr sz="8600" spc="1375"/>
            </a:lvl1pPr>
          </a:lstStyle>
          <a:p>
            <a:r>
              <a:t>Title Text</a:t>
            </a:r>
          </a:p>
        </p:txBody>
      </p:sp>
      <p:sp>
        <p:nvSpPr>
          <p:cNvPr id="12" name="Body Level One…"/>
          <p:cNvSpPr txBox="1">
            <a:spLocks noGrp="1"/>
          </p:cNvSpPr>
          <p:nvPr>
            <p:ph type="body" sz="quarter" idx="1"/>
          </p:nvPr>
        </p:nvSpPr>
        <p:spPr>
          <a:xfrm>
            <a:off x="3976687" y="4804171"/>
            <a:ext cx="16430626" cy="1250158"/>
          </a:xfrm>
          <a:prstGeom prst="rect">
            <a:avLst/>
          </a:prstGeom>
        </p:spPr>
        <p:txBody>
          <a:bodyPr anchor="b"/>
          <a:lstStyle>
            <a:lvl1pPr marL="0" indent="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1pPr>
            <a:lvl2pPr marL="0" indent="22860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2pPr>
            <a:lvl3pPr marL="0" indent="45720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3pPr>
            <a:lvl4pPr marL="0" indent="68580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4pPr>
            <a:lvl5pPr marL="0" indent="91440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xfrm>
            <a:off x="3409917" y="13046378"/>
            <a:ext cx="472568" cy="561976"/>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21"/>
          </p:nvPr>
        </p:nvSpPr>
        <p:spPr>
          <a:xfrm>
            <a:off x="2212292" y="-35580"/>
            <a:ext cx="19942461" cy="13788788"/>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3976687" y="1410890"/>
            <a:ext cx="16430626" cy="2053829"/>
          </a:xfrm>
          <a:prstGeom prst="rect">
            <a:avLst/>
          </a:prstGeom>
        </p:spPr>
        <p:txBody>
          <a:bodyPr/>
          <a:lstStyle>
            <a:lvl1pPr>
              <a:defRPr sz="8600" spc="1375"/>
            </a:lvl1pPr>
          </a:lstStyle>
          <a:p>
            <a:r>
              <a:t>Title Text</a:t>
            </a:r>
          </a:p>
        </p:txBody>
      </p:sp>
      <p:sp>
        <p:nvSpPr>
          <p:cNvPr id="22" name="Body Level One…"/>
          <p:cNvSpPr txBox="1">
            <a:spLocks noGrp="1"/>
          </p:cNvSpPr>
          <p:nvPr>
            <p:ph type="body" sz="quarter" idx="1"/>
          </p:nvPr>
        </p:nvSpPr>
        <p:spPr>
          <a:xfrm>
            <a:off x="3976687" y="714375"/>
            <a:ext cx="16430626" cy="714375"/>
          </a:xfrm>
          <a:prstGeom prst="rect">
            <a:avLst/>
          </a:prstGeom>
        </p:spPr>
        <p:txBody>
          <a:bodyPr/>
          <a:lstStyle>
            <a:lvl1pPr marL="0" indent="0">
              <a:spcBef>
                <a:spcPts val="0"/>
              </a:spcBef>
              <a:buClrTx/>
              <a:buSzTx/>
              <a:buNone/>
              <a:defRPr sz="3200" cap="all" spc="512">
                <a:latin typeface="Avenir Book"/>
                <a:ea typeface="Avenir Book"/>
                <a:cs typeface="Avenir Book"/>
                <a:sym typeface="Avenir Book"/>
              </a:defRPr>
            </a:lvl1pPr>
            <a:lvl2pPr marL="0" indent="228600">
              <a:spcBef>
                <a:spcPts val="0"/>
              </a:spcBef>
              <a:buClrTx/>
              <a:buSzTx/>
              <a:buNone/>
              <a:defRPr sz="3200" cap="all" spc="512">
                <a:latin typeface="Avenir Book"/>
                <a:ea typeface="Avenir Book"/>
                <a:cs typeface="Avenir Book"/>
                <a:sym typeface="Avenir Book"/>
              </a:defRPr>
            </a:lvl2pPr>
            <a:lvl3pPr marL="0" indent="457200">
              <a:spcBef>
                <a:spcPts val="0"/>
              </a:spcBef>
              <a:buClrTx/>
              <a:buSzTx/>
              <a:buNone/>
              <a:defRPr sz="3200" cap="all" spc="512">
                <a:latin typeface="Avenir Book"/>
                <a:ea typeface="Avenir Book"/>
                <a:cs typeface="Avenir Book"/>
                <a:sym typeface="Avenir Book"/>
              </a:defRPr>
            </a:lvl3pPr>
            <a:lvl4pPr marL="0" indent="685800">
              <a:spcBef>
                <a:spcPts val="0"/>
              </a:spcBef>
              <a:buClrTx/>
              <a:buSzTx/>
              <a:buNone/>
              <a:defRPr sz="3200" cap="all" spc="512">
                <a:latin typeface="Avenir Book"/>
                <a:ea typeface="Avenir Book"/>
                <a:cs typeface="Avenir Book"/>
                <a:sym typeface="Avenir Book"/>
              </a:defRPr>
            </a:lvl4pPr>
            <a:lvl5pPr marL="0" indent="914400">
              <a:spcBef>
                <a:spcPts val="0"/>
              </a:spcBef>
              <a:buClrTx/>
              <a:buSzTx/>
              <a:buNone/>
              <a:defRPr sz="3200" cap="all" spc="512">
                <a:latin typeface="Avenir Book"/>
                <a:ea typeface="Avenir Book"/>
                <a:cs typeface="Avenir Book"/>
                <a:sym typeface="Avenir Book"/>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Horizontal Alt">
    <p:spTree>
      <p:nvGrpSpPr>
        <p:cNvPr id="1" name=""/>
        <p:cNvGrpSpPr/>
        <p:nvPr/>
      </p:nvGrpSpPr>
      <p:grpSpPr>
        <a:xfrm>
          <a:off x="0" y="0"/>
          <a:ext cx="0" cy="0"/>
          <a:chOff x="0" y="0"/>
          <a:chExt cx="0" cy="0"/>
        </a:xfrm>
      </p:grpSpPr>
      <p:sp>
        <p:nvSpPr>
          <p:cNvPr id="30" name="Image"/>
          <p:cNvSpPr>
            <a:spLocks noGrp="1"/>
          </p:cNvSpPr>
          <p:nvPr>
            <p:ph type="pic" idx="21"/>
          </p:nvPr>
        </p:nvSpPr>
        <p:spPr>
          <a:xfrm>
            <a:off x="2958703" y="3750468"/>
            <a:ext cx="18448735" cy="10047687"/>
          </a:xfrm>
          <a:prstGeom prst="rect">
            <a:avLst/>
          </a:prstGeom>
        </p:spPr>
        <p:txBody>
          <a:bodyPr lIns="91439" tIns="45719" rIns="91439" bIns="45719" anchor="t">
            <a:noAutofit/>
          </a:bodyPr>
          <a:lstStyle/>
          <a:p>
            <a:endParaRPr/>
          </a:p>
        </p:txBody>
      </p:sp>
      <p:sp>
        <p:nvSpPr>
          <p:cNvPr id="31" name="Title Text"/>
          <p:cNvSpPr txBox="1">
            <a:spLocks noGrp="1"/>
          </p:cNvSpPr>
          <p:nvPr>
            <p:ph type="title"/>
          </p:nvPr>
        </p:nvSpPr>
        <p:spPr>
          <a:xfrm>
            <a:off x="3976687" y="1410890"/>
            <a:ext cx="16430626" cy="2053829"/>
          </a:xfrm>
          <a:prstGeom prst="rect">
            <a:avLst/>
          </a:prstGeom>
        </p:spPr>
        <p:txBody>
          <a:bodyPr/>
          <a:lstStyle>
            <a:lvl1pPr>
              <a:defRPr sz="8600" spc="1375"/>
            </a:lvl1pPr>
          </a:lstStyle>
          <a:p>
            <a:r>
              <a:t>Title Text</a:t>
            </a:r>
          </a:p>
        </p:txBody>
      </p:sp>
      <p:sp>
        <p:nvSpPr>
          <p:cNvPr id="32" name="Body Level One…"/>
          <p:cNvSpPr txBox="1">
            <a:spLocks noGrp="1"/>
          </p:cNvSpPr>
          <p:nvPr>
            <p:ph type="body" sz="quarter" idx="1"/>
          </p:nvPr>
        </p:nvSpPr>
        <p:spPr>
          <a:xfrm>
            <a:off x="3976687" y="714375"/>
            <a:ext cx="16430626" cy="714375"/>
          </a:xfrm>
          <a:prstGeom prst="rect">
            <a:avLst/>
          </a:prstGeom>
        </p:spPr>
        <p:txBody>
          <a:bodyPr/>
          <a:lstStyle>
            <a:lvl1pPr marL="0" indent="0">
              <a:spcBef>
                <a:spcPts val="0"/>
              </a:spcBef>
              <a:buClrTx/>
              <a:buSzTx/>
              <a:buNone/>
              <a:defRPr sz="3200" cap="all" spc="512">
                <a:latin typeface="Avenir Book"/>
                <a:ea typeface="Avenir Book"/>
                <a:cs typeface="Avenir Book"/>
                <a:sym typeface="Avenir Book"/>
              </a:defRPr>
            </a:lvl1pPr>
            <a:lvl2pPr marL="0" indent="228600">
              <a:spcBef>
                <a:spcPts val="0"/>
              </a:spcBef>
              <a:buClrTx/>
              <a:buSzTx/>
              <a:buNone/>
              <a:defRPr sz="3200" cap="all" spc="512">
                <a:latin typeface="Avenir Book"/>
                <a:ea typeface="Avenir Book"/>
                <a:cs typeface="Avenir Book"/>
                <a:sym typeface="Avenir Book"/>
              </a:defRPr>
            </a:lvl2pPr>
            <a:lvl3pPr marL="0" indent="457200">
              <a:spcBef>
                <a:spcPts val="0"/>
              </a:spcBef>
              <a:buClrTx/>
              <a:buSzTx/>
              <a:buNone/>
              <a:defRPr sz="3200" cap="all" spc="512">
                <a:latin typeface="Avenir Book"/>
                <a:ea typeface="Avenir Book"/>
                <a:cs typeface="Avenir Book"/>
                <a:sym typeface="Avenir Book"/>
              </a:defRPr>
            </a:lvl3pPr>
            <a:lvl4pPr marL="0" indent="685800">
              <a:spcBef>
                <a:spcPts val="0"/>
              </a:spcBef>
              <a:buClrTx/>
              <a:buSzTx/>
              <a:buNone/>
              <a:defRPr sz="3200" cap="all" spc="512">
                <a:latin typeface="Avenir Book"/>
                <a:ea typeface="Avenir Book"/>
                <a:cs typeface="Avenir Book"/>
                <a:sym typeface="Avenir Book"/>
              </a:defRPr>
            </a:lvl4pPr>
            <a:lvl5pPr marL="0" indent="914400">
              <a:spcBef>
                <a:spcPts val="0"/>
              </a:spcBef>
              <a:buClrTx/>
              <a:buSzTx/>
              <a:buNone/>
              <a:defRPr sz="3200" cap="all" spc="512">
                <a:latin typeface="Avenir Book"/>
                <a:ea typeface="Avenir Book"/>
                <a:cs typeface="Avenir Book"/>
                <a:sym typeface="Avenir Book"/>
              </a:defRPr>
            </a:lvl5pPr>
          </a:lstStyle>
          <a:p>
            <a:r>
              <a:t>Body Level One</a:t>
            </a:r>
          </a:p>
          <a:p>
            <a:pPr lvl="1"/>
            <a:r>
              <a:t>Body Level Two</a:t>
            </a:r>
          </a:p>
          <a:p>
            <a:pPr lvl="2"/>
            <a:r>
              <a:t>Body Level Three</a:t>
            </a:r>
          </a:p>
          <a:p>
            <a:pPr lvl="3"/>
            <a:r>
              <a:t>Body Level Four</a:t>
            </a:r>
          </a:p>
          <a:p>
            <a:pPr lvl="4"/>
            <a:r>
              <a:t>Body Level Five</a:t>
            </a:r>
          </a:p>
        </p:txBody>
      </p:sp>
      <p:sp>
        <p:nvSpPr>
          <p:cNvPr id="3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40" name="Title Text"/>
          <p:cNvSpPr txBox="1">
            <a:spLocks noGrp="1"/>
          </p:cNvSpPr>
          <p:nvPr>
            <p:ph type="title"/>
          </p:nvPr>
        </p:nvSpPr>
        <p:spPr>
          <a:xfrm>
            <a:off x="3976687" y="5286375"/>
            <a:ext cx="16430626" cy="3125391"/>
          </a:xfrm>
          <a:prstGeom prst="rect">
            <a:avLst/>
          </a:prstGeom>
        </p:spPr>
        <p:txBody>
          <a:bodyPr anchor="ctr"/>
          <a:lstStyle>
            <a:lvl1pPr>
              <a:defRPr sz="8600" spc="1375"/>
            </a:lvl1pPr>
          </a:lstStyle>
          <a:p>
            <a:r>
              <a:t>Title Text</a:t>
            </a:r>
          </a:p>
        </p:txBody>
      </p:sp>
      <p:sp>
        <p:nvSpPr>
          <p:cNvPr id="41" name="Slide Number"/>
          <p:cNvSpPr txBox="1">
            <a:spLocks noGrp="1"/>
          </p:cNvSpPr>
          <p:nvPr>
            <p:ph type="sldNum" sz="quarter" idx="2"/>
          </p:nvPr>
        </p:nvSpPr>
        <p:spPr>
          <a:xfrm>
            <a:off x="3398670" y="13153955"/>
            <a:ext cx="581733" cy="561976"/>
          </a:xfrm>
          <a:prstGeom prst="rect">
            <a:avLst/>
          </a:prstGeom>
        </p:spPr>
        <p:txBody>
          <a:bodyPr wrap="square"/>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48" name="Image"/>
          <p:cNvSpPr>
            <a:spLocks noGrp="1"/>
          </p:cNvSpPr>
          <p:nvPr>
            <p:ph type="pic" idx="21"/>
          </p:nvPr>
        </p:nvSpPr>
        <p:spPr>
          <a:xfrm>
            <a:off x="9888140" y="-53579"/>
            <a:ext cx="13756503" cy="13773486"/>
          </a:xfrm>
          <a:prstGeom prst="rect">
            <a:avLst/>
          </a:prstGeom>
        </p:spPr>
        <p:txBody>
          <a:bodyPr lIns="91439" tIns="45719" rIns="91439" bIns="45719" anchor="t">
            <a:noAutofit/>
          </a:bodyPr>
          <a:lstStyle/>
          <a:p>
            <a:endParaRPr/>
          </a:p>
        </p:txBody>
      </p:sp>
      <p:sp>
        <p:nvSpPr>
          <p:cNvPr id="49" name="Title Text"/>
          <p:cNvSpPr txBox="1">
            <a:spLocks noGrp="1"/>
          </p:cNvSpPr>
          <p:nvPr>
            <p:ph type="title"/>
          </p:nvPr>
        </p:nvSpPr>
        <p:spPr>
          <a:xfrm>
            <a:off x="3815953" y="6054328"/>
            <a:ext cx="7608094" cy="4196954"/>
          </a:xfrm>
          <a:prstGeom prst="rect">
            <a:avLst/>
          </a:prstGeom>
        </p:spPr>
        <p:txBody>
          <a:bodyPr/>
          <a:lstStyle/>
          <a:p>
            <a:r>
              <a:t>Title Text</a:t>
            </a:r>
          </a:p>
        </p:txBody>
      </p:sp>
      <p:sp>
        <p:nvSpPr>
          <p:cNvPr id="50" name="Body Level One…"/>
          <p:cNvSpPr txBox="1">
            <a:spLocks noGrp="1"/>
          </p:cNvSpPr>
          <p:nvPr>
            <p:ph type="body" sz="quarter" idx="1"/>
          </p:nvPr>
        </p:nvSpPr>
        <p:spPr>
          <a:xfrm>
            <a:off x="3815953" y="4822031"/>
            <a:ext cx="7608094" cy="1250157"/>
          </a:xfrm>
          <a:prstGeom prst="rect">
            <a:avLst/>
          </a:prstGeom>
        </p:spPr>
        <p:txBody>
          <a:bodyPr/>
          <a:lstStyle>
            <a:lvl1pPr marL="0" indent="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1pPr>
            <a:lvl2pPr marL="0" indent="22860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2pPr>
            <a:lvl3pPr marL="0" indent="45720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3pPr>
            <a:lvl4pPr marL="0" indent="68580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4pPr>
            <a:lvl5pPr marL="0" indent="914400">
              <a:spcBef>
                <a:spcPts val="0"/>
              </a:spcBef>
              <a:buClrTx/>
              <a:buSzTx/>
              <a:buNone/>
              <a:defRPr sz="3200" cap="all" spc="512">
                <a:solidFill>
                  <a:schemeClr val="accent2">
                    <a:satOff val="44164"/>
                    <a:lumOff val="14231"/>
                  </a:schemeClr>
                </a:solidFill>
                <a:latin typeface="Avenir Book"/>
                <a:ea typeface="Avenir Book"/>
                <a:cs typeface="Avenir Book"/>
                <a:sym typeface="Avenir Book"/>
              </a:defRPr>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75" name="Image"/>
          <p:cNvSpPr>
            <a:spLocks noGrp="1"/>
          </p:cNvSpPr>
          <p:nvPr>
            <p:ph type="pic" idx="21"/>
          </p:nvPr>
        </p:nvSpPr>
        <p:spPr>
          <a:xfrm>
            <a:off x="9888140" y="-35719"/>
            <a:ext cx="13756503" cy="13773486"/>
          </a:xfrm>
          <a:prstGeom prst="rect">
            <a:avLst/>
          </a:prstGeom>
        </p:spPr>
        <p:txBody>
          <a:bodyPr lIns="91439" tIns="45719" rIns="91439" bIns="45719" anchor="t">
            <a:noAutofit/>
          </a:bodyPr>
          <a:lstStyle/>
          <a:p>
            <a:endParaRPr/>
          </a:p>
        </p:txBody>
      </p:sp>
      <p:sp>
        <p:nvSpPr>
          <p:cNvPr id="76" name="Title Text"/>
          <p:cNvSpPr txBox="1">
            <a:spLocks noGrp="1"/>
          </p:cNvSpPr>
          <p:nvPr>
            <p:ph type="title"/>
          </p:nvPr>
        </p:nvSpPr>
        <p:spPr>
          <a:xfrm>
            <a:off x="3976687" y="857250"/>
            <a:ext cx="7143751" cy="2607469"/>
          </a:xfrm>
          <a:prstGeom prst="rect">
            <a:avLst/>
          </a:prstGeom>
        </p:spPr>
        <p:txBody>
          <a:bodyPr/>
          <a:lstStyle/>
          <a:p>
            <a:r>
              <a:t>Title Text</a:t>
            </a:r>
          </a:p>
        </p:txBody>
      </p:sp>
      <p:sp>
        <p:nvSpPr>
          <p:cNvPr id="77" name="Body Level One…"/>
          <p:cNvSpPr txBox="1">
            <a:spLocks noGrp="1"/>
          </p:cNvSpPr>
          <p:nvPr>
            <p:ph type="body" sz="quarter" idx="1"/>
          </p:nvPr>
        </p:nvSpPr>
        <p:spPr>
          <a:xfrm>
            <a:off x="3976687" y="3964781"/>
            <a:ext cx="7143751" cy="8518923"/>
          </a:xfrm>
          <a:prstGeom prst="rect">
            <a:avLst/>
          </a:prstGeom>
        </p:spPr>
        <p:txBody>
          <a:bodyPr/>
          <a:lstStyle>
            <a:lvl1pPr marL="551179" indent="-551179">
              <a:spcBef>
                <a:spcPts val="4500"/>
              </a:spcBef>
              <a:defRPr sz="4200"/>
            </a:lvl1pPr>
            <a:lvl2pPr marL="944879" indent="-551179">
              <a:spcBef>
                <a:spcPts val="4500"/>
              </a:spcBef>
              <a:defRPr sz="4200"/>
            </a:lvl2pPr>
            <a:lvl3pPr marL="1338579" indent="-551179">
              <a:spcBef>
                <a:spcPts val="4500"/>
              </a:spcBef>
              <a:defRPr sz="4200"/>
            </a:lvl3pPr>
            <a:lvl4pPr marL="1732279" indent="-551179">
              <a:spcBef>
                <a:spcPts val="4500"/>
              </a:spcBef>
              <a:defRPr sz="4200"/>
            </a:lvl4pPr>
            <a:lvl5pPr marL="2125979" indent="-551179">
              <a:spcBef>
                <a:spcPts val="4500"/>
              </a:spcBef>
              <a:defRPr sz="4200"/>
            </a:lvl5pPr>
          </a:lstStyle>
          <a:p>
            <a:r>
              <a:t>Body Level One</a:t>
            </a:r>
          </a:p>
          <a:p>
            <a:pPr lvl="1"/>
            <a:r>
              <a:t>Body Level Two</a:t>
            </a:r>
          </a:p>
          <a:p>
            <a:pPr lvl="2"/>
            <a:r>
              <a:t>Body Level Three</a:t>
            </a:r>
          </a:p>
          <a:p>
            <a:pPr lvl="3"/>
            <a:r>
              <a:t>Body Level Four</a:t>
            </a:r>
          </a:p>
          <a:p>
            <a:pPr lvl="4"/>
            <a:r>
              <a:t>Body Level Five</a:t>
            </a: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85" name="Body Level One…"/>
          <p:cNvSpPr txBox="1">
            <a:spLocks noGrp="1"/>
          </p:cNvSpPr>
          <p:nvPr>
            <p:ph type="body" idx="1"/>
          </p:nvPr>
        </p:nvSpPr>
        <p:spPr>
          <a:xfrm>
            <a:off x="3976687" y="2125265"/>
            <a:ext cx="16430626" cy="944761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93" name="Image"/>
          <p:cNvSpPr>
            <a:spLocks noGrp="1"/>
          </p:cNvSpPr>
          <p:nvPr>
            <p:ph type="pic" sz="half" idx="21"/>
          </p:nvPr>
        </p:nvSpPr>
        <p:spPr>
          <a:xfrm>
            <a:off x="11907501" y="6418274"/>
            <a:ext cx="10626329" cy="7347339"/>
          </a:xfrm>
          <a:prstGeom prst="rect">
            <a:avLst/>
          </a:prstGeom>
        </p:spPr>
        <p:txBody>
          <a:bodyPr lIns="91439" tIns="45719" rIns="91439" bIns="45719" anchor="t">
            <a:noAutofit/>
          </a:bodyPr>
          <a:lstStyle/>
          <a:p>
            <a:endParaRPr/>
          </a:p>
        </p:txBody>
      </p:sp>
      <p:sp>
        <p:nvSpPr>
          <p:cNvPr id="94" name="Image"/>
          <p:cNvSpPr>
            <a:spLocks noGrp="1"/>
          </p:cNvSpPr>
          <p:nvPr>
            <p:ph type="pic" sz="half" idx="22"/>
          </p:nvPr>
        </p:nvSpPr>
        <p:spPr>
          <a:xfrm>
            <a:off x="12192000" y="-1239490"/>
            <a:ext cx="9592570" cy="9601688"/>
          </a:xfrm>
          <a:prstGeom prst="rect">
            <a:avLst/>
          </a:prstGeom>
        </p:spPr>
        <p:txBody>
          <a:bodyPr lIns="91439" tIns="45719" rIns="91439" bIns="45719" anchor="t">
            <a:noAutofit/>
          </a:bodyPr>
          <a:lstStyle/>
          <a:p>
            <a:endParaRPr/>
          </a:p>
        </p:txBody>
      </p:sp>
      <p:sp>
        <p:nvSpPr>
          <p:cNvPr id="95" name="Image"/>
          <p:cNvSpPr>
            <a:spLocks noGrp="1"/>
          </p:cNvSpPr>
          <p:nvPr>
            <p:ph type="pic" idx="23"/>
          </p:nvPr>
        </p:nvSpPr>
        <p:spPr>
          <a:xfrm>
            <a:off x="-523875" y="-160735"/>
            <a:ext cx="12912329" cy="14019610"/>
          </a:xfrm>
          <a:prstGeom prst="rect">
            <a:avLst/>
          </a:prstGeom>
        </p:spPr>
        <p:txBody>
          <a:bodyPr lIns="91439" tIns="45719" rIns="91439" bIns="45719" anchor="t">
            <a:noAutofit/>
          </a:bodyPr>
          <a:lstStyle/>
          <a:p>
            <a:endParaRPr/>
          </a:p>
        </p:txBody>
      </p:sp>
      <p:sp>
        <p:nvSpPr>
          <p:cNvPr id="9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03" name="–Johnny Appleseed"/>
          <p:cNvSpPr>
            <a:spLocks noGrp="1"/>
          </p:cNvSpPr>
          <p:nvPr>
            <p:ph type="body" sz="quarter" idx="21"/>
          </p:nvPr>
        </p:nvSpPr>
        <p:spPr>
          <a:xfrm>
            <a:off x="4833937" y="8945364"/>
            <a:ext cx="14716126" cy="736601"/>
          </a:xfrm>
          <a:prstGeom prst="rect">
            <a:avLst/>
          </a:prstGeom>
        </p:spPr>
        <p:txBody>
          <a:bodyPr>
            <a:spAutoFit/>
          </a:bodyPr>
          <a:lstStyle>
            <a:lvl1pPr marL="0" indent="0" algn="ctr">
              <a:spcBef>
                <a:spcPts val="0"/>
              </a:spcBef>
              <a:buClrTx/>
              <a:buSzTx/>
              <a:buNone/>
              <a:defRPr sz="3200" cap="all" spc="512">
                <a:solidFill>
                  <a:schemeClr val="accent2">
                    <a:satOff val="44164"/>
                    <a:lumOff val="14231"/>
                  </a:schemeClr>
                </a:solidFill>
              </a:defRPr>
            </a:lvl1pPr>
          </a:lstStyle>
          <a:p>
            <a:r>
              <a:t>–Johnny Appleseed</a:t>
            </a:r>
          </a:p>
        </p:txBody>
      </p:sp>
      <p:sp>
        <p:nvSpPr>
          <p:cNvPr id="104" name="“Type a quote here.”"/>
          <p:cNvSpPr>
            <a:spLocks noGrp="1"/>
          </p:cNvSpPr>
          <p:nvPr>
            <p:ph type="body" sz="quarter" idx="22"/>
          </p:nvPr>
        </p:nvSpPr>
        <p:spPr>
          <a:xfrm>
            <a:off x="4833937" y="5973960"/>
            <a:ext cx="14716126" cy="1017986"/>
          </a:xfrm>
          <a:prstGeom prst="rect">
            <a:avLst/>
          </a:prstGeom>
        </p:spPr>
        <p:txBody>
          <a:bodyPr>
            <a:spAutoFit/>
          </a:bodyPr>
          <a:lstStyle>
            <a:lvl1pPr marL="0" indent="0" algn="ctr">
              <a:spcBef>
                <a:spcPts val="0"/>
              </a:spcBef>
              <a:buClrTx/>
              <a:buSzTx/>
              <a:buNone/>
            </a:lvl1pPr>
          </a:lstStyle>
          <a:p>
            <a:r>
              <a:t>“Type a quote here.” </a:t>
            </a:r>
          </a:p>
        </p:txBody>
      </p:sp>
      <p:sp>
        <p:nvSpPr>
          <p:cNvPr id="10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hoto">
    <p:spTree>
      <p:nvGrpSpPr>
        <p:cNvPr id="1" name=""/>
        <p:cNvGrpSpPr/>
        <p:nvPr/>
      </p:nvGrpSpPr>
      <p:grpSpPr>
        <a:xfrm>
          <a:off x="0" y="0"/>
          <a:ext cx="0" cy="0"/>
          <a:chOff x="0" y="0"/>
          <a:chExt cx="0" cy="0"/>
        </a:xfrm>
      </p:grpSpPr>
      <p:sp>
        <p:nvSpPr>
          <p:cNvPr id="112" name="–Johnny Appleseed"/>
          <p:cNvSpPr>
            <a:spLocks noGrp="1"/>
          </p:cNvSpPr>
          <p:nvPr>
            <p:ph type="body" sz="quarter" idx="21"/>
          </p:nvPr>
        </p:nvSpPr>
        <p:spPr>
          <a:xfrm>
            <a:off x="4833937" y="4161234"/>
            <a:ext cx="14716126" cy="736601"/>
          </a:xfrm>
          <a:prstGeom prst="rect">
            <a:avLst/>
          </a:prstGeom>
        </p:spPr>
        <p:txBody>
          <a:bodyPr anchor="t">
            <a:spAutoFit/>
          </a:bodyPr>
          <a:lstStyle>
            <a:lvl1pPr marL="0" indent="0" algn="ctr">
              <a:spcBef>
                <a:spcPts val="0"/>
              </a:spcBef>
              <a:buClrTx/>
              <a:buSzTx/>
              <a:buNone/>
              <a:defRPr sz="3200" cap="all" spc="512">
                <a:solidFill>
                  <a:schemeClr val="accent2">
                    <a:satOff val="44164"/>
                    <a:lumOff val="14231"/>
                  </a:schemeClr>
                </a:solidFill>
              </a:defRPr>
            </a:lvl1pPr>
          </a:lstStyle>
          <a:p>
            <a:r>
              <a:t>–Johnny Appleseed</a:t>
            </a:r>
          </a:p>
        </p:txBody>
      </p:sp>
      <p:sp>
        <p:nvSpPr>
          <p:cNvPr id="113" name="“Type a quote here.”"/>
          <p:cNvSpPr>
            <a:spLocks noGrp="1"/>
          </p:cNvSpPr>
          <p:nvPr>
            <p:ph type="body" sz="quarter" idx="22"/>
          </p:nvPr>
        </p:nvSpPr>
        <p:spPr>
          <a:xfrm>
            <a:off x="4833937" y="1893093"/>
            <a:ext cx="14716126" cy="1017986"/>
          </a:xfrm>
          <a:prstGeom prst="rect">
            <a:avLst/>
          </a:prstGeom>
        </p:spPr>
        <p:txBody>
          <a:bodyPr>
            <a:spAutoFit/>
          </a:bodyPr>
          <a:lstStyle>
            <a:lvl1pPr marL="0" indent="0" algn="ctr">
              <a:spcBef>
                <a:spcPts val="0"/>
              </a:spcBef>
              <a:buClrTx/>
              <a:buSzTx/>
              <a:buNone/>
            </a:lvl1pPr>
          </a:lstStyle>
          <a:p>
            <a:r>
              <a:t>“Type a quote here.” </a:t>
            </a:r>
          </a:p>
        </p:txBody>
      </p:sp>
      <p:sp>
        <p:nvSpPr>
          <p:cNvPr id="114" name="Image"/>
          <p:cNvSpPr>
            <a:spLocks noGrp="1"/>
          </p:cNvSpPr>
          <p:nvPr>
            <p:ph type="pic" idx="23"/>
          </p:nvPr>
        </p:nvSpPr>
        <p:spPr>
          <a:xfrm>
            <a:off x="3048000" y="5021460"/>
            <a:ext cx="18461849" cy="10054829"/>
          </a:xfrm>
          <a:prstGeom prst="rect">
            <a:avLst/>
          </a:prstGeom>
        </p:spPr>
        <p:txBody>
          <a:bodyPr lIns="91439" tIns="45719" rIns="91439" bIns="45719" anchor="t">
            <a:noAutofit/>
          </a:bodyPr>
          <a:lstStyle/>
          <a:p>
            <a:endParaRPr/>
          </a:p>
        </p:txBody>
      </p:sp>
      <p:sp>
        <p:nvSpPr>
          <p:cNvPr id="1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22" name="Image"/>
          <p:cNvSpPr>
            <a:spLocks noGrp="1"/>
          </p:cNvSpPr>
          <p:nvPr>
            <p:ph type="pic" idx="21"/>
          </p:nvPr>
        </p:nvSpPr>
        <p:spPr>
          <a:xfrm>
            <a:off x="2212292" y="-35580"/>
            <a:ext cx="19942461" cy="13788788"/>
          </a:xfrm>
          <a:prstGeom prst="rect">
            <a:avLst/>
          </a:prstGeom>
        </p:spPr>
        <p:txBody>
          <a:bodyPr lIns="91439" tIns="45719" rIns="91439" bIns="45719" anchor="t">
            <a:noAutofit/>
          </a:bodyPr>
          <a:lstStyle/>
          <a:p>
            <a:endParaRPr/>
          </a:p>
        </p:txBody>
      </p:sp>
      <p:sp>
        <p:nvSpPr>
          <p:cNvPr id="1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30" name="Slide Number"/>
          <p:cNvSpPr txBox="1">
            <a:spLocks noGrp="1"/>
          </p:cNvSpPr>
          <p:nvPr>
            <p:ph type="sldNum" sz="quarter" idx="2"/>
          </p:nvPr>
        </p:nvSpPr>
        <p:spPr>
          <a:xfrm>
            <a:off x="3356129" y="13046378"/>
            <a:ext cx="472568" cy="561976"/>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37" name="Title Text"/>
          <p:cNvSpPr txBox="1">
            <a:spLocks noGrp="1"/>
          </p:cNvSpPr>
          <p:nvPr>
            <p:ph type="title"/>
          </p:nvPr>
        </p:nvSpPr>
        <p:spPr>
          <a:prstGeom prst="rect">
            <a:avLst/>
          </a:prstGeom>
        </p:spPr>
        <p:txBody>
          <a:bodyPr lIns="0" tIns="0" rIns="0" bIns="0"/>
          <a:lstStyle/>
          <a:p>
            <a:r>
              <a:t>Title Text</a:t>
            </a:r>
          </a:p>
        </p:txBody>
      </p:sp>
      <p:sp>
        <p:nvSpPr>
          <p:cNvPr id="138" name="Body Level One…"/>
          <p:cNvSpPr txBox="1">
            <a:spLocks noGrp="1"/>
          </p:cNvSpPr>
          <p:nvPr>
            <p:ph type="body" idx="1"/>
          </p:nvPr>
        </p:nvSpPr>
        <p:spPr>
          <a:prstGeom prst="rect">
            <a:avLst/>
          </a:prstGeom>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139" name="Slide Number"/>
          <p:cNvSpPr txBox="1">
            <a:spLocks noGrp="1"/>
          </p:cNvSpPr>
          <p:nvPr>
            <p:ph type="sldNum" sz="quarter" idx="2"/>
          </p:nvPr>
        </p:nvSpPr>
        <p:spPr>
          <a:xfrm>
            <a:off x="14020799" y="12712700"/>
            <a:ext cx="4267201" cy="736600"/>
          </a:xfrm>
          <a:prstGeom prst="rect">
            <a:avLst/>
          </a:prstGeom>
        </p:spPr>
        <p:txBody>
          <a:bodyPr lIns="0" tIns="0" rIns="0" bIns="0"/>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46" name="Title Text"/>
          <p:cNvSpPr txBox="1">
            <a:spLocks noGrp="1"/>
          </p:cNvSpPr>
          <p:nvPr>
            <p:ph type="title"/>
          </p:nvPr>
        </p:nvSpPr>
        <p:spPr>
          <a:prstGeom prst="rect">
            <a:avLst/>
          </a:prstGeom>
        </p:spPr>
        <p:txBody>
          <a:bodyPr/>
          <a:lstStyle>
            <a:lvl1pPr>
              <a:defRPr>
                <a:latin typeface="Arial"/>
                <a:ea typeface="Arial"/>
                <a:cs typeface="Arial"/>
                <a:sym typeface="Arial"/>
              </a:defRPr>
            </a:lvl1pPr>
          </a:lstStyle>
          <a:p>
            <a:r>
              <a:t>Title Text</a:t>
            </a:r>
          </a:p>
        </p:txBody>
      </p:sp>
      <p:sp>
        <p:nvSpPr>
          <p:cNvPr id="147" name="Body Level One…"/>
          <p:cNvSpPr txBox="1">
            <a:spLocks noGrp="1"/>
          </p:cNvSpPr>
          <p:nvPr>
            <p:ph type="body" idx="1"/>
          </p:nvPr>
        </p:nvSpPr>
        <p:spPr>
          <a:prstGeom prst="rect">
            <a:avLst/>
          </a:prstGeom>
        </p:spPr>
        <p:txBody>
          <a:bodyPr/>
          <a:lstStyle>
            <a:lvl1pPr marL="587375" indent="-587375">
              <a:defRPr>
                <a:latin typeface="Arial"/>
                <a:ea typeface="Arial"/>
                <a:cs typeface="Arial"/>
                <a:sym typeface="Arial"/>
              </a:defRPr>
            </a:lvl1pPr>
            <a:lvl2pPr marL="461433" indent="-423333">
              <a:defRPr>
                <a:latin typeface="Arial"/>
                <a:ea typeface="Arial"/>
                <a:cs typeface="Arial"/>
                <a:sym typeface="Arial"/>
              </a:defRPr>
            </a:lvl2pPr>
            <a:lvl3pPr>
              <a:defRPr>
                <a:latin typeface="Arial"/>
                <a:ea typeface="Arial"/>
                <a:cs typeface="Arial"/>
                <a:sym typeface="Arial"/>
              </a:defRPr>
            </a:lvl3pPr>
            <a:lvl4pPr>
              <a:defRPr>
                <a:latin typeface="Arial"/>
                <a:ea typeface="Arial"/>
                <a:cs typeface="Arial"/>
                <a:sym typeface="Arial"/>
              </a:defRPr>
            </a:lvl4pPr>
            <a:lvl5pPr>
              <a:defRPr>
                <a:latin typeface="Arial"/>
                <a:ea typeface="Arial"/>
                <a:cs typeface="Arial"/>
                <a:sym typeface="Arial"/>
              </a:defRPr>
            </a:lvl5pPr>
          </a:lstStyle>
          <a:p>
            <a:r>
              <a:t>Body Level One</a:t>
            </a:r>
          </a:p>
          <a:p>
            <a:pPr lvl="1"/>
            <a:r>
              <a:t>Body Level Two</a:t>
            </a:r>
          </a:p>
          <a:p>
            <a:pPr lvl="2"/>
            <a:r>
              <a:t>Body Level Three</a:t>
            </a:r>
          </a:p>
          <a:p>
            <a:pPr lvl="3"/>
            <a:r>
              <a:t>Body Level Four</a:t>
            </a:r>
          </a:p>
          <a:p>
            <a:pPr lvl="4"/>
            <a:r>
              <a:t>Body Level Five</a:t>
            </a:r>
          </a:p>
        </p:txBody>
      </p:sp>
      <p:sp>
        <p:nvSpPr>
          <p:cNvPr id="148" name="Slide Number"/>
          <p:cNvSpPr txBox="1">
            <a:spLocks noGrp="1"/>
          </p:cNvSpPr>
          <p:nvPr>
            <p:ph type="sldNum" sz="quarter" idx="2"/>
          </p:nvPr>
        </p:nvSpPr>
        <p:spPr>
          <a:xfrm>
            <a:off x="11924334" y="13019484"/>
            <a:ext cx="494606" cy="488504"/>
          </a:xfrm>
          <a:prstGeom prst="rect">
            <a:avLst/>
          </a:prstGeom>
        </p:spPr>
        <p:txBody>
          <a:bodyPr/>
          <a:lstStyle>
            <a:lvl1pPr>
              <a:defRPr>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976687" y="857250"/>
            <a:ext cx="16430626" cy="2000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ormAutofit/>
          </a:bodyPr>
          <a:lstStyle/>
          <a:p>
            <a:r>
              <a:t>Title Text</a:t>
            </a:r>
          </a:p>
        </p:txBody>
      </p:sp>
      <p:sp>
        <p:nvSpPr>
          <p:cNvPr id="3" name="Body Level One…"/>
          <p:cNvSpPr txBox="1">
            <a:spLocks noGrp="1"/>
          </p:cNvSpPr>
          <p:nvPr>
            <p:ph type="body" idx="1"/>
          </p:nvPr>
        </p:nvSpPr>
        <p:spPr>
          <a:xfrm>
            <a:off x="3976687" y="2839640"/>
            <a:ext cx="16430626" cy="9447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35353" y="13019484"/>
            <a:ext cx="472568" cy="561976"/>
          </a:xfrm>
          <a:prstGeom prst="rect">
            <a:avLst/>
          </a:prstGeom>
          <a:ln w="12700">
            <a:miter lim="400000"/>
          </a:ln>
        </p:spPr>
        <p:txBody>
          <a:bodyPr wrap="none" lIns="71437" tIns="71437" rIns="71437" bIns="71437">
            <a:spAutoFit/>
          </a:bodyPr>
          <a:lstStyle>
            <a:lvl1pPr>
              <a:defRPr sz="24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821531" rtl="0" latinLnBrk="0">
        <a:lnSpc>
          <a:spcPct val="100000"/>
        </a:lnSpc>
        <a:spcBef>
          <a:spcPts val="0"/>
        </a:spcBef>
        <a:spcAft>
          <a:spcPts val="0"/>
        </a:spcAft>
        <a:buClrTx/>
        <a:buSzTx/>
        <a:buFontTx/>
        <a:buNone/>
        <a:tabLst/>
        <a:defRPr sz="6200" b="0" i="0" u="none" strike="noStrike" cap="all" spc="992" baseline="0">
          <a:solidFill>
            <a:srgbClr val="FFFFFF"/>
          </a:solidFill>
          <a:uFillTx/>
          <a:latin typeface="+mn-lt"/>
          <a:ea typeface="+mn-ea"/>
          <a:cs typeface="+mn-cs"/>
          <a:sym typeface="Avenir Light"/>
        </a:defRPr>
      </a:lvl1pPr>
      <a:lvl2pPr marL="0" marR="0" indent="228600" algn="l" defTabSz="821531" rtl="0" latinLnBrk="0">
        <a:lnSpc>
          <a:spcPct val="100000"/>
        </a:lnSpc>
        <a:spcBef>
          <a:spcPts val="0"/>
        </a:spcBef>
        <a:spcAft>
          <a:spcPts val="0"/>
        </a:spcAft>
        <a:buClrTx/>
        <a:buSzTx/>
        <a:buFontTx/>
        <a:buNone/>
        <a:tabLst/>
        <a:defRPr sz="6200" b="0" i="0" u="none" strike="noStrike" cap="all" spc="992" baseline="0">
          <a:solidFill>
            <a:srgbClr val="FFFFFF"/>
          </a:solidFill>
          <a:uFillTx/>
          <a:latin typeface="+mn-lt"/>
          <a:ea typeface="+mn-ea"/>
          <a:cs typeface="+mn-cs"/>
          <a:sym typeface="Avenir Light"/>
        </a:defRPr>
      </a:lvl2pPr>
      <a:lvl3pPr marL="0" marR="0" indent="457200" algn="l" defTabSz="821531" rtl="0" latinLnBrk="0">
        <a:lnSpc>
          <a:spcPct val="100000"/>
        </a:lnSpc>
        <a:spcBef>
          <a:spcPts val="0"/>
        </a:spcBef>
        <a:spcAft>
          <a:spcPts val="0"/>
        </a:spcAft>
        <a:buClrTx/>
        <a:buSzTx/>
        <a:buFontTx/>
        <a:buNone/>
        <a:tabLst/>
        <a:defRPr sz="6200" b="0" i="0" u="none" strike="noStrike" cap="all" spc="992" baseline="0">
          <a:solidFill>
            <a:srgbClr val="FFFFFF"/>
          </a:solidFill>
          <a:uFillTx/>
          <a:latin typeface="+mn-lt"/>
          <a:ea typeface="+mn-ea"/>
          <a:cs typeface="+mn-cs"/>
          <a:sym typeface="Avenir Light"/>
        </a:defRPr>
      </a:lvl3pPr>
      <a:lvl4pPr marL="0" marR="0" indent="685800" algn="l" defTabSz="821531" rtl="0" latinLnBrk="0">
        <a:lnSpc>
          <a:spcPct val="100000"/>
        </a:lnSpc>
        <a:spcBef>
          <a:spcPts val="0"/>
        </a:spcBef>
        <a:spcAft>
          <a:spcPts val="0"/>
        </a:spcAft>
        <a:buClrTx/>
        <a:buSzTx/>
        <a:buFontTx/>
        <a:buNone/>
        <a:tabLst/>
        <a:defRPr sz="6200" b="0" i="0" u="none" strike="noStrike" cap="all" spc="992" baseline="0">
          <a:solidFill>
            <a:srgbClr val="FFFFFF"/>
          </a:solidFill>
          <a:uFillTx/>
          <a:latin typeface="+mn-lt"/>
          <a:ea typeface="+mn-ea"/>
          <a:cs typeface="+mn-cs"/>
          <a:sym typeface="Avenir Light"/>
        </a:defRPr>
      </a:lvl4pPr>
      <a:lvl5pPr marL="0" marR="0" indent="914400" algn="l" defTabSz="821531" rtl="0" latinLnBrk="0">
        <a:lnSpc>
          <a:spcPct val="100000"/>
        </a:lnSpc>
        <a:spcBef>
          <a:spcPts val="0"/>
        </a:spcBef>
        <a:spcAft>
          <a:spcPts val="0"/>
        </a:spcAft>
        <a:buClrTx/>
        <a:buSzTx/>
        <a:buFontTx/>
        <a:buNone/>
        <a:tabLst/>
        <a:defRPr sz="6200" b="0" i="0" u="none" strike="noStrike" cap="all" spc="992" baseline="0">
          <a:solidFill>
            <a:srgbClr val="FFFFFF"/>
          </a:solidFill>
          <a:uFillTx/>
          <a:latin typeface="+mn-lt"/>
          <a:ea typeface="+mn-ea"/>
          <a:cs typeface="+mn-cs"/>
          <a:sym typeface="Avenir Light"/>
        </a:defRPr>
      </a:lvl5pPr>
      <a:lvl6pPr marL="0" marR="0" indent="1143000" algn="l" defTabSz="821531" rtl="0" latinLnBrk="0">
        <a:lnSpc>
          <a:spcPct val="100000"/>
        </a:lnSpc>
        <a:spcBef>
          <a:spcPts val="0"/>
        </a:spcBef>
        <a:spcAft>
          <a:spcPts val="0"/>
        </a:spcAft>
        <a:buClrTx/>
        <a:buSzTx/>
        <a:buFontTx/>
        <a:buNone/>
        <a:tabLst/>
        <a:defRPr sz="6200" b="0" i="0" u="none" strike="noStrike" cap="all" spc="992" baseline="0">
          <a:solidFill>
            <a:srgbClr val="FFFFFF"/>
          </a:solidFill>
          <a:uFillTx/>
          <a:latin typeface="+mn-lt"/>
          <a:ea typeface="+mn-ea"/>
          <a:cs typeface="+mn-cs"/>
          <a:sym typeface="Avenir Light"/>
        </a:defRPr>
      </a:lvl6pPr>
      <a:lvl7pPr marL="0" marR="0" indent="1371600" algn="l" defTabSz="821531" rtl="0" latinLnBrk="0">
        <a:lnSpc>
          <a:spcPct val="100000"/>
        </a:lnSpc>
        <a:spcBef>
          <a:spcPts val="0"/>
        </a:spcBef>
        <a:spcAft>
          <a:spcPts val="0"/>
        </a:spcAft>
        <a:buClrTx/>
        <a:buSzTx/>
        <a:buFontTx/>
        <a:buNone/>
        <a:tabLst/>
        <a:defRPr sz="6200" b="0" i="0" u="none" strike="noStrike" cap="all" spc="992" baseline="0">
          <a:solidFill>
            <a:srgbClr val="FFFFFF"/>
          </a:solidFill>
          <a:uFillTx/>
          <a:latin typeface="+mn-lt"/>
          <a:ea typeface="+mn-ea"/>
          <a:cs typeface="+mn-cs"/>
          <a:sym typeface="Avenir Light"/>
        </a:defRPr>
      </a:lvl7pPr>
      <a:lvl8pPr marL="0" marR="0" indent="1600200" algn="l" defTabSz="821531" rtl="0" latinLnBrk="0">
        <a:lnSpc>
          <a:spcPct val="100000"/>
        </a:lnSpc>
        <a:spcBef>
          <a:spcPts val="0"/>
        </a:spcBef>
        <a:spcAft>
          <a:spcPts val="0"/>
        </a:spcAft>
        <a:buClrTx/>
        <a:buSzTx/>
        <a:buFontTx/>
        <a:buNone/>
        <a:tabLst/>
        <a:defRPr sz="6200" b="0" i="0" u="none" strike="noStrike" cap="all" spc="992" baseline="0">
          <a:solidFill>
            <a:srgbClr val="FFFFFF"/>
          </a:solidFill>
          <a:uFillTx/>
          <a:latin typeface="+mn-lt"/>
          <a:ea typeface="+mn-ea"/>
          <a:cs typeface="+mn-cs"/>
          <a:sym typeface="Avenir Light"/>
        </a:defRPr>
      </a:lvl8pPr>
      <a:lvl9pPr marL="0" marR="0" indent="1828800" algn="l" defTabSz="821531" rtl="0" latinLnBrk="0">
        <a:lnSpc>
          <a:spcPct val="100000"/>
        </a:lnSpc>
        <a:spcBef>
          <a:spcPts val="0"/>
        </a:spcBef>
        <a:spcAft>
          <a:spcPts val="0"/>
        </a:spcAft>
        <a:buClrTx/>
        <a:buSzTx/>
        <a:buFontTx/>
        <a:buNone/>
        <a:tabLst/>
        <a:defRPr sz="6200" b="0" i="0" u="none" strike="noStrike" cap="all" spc="992" baseline="0">
          <a:solidFill>
            <a:srgbClr val="FFFFFF"/>
          </a:solidFill>
          <a:uFillTx/>
          <a:latin typeface="+mn-lt"/>
          <a:ea typeface="+mn-ea"/>
          <a:cs typeface="+mn-cs"/>
          <a:sym typeface="Avenir Light"/>
        </a:defRPr>
      </a:lvl9pPr>
    </p:titleStyle>
    <p:bodyStyle>
      <a:lvl1pPr marL="652638" marR="0" indent="-652638" algn="l" defTabSz="821531" latinLnBrk="0">
        <a:lnSpc>
          <a:spcPct val="100000"/>
        </a:lnSpc>
        <a:spcBef>
          <a:spcPts val="5900"/>
        </a:spcBef>
        <a:spcAft>
          <a:spcPts val="0"/>
        </a:spcAft>
        <a:buClr>
          <a:srgbClr val="646464"/>
        </a:buClr>
        <a:buSzPct val="90000"/>
        <a:buFontTx/>
        <a:buChar char="•"/>
        <a:tabLst/>
        <a:defRPr sz="5000" b="0" i="0" u="none" strike="noStrike" cap="none" spc="0" baseline="0">
          <a:solidFill>
            <a:srgbClr val="FFFFFF"/>
          </a:solidFill>
          <a:uFillTx/>
          <a:latin typeface="+mn-lt"/>
          <a:ea typeface="+mn-ea"/>
          <a:cs typeface="+mn-cs"/>
          <a:sym typeface="Avenir Light"/>
        </a:defRPr>
      </a:lvl1pPr>
      <a:lvl2pPr marL="1122538" marR="0" indent="-652638" algn="l" defTabSz="821531" latinLnBrk="0">
        <a:lnSpc>
          <a:spcPct val="100000"/>
        </a:lnSpc>
        <a:spcBef>
          <a:spcPts val="5900"/>
        </a:spcBef>
        <a:spcAft>
          <a:spcPts val="0"/>
        </a:spcAft>
        <a:buClr>
          <a:srgbClr val="646464"/>
        </a:buClr>
        <a:buSzPct val="90000"/>
        <a:buFontTx/>
        <a:buChar char="•"/>
        <a:tabLst/>
        <a:defRPr sz="5000" b="0" i="0" u="none" strike="noStrike" cap="none" spc="0" baseline="0">
          <a:solidFill>
            <a:srgbClr val="FFFFFF"/>
          </a:solidFill>
          <a:uFillTx/>
          <a:latin typeface="+mn-lt"/>
          <a:ea typeface="+mn-ea"/>
          <a:cs typeface="+mn-cs"/>
          <a:sym typeface="Avenir Light"/>
        </a:defRPr>
      </a:lvl2pPr>
      <a:lvl3pPr marL="1592438" marR="0" indent="-652638" algn="l" defTabSz="821531" latinLnBrk="0">
        <a:lnSpc>
          <a:spcPct val="100000"/>
        </a:lnSpc>
        <a:spcBef>
          <a:spcPts val="5900"/>
        </a:spcBef>
        <a:spcAft>
          <a:spcPts val="0"/>
        </a:spcAft>
        <a:buClr>
          <a:srgbClr val="646464"/>
        </a:buClr>
        <a:buSzPct val="90000"/>
        <a:buFontTx/>
        <a:buChar char="•"/>
        <a:tabLst/>
        <a:defRPr sz="5000" b="0" i="0" u="none" strike="noStrike" cap="none" spc="0" baseline="0">
          <a:solidFill>
            <a:srgbClr val="FFFFFF"/>
          </a:solidFill>
          <a:uFillTx/>
          <a:latin typeface="+mn-lt"/>
          <a:ea typeface="+mn-ea"/>
          <a:cs typeface="+mn-cs"/>
          <a:sym typeface="Avenir Light"/>
        </a:defRPr>
      </a:lvl3pPr>
      <a:lvl4pPr marL="2062338" marR="0" indent="-652638" algn="l" defTabSz="821531" latinLnBrk="0">
        <a:lnSpc>
          <a:spcPct val="100000"/>
        </a:lnSpc>
        <a:spcBef>
          <a:spcPts val="5900"/>
        </a:spcBef>
        <a:spcAft>
          <a:spcPts val="0"/>
        </a:spcAft>
        <a:buClr>
          <a:srgbClr val="646464"/>
        </a:buClr>
        <a:buSzPct val="90000"/>
        <a:buFontTx/>
        <a:buChar char="•"/>
        <a:tabLst/>
        <a:defRPr sz="5000" b="0" i="0" u="none" strike="noStrike" cap="none" spc="0" baseline="0">
          <a:solidFill>
            <a:srgbClr val="FFFFFF"/>
          </a:solidFill>
          <a:uFillTx/>
          <a:latin typeface="+mn-lt"/>
          <a:ea typeface="+mn-ea"/>
          <a:cs typeface="+mn-cs"/>
          <a:sym typeface="Avenir Light"/>
        </a:defRPr>
      </a:lvl4pPr>
      <a:lvl5pPr marL="2532238" marR="0" indent="-652638" algn="l" defTabSz="821531" latinLnBrk="0">
        <a:lnSpc>
          <a:spcPct val="100000"/>
        </a:lnSpc>
        <a:spcBef>
          <a:spcPts val="5900"/>
        </a:spcBef>
        <a:spcAft>
          <a:spcPts val="0"/>
        </a:spcAft>
        <a:buClr>
          <a:srgbClr val="646464"/>
        </a:buClr>
        <a:buSzPct val="90000"/>
        <a:buFontTx/>
        <a:buChar char="•"/>
        <a:tabLst/>
        <a:defRPr sz="5000" b="0" i="0" u="none" strike="noStrike" cap="none" spc="0" baseline="0">
          <a:solidFill>
            <a:srgbClr val="FFFFFF"/>
          </a:solidFill>
          <a:uFillTx/>
          <a:latin typeface="+mn-lt"/>
          <a:ea typeface="+mn-ea"/>
          <a:cs typeface="+mn-cs"/>
          <a:sym typeface="Avenir Light"/>
        </a:defRPr>
      </a:lvl5pPr>
      <a:lvl6pPr marL="3002138" marR="0" indent="-652638" algn="l" defTabSz="821531" latinLnBrk="0">
        <a:lnSpc>
          <a:spcPct val="100000"/>
        </a:lnSpc>
        <a:spcBef>
          <a:spcPts val="5900"/>
        </a:spcBef>
        <a:spcAft>
          <a:spcPts val="0"/>
        </a:spcAft>
        <a:buClr>
          <a:srgbClr val="646464"/>
        </a:buClr>
        <a:buSzPct val="90000"/>
        <a:buFontTx/>
        <a:buChar char="•"/>
        <a:tabLst/>
        <a:defRPr sz="5000" b="0" i="0" u="none" strike="noStrike" cap="none" spc="0" baseline="0">
          <a:solidFill>
            <a:srgbClr val="FFFFFF"/>
          </a:solidFill>
          <a:uFillTx/>
          <a:latin typeface="+mn-lt"/>
          <a:ea typeface="+mn-ea"/>
          <a:cs typeface="+mn-cs"/>
          <a:sym typeface="Avenir Light"/>
        </a:defRPr>
      </a:lvl6pPr>
      <a:lvl7pPr marL="3472038" marR="0" indent="-652638" algn="l" defTabSz="821531" latinLnBrk="0">
        <a:lnSpc>
          <a:spcPct val="100000"/>
        </a:lnSpc>
        <a:spcBef>
          <a:spcPts val="5900"/>
        </a:spcBef>
        <a:spcAft>
          <a:spcPts val="0"/>
        </a:spcAft>
        <a:buClr>
          <a:srgbClr val="646464"/>
        </a:buClr>
        <a:buSzPct val="90000"/>
        <a:buFontTx/>
        <a:buChar char="•"/>
        <a:tabLst/>
        <a:defRPr sz="5000" b="0" i="0" u="none" strike="noStrike" cap="none" spc="0" baseline="0">
          <a:solidFill>
            <a:srgbClr val="FFFFFF"/>
          </a:solidFill>
          <a:uFillTx/>
          <a:latin typeface="+mn-lt"/>
          <a:ea typeface="+mn-ea"/>
          <a:cs typeface="+mn-cs"/>
          <a:sym typeface="Avenir Light"/>
        </a:defRPr>
      </a:lvl7pPr>
      <a:lvl8pPr marL="3941938" marR="0" indent="-652638" algn="l" defTabSz="821531" latinLnBrk="0">
        <a:lnSpc>
          <a:spcPct val="100000"/>
        </a:lnSpc>
        <a:spcBef>
          <a:spcPts val="5900"/>
        </a:spcBef>
        <a:spcAft>
          <a:spcPts val="0"/>
        </a:spcAft>
        <a:buClr>
          <a:srgbClr val="646464"/>
        </a:buClr>
        <a:buSzPct val="90000"/>
        <a:buFontTx/>
        <a:buChar char="•"/>
        <a:tabLst/>
        <a:defRPr sz="5000" b="0" i="0" u="none" strike="noStrike" cap="none" spc="0" baseline="0">
          <a:solidFill>
            <a:srgbClr val="FFFFFF"/>
          </a:solidFill>
          <a:uFillTx/>
          <a:latin typeface="+mn-lt"/>
          <a:ea typeface="+mn-ea"/>
          <a:cs typeface="+mn-cs"/>
          <a:sym typeface="Avenir Light"/>
        </a:defRPr>
      </a:lvl8pPr>
      <a:lvl9pPr marL="4411838" marR="0" indent="-652638" algn="l" defTabSz="821531" latinLnBrk="0">
        <a:lnSpc>
          <a:spcPct val="100000"/>
        </a:lnSpc>
        <a:spcBef>
          <a:spcPts val="5900"/>
        </a:spcBef>
        <a:spcAft>
          <a:spcPts val="0"/>
        </a:spcAft>
        <a:buClr>
          <a:srgbClr val="646464"/>
        </a:buClr>
        <a:buSzPct val="90000"/>
        <a:buFontTx/>
        <a:buChar char="•"/>
        <a:tabLst/>
        <a:defRPr sz="5000" b="0" i="0" u="none" strike="noStrike" cap="none" spc="0" baseline="0">
          <a:solidFill>
            <a:srgbClr val="FFFFFF"/>
          </a:solidFill>
          <a:uFillTx/>
          <a:latin typeface="+mn-lt"/>
          <a:ea typeface="+mn-ea"/>
          <a:cs typeface="+mn-cs"/>
          <a:sym typeface="Avenir Light"/>
        </a:defRPr>
      </a:lvl9pPr>
    </p:bodyStyle>
    <p:otherStyle>
      <a:lvl1pPr marL="0" marR="0" indent="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venir Light"/>
        </a:defRPr>
      </a:lvl1pPr>
      <a:lvl2pPr marL="0" marR="0" indent="2286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venir Light"/>
        </a:defRPr>
      </a:lvl2pPr>
      <a:lvl3pPr marL="0" marR="0" indent="4572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venir Light"/>
        </a:defRPr>
      </a:lvl3pPr>
      <a:lvl4pPr marL="0" marR="0" indent="6858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venir Light"/>
        </a:defRPr>
      </a:lvl4pPr>
      <a:lvl5pPr marL="0" marR="0" indent="9144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venir Light"/>
        </a:defRPr>
      </a:lvl5pPr>
      <a:lvl6pPr marL="0" marR="0" indent="11430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venir Light"/>
        </a:defRPr>
      </a:lvl6pPr>
      <a:lvl7pPr marL="0" marR="0" indent="13716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venir Light"/>
        </a:defRPr>
      </a:lvl7pPr>
      <a:lvl8pPr marL="0" marR="0" indent="16002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venir Light"/>
        </a:defRPr>
      </a:lvl8pPr>
      <a:lvl9pPr marL="0" marR="0" indent="18288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venir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png"/><Relationship Id="rId5" Type="http://schemas.openxmlformats.org/officeDocument/2006/relationships/hyperlink" Target="https://www.meetup.com/miami-java-user-group/"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hyperlink" Target="https://certification.scrumalliance.org/accounts/284037/certifications/345172" TargetMode="External"/><Relationship Id="rId13" Type="http://schemas.openxmlformats.org/officeDocument/2006/relationships/image" Target="../media/image6.png"/><Relationship Id="rId18" Type="http://schemas.openxmlformats.org/officeDocument/2006/relationships/hyperlink" Target="https://www.credly.com/badges/5f517260-2238-48c4-a5a6-0acfb773b1e4/" TargetMode="External"/><Relationship Id="rId3" Type="http://schemas.openxmlformats.org/officeDocument/2006/relationships/hyperlink" Target="https://www.linkedin.com/in/ealvarez" TargetMode="External"/><Relationship Id="rId21" Type="http://schemas.openxmlformats.org/officeDocument/2006/relationships/hyperlink" Target="https://www.meetup.com/miami-java-user-group/" TargetMode="External"/><Relationship Id="rId7" Type="http://schemas.openxmlformats.org/officeDocument/2006/relationships/image" Target="../media/image3.png"/><Relationship Id="rId12" Type="http://schemas.openxmlformats.org/officeDocument/2006/relationships/hyperlink" Target="https://www.credential.net/ce59587b-a64a-43f5-b6e6-3a6e9dc9c594#gs.95z8st" TargetMode="External"/><Relationship Id="rId17" Type="http://schemas.openxmlformats.org/officeDocument/2006/relationships/image" Target="../media/image8.png"/><Relationship Id="rId2" Type="http://schemas.openxmlformats.org/officeDocument/2006/relationships/notesSlide" Target="../notesSlides/notesSlide2.xml"/><Relationship Id="rId16" Type="http://schemas.openxmlformats.org/officeDocument/2006/relationships/hyperlink" Target="https://www.credly.com/badges/8cf71651-0e94-44b5-812e-24583b4390a9/" TargetMode="External"/><Relationship Id="rId20" Type="http://schemas.openxmlformats.org/officeDocument/2006/relationships/image" Target="../media/image10.jpeg"/><Relationship Id="rId1" Type="http://schemas.openxmlformats.org/officeDocument/2006/relationships/slideLayout" Target="../slideLayouts/slideLayout16.xml"/><Relationship Id="rId6" Type="http://schemas.openxmlformats.org/officeDocument/2006/relationships/hyperlink" Target="https://certification.scrumalliance.org/accounts/284037-eugenio-alvarez/certifications/306026-csm" TargetMode="Externa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10" Type="http://schemas.openxmlformats.org/officeDocument/2006/relationships/hyperlink" Target="http://www.linkedin.com/in/ealvarez" TargetMode="External"/><Relationship Id="rId19" Type="http://schemas.openxmlformats.org/officeDocument/2006/relationships/image" Target="../media/image9.png"/><Relationship Id="rId4" Type="http://schemas.openxmlformats.org/officeDocument/2006/relationships/hyperlink" Target="https://kanban.university/kuapps/#/user-profile/user/5399" TargetMode="External"/><Relationship Id="rId9" Type="http://schemas.openxmlformats.org/officeDocument/2006/relationships/image" Target="../media/image4.png"/><Relationship Id="rId14" Type="http://schemas.openxmlformats.org/officeDocument/2006/relationships/hyperlink" Target="https://www.credly.com/badges/b50c0da0-74af-4f92-b5df-2f179d250a27/" TargetMode="External"/><Relationship Id="rId22"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www.meetup.com/miami-java-user-group/" TargetMode="Externa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www.meetup.com/miami-java-user-group/"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hyperlink" Target="https://www.meetup.com/miami-java-user-group/"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hyperlink" Target="https://www.meetup.com/miami-java-user-group/"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hyperlink" Target="https://www.meetup.com/miami-java-user-group/" TargetMode="External"/><Relationship Id="rId4" Type="http://schemas.openxmlformats.org/officeDocument/2006/relationships/hyperlink" Target="https://greenlab.di.uminho.pt/wp-content/uploads/2017/10/sleFinal.pd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hyperlink" Target="https://www.meetup.com/miami-java-user-group/" TargetMode="Externa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hyperlink" Target="https://stackoverflow.blog/2024/03/04/in-rust-we-trust-white-house-office-urges-memory-safety/" TargetMode="External"/><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2.png"/><Relationship Id="rId4" Type="http://schemas.openxmlformats.org/officeDocument/2006/relationships/hyperlink" Target="https://media.defense.gov/2023/Dec/06/2003352724/-1/-1/0/The-Case-for-Memory-Safe-Roadmaps-TLP-clear.pd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12.png"/><Relationship Id="rId4" Type="http://schemas.openxmlformats.org/officeDocument/2006/relationships/hyperlink" Target="https://www.meetup.com/miami-java-user-group/"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hyperlink" Target="https://safecpp.org/draft.html" TargetMode="External"/><Relationship Id="rId7" Type="http://schemas.openxmlformats.org/officeDocument/2006/relationships/hyperlink" Target="https://www.meetup.com/miami-java-user-group/"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hyperlink" Target="https://security.googleblog.com/2024/11/retrofitting-spatial-safety-to-hundreds.html" TargetMode="External"/><Relationship Id="rId5" Type="http://schemas.openxmlformats.org/officeDocument/2006/relationships/hyperlink" Target="https://vimeo.com/1028578347" TargetMode="External"/><Relationship Id="rId4" Type="http://schemas.openxmlformats.org/officeDocument/2006/relationships/hyperlink" Target="https://github.com/pizlonator/llvm-project-deluge/blob/deluge/Manifesto.md" TargetMode="External"/><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hyperlink" Target="https://blog.rust-lang.org/2024/02/19/2023-Rust-Annual-Survey-2023-results.html" TargetMode="External"/><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hyperlink" Target="https://blog.rust-lang.org/2024/02/19/2023-Rust-Annual-Survey-2023-results.ht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hyperlink" Target="https://blog.rust-lang.org/2024/02/19/2023-Rust-Annual-Survey-2023-results.html"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hyperlink" Target="https://blog.scottlogic.com/2023/10/18/the-state-of-webassembly-2023.html" TargetMode="External"/><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hyperlink" Target="https://blog.scottlogic.com/2023/10/18/the-state-of-webassembly-2023.html"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8" Type="http://schemas.openxmlformats.org/officeDocument/2006/relationships/hyperlink" Target="https://www.meetup.com/miami-java-user-group/" TargetMode="External"/><Relationship Id="rId3" Type="http://schemas.openxmlformats.org/officeDocument/2006/relationships/hyperlink" Target="https://www.amazon.com/Rust-Programming-Language-2nd/dp/1718503105/" TargetMode="External"/><Relationship Id="rId7" Type="http://schemas.openxmlformats.org/officeDocument/2006/relationships/hyperlink" Target="https://www.amazon.com/Rust-for-Rustaceans/dp/1718501854/" TargetMode="External"/><Relationship Id="rId12" Type="http://schemas.openxmlformats.org/officeDocument/2006/relationships/image" Target="../media/image13.png"/><Relationship Id="rId2" Type="http://schemas.openxmlformats.org/officeDocument/2006/relationships/hyperlink" Target="https://doc.rust-lang.org/book/" TargetMode="External"/><Relationship Id="rId1" Type="http://schemas.openxmlformats.org/officeDocument/2006/relationships/slideLayout" Target="../slideLayouts/slideLayout7.xml"/><Relationship Id="rId6" Type="http://schemas.openxmlformats.org/officeDocument/2006/relationships/hyperlink" Target="https://play.rust-lang.org/" TargetMode="External"/><Relationship Id="rId11" Type="http://schemas.openxmlformats.org/officeDocument/2006/relationships/image" Target="../media/image12.png"/><Relationship Id="rId5" Type="http://schemas.openxmlformats.org/officeDocument/2006/relationships/hyperlink" Target="https://doc.rust-lang.org/rust-by-example/" TargetMode="External"/><Relationship Id="rId10" Type="http://schemas.openxmlformats.org/officeDocument/2006/relationships/image" Target="../media/image46.jpeg"/><Relationship Id="rId4" Type="http://schemas.openxmlformats.org/officeDocument/2006/relationships/hyperlink" Target="https://www.youtube.com/playlist?list=PLai5B987bZ9CoVR-QEIN9foz4QCJ0H2Y8" TargetMode="External"/><Relationship Id="rId9" Type="http://schemas.openxmlformats.org/officeDocument/2006/relationships/image" Target="../media/image45.jpeg"/></Relationships>
</file>

<file path=ppt/slides/_rels/slide3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7.jpeg"/><Relationship Id="rId7"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8.gif"/><Relationship Id="rId5" Type="http://schemas.openxmlformats.org/officeDocument/2006/relationships/hyperlink" Target="https://www.linkedin.com/in/ealvarez" TargetMode="External"/><Relationship Id="rId4" Type="http://schemas.openxmlformats.org/officeDocument/2006/relationships/hyperlink" Target="https://www.meetup.com/miami-java-user-group/" TargetMode="External"/></Relationships>
</file>

<file path=ppt/slides/_rels/slide39.xml.rels><?xml version="1.0" encoding="UTF-8" standalone="yes"?>
<Relationships xmlns="http://schemas.openxmlformats.org/package/2006/relationships"><Relationship Id="rId8" Type="http://schemas.openxmlformats.org/officeDocument/2006/relationships/hyperlink" Target="https://sites.google.com/view/energy-efficiency-languages/" TargetMode="External"/><Relationship Id="rId3" Type="http://schemas.openxmlformats.org/officeDocument/2006/relationships/image" Target="../media/image51.png"/><Relationship Id="rId7" Type="http://schemas.openxmlformats.org/officeDocument/2006/relationships/hyperlink" Target="https://doc.rust-lang.org/rustc/platform-support.html"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hyperlink" Target="https://llvm.org/" TargetMode="External"/><Relationship Id="rId5" Type="http://schemas.openxmlformats.org/officeDocument/2006/relationships/hyperlink" Target="https://www.technologyreview.com/2023/02/14/1067869/rust-worlds-fastest-growing-programming-language/" TargetMode="External"/><Relationship Id="rId10" Type="http://schemas.openxmlformats.org/officeDocument/2006/relationships/hyperlink" Target="https://www.meetup.com/miami-java-user-group/" TargetMode="External"/><Relationship Id="rId4" Type="http://schemas.openxmlformats.org/officeDocument/2006/relationships/hyperlink" Target="https://survey.stackoverflow.co/2024/technology#admired-and-desired" TargetMode="External"/><Relationship Id="rId9" Type="http://schemas.openxmlformats.org/officeDocument/2006/relationships/hyperlink" Target="https://www.youtube.com/watch?v=skH3Q90llss" TargetMode="External"/></Relationships>
</file>

<file path=ppt/slides/_rels/slide40.xml.rels><?xml version="1.0" encoding="UTF-8" standalone="yes"?>
<Relationships xmlns="http://schemas.openxmlformats.org/package/2006/relationships"><Relationship Id="rId8" Type="http://schemas.openxmlformats.org/officeDocument/2006/relationships/hyperlink" Target="https://security.googleblog.com/2024/09/eliminating-memory-safety-vulnerabilities-Android.html" TargetMode="External"/><Relationship Id="rId3" Type="http://schemas.openxmlformats.org/officeDocument/2006/relationships/image" Target="../media/image11.png"/><Relationship Id="rId7" Type="http://schemas.openxmlformats.org/officeDocument/2006/relationships/hyperlink" Target="https://media.defense.gov/2023/Dec/06/2003352724/-1/-1/0/The-Case-for-Memory-Safe-Roadmaps-TLP-clear.pdf"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hyperlink" Target="https://stackoverflow.blog/2024/03/04/in-rust-we-trust-white-house-office-urges-memory-safety/" TargetMode="External"/><Relationship Id="rId5" Type="http://schemas.openxmlformats.org/officeDocument/2006/relationships/hyperlink" Target="https://en.wikipedia.org/wiki/Rust_for_Linux" TargetMode="External"/><Relationship Id="rId4" Type="http://schemas.openxmlformats.org/officeDocument/2006/relationships/hyperlink" Target="https://www.thurrott.com/windows/windows-11/282995/first-rust-code-shows-up-in-the-windows-11-kernel" TargetMode="External"/><Relationship Id="rId9" Type="http://schemas.openxmlformats.org/officeDocument/2006/relationships/hyperlink" Target="https://www.meetup.com/miami-java-user-group/"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www.meetup.com/miami-java-user-group/" TargetMode="External"/><Relationship Id="rId3" Type="http://schemas.openxmlformats.org/officeDocument/2006/relationships/image" Target="../media/image44.png"/><Relationship Id="rId7" Type="http://schemas.openxmlformats.org/officeDocument/2006/relationships/hyperlink" Target="https://security.googleblog.com/2024/11/retrofitting-spatial-safety-to-hundreds.html"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hyperlink" Target="https://vimeo.com/1028578347" TargetMode="External"/><Relationship Id="rId5" Type="http://schemas.openxmlformats.org/officeDocument/2006/relationships/hyperlink" Target="https://github.com/pizlonator/llvm-project-deluge/blob/deluge/Manifesto.md" TargetMode="External"/><Relationship Id="rId4" Type="http://schemas.openxmlformats.org/officeDocument/2006/relationships/hyperlink" Target="https://safecpp.org/draft.html"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hyperlink" Target="https://www.meetup.com/miami-java-user-group/" TargetMode="External"/><Relationship Id="rId5" Type="http://schemas.openxmlformats.org/officeDocument/2006/relationships/hyperlink" Target="https://blog.rust-lang.org/2024/02/19/2023-Rust-Annual-Survey-2023-results.html" TargetMode="External"/><Relationship Id="rId4" Type="http://schemas.openxmlformats.org/officeDocument/2006/relationships/hyperlink" Target="https://www.jetbrains.com/lp/devecosystem-2023/rust/"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www.amazon.com/Rust-Rustaceans-Programming-Experienced-Developers/dp/1718501854/" TargetMode="External"/><Relationship Id="rId3" Type="http://schemas.openxmlformats.org/officeDocument/2006/relationships/image" Target="../media/image23.png"/><Relationship Id="rId7" Type="http://schemas.openxmlformats.org/officeDocument/2006/relationships/hyperlink" Target="https://play.rust-lang.org/"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doc.rust-lang.org/rust-by-example/" TargetMode="External"/><Relationship Id="rId5" Type="http://schemas.openxmlformats.org/officeDocument/2006/relationships/hyperlink" Target="https://www.youtube.com/playlist?list=PLai5B987bZ9CoVR-QEIN9foz4QCJ0H2Y8" TargetMode="External"/><Relationship Id="rId4" Type="http://schemas.openxmlformats.org/officeDocument/2006/relationships/hyperlink" Target="https://doc.rust-lang.org/book/" TargetMode="External"/><Relationship Id="rId9" Type="http://schemas.openxmlformats.org/officeDocument/2006/relationships/hyperlink" Target="https://www.meetup.com/miami-java-user-group/"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www.meetup.com/miami-java-user-group/"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hyperlink" Target="https://www.meetup.com/miami-java-user-group/"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Miami JVM Group (MJUG)…"/>
          <p:cNvSpPr txBox="1"/>
          <p:nvPr/>
        </p:nvSpPr>
        <p:spPr>
          <a:xfrm>
            <a:off x="5615681" y="11112896"/>
            <a:ext cx="13152639" cy="16985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p>
            <a:pPr>
              <a:defRPr>
                <a:latin typeface="Avenir Black"/>
                <a:ea typeface="Avenir Black"/>
                <a:cs typeface="Avenir Black"/>
                <a:sym typeface="Avenir Black"/>
              </a:defRPr>
            </a:pPr>
            <a:r>
              <a:rPr dirty="0"/>
              <a:t>Miami JVM Group (MJUG)</a:t>
            </a:r>
          </a:p>
          <a:p>
            <a:pPr>
              <a:defRPr sz="4500">
                <a:latin typeface="Avenir Medium"/>
                <a:ea typeface="Avenir Medium"/>
                <a:cs typeface="Avenir Medium"/>
                <a:sym typeface="Avenir Medium"/>
              </a:defRPr>
            </a:pPr>
            <a:r>
              <a:rPr u="sng" dirty="0">
                <a:solidFill>
                  <a:schemeClr val="tx1"/>
                </a:solidFill>
                <a:hlinkClick r:id="rId5">
                  <a:extLst>
                    <a:ext uri="{A12FA001-AC4F-418D-AE19-62706E023703}">
                      <ahyp:hlinkClr xmlns:ahyp="http://schemas.microsoft.com/office/drawing/2018/hyperlinkcolor" val="tx"/>
                    </a:ext>
                  </a:extLst>
                </a:hlinkClick>
              </a:rPr>
              <a:t>https://www.meetup.com/miami-java-user-group/</a:t>
            </a:r>
          </a:p>
        </p:txBody>
      </p:sp>
      <p:pic>
        <p:nvPicPr>
          <p:cNvPr id="158" name="Ferris-Duke-Island-17-animation-Meetup-1440x810-ezgif.com-webp-to-mp4-converter.mp4" descr="Ferris-Duke-Island-17-animation-Meetup-1440x810-ezgif.com-webp-to-mp4-converter.mp4"/>
          <p:cNvPicPr>
            <a:picLocks/>
          </p:cNvPicPr>
          <p:nvPr>
            <a:videoFile r:link="rId2"/>
            <p:extLst>
              <p:ext uri="{DAA4B4D4-6D71-4841-9C94-3DE7FCFB9230}">
                <p14:media xmlns:p14="http://schemas.microsoft.com/office/powerpoint/2010/main" r:embed="rId1"/>
              </p:ext>
            </p:extLst>
          </p:nvPr>
        </p:nvPicPr>
        <p:blipFill>
          <a:blip r:embed="rId6"/>
          <a:stretch>
            <a:fillRect/>
          </a:stretch>
        </p:blipFill>
        <p:spPr>
          <a:xfrm>
            <a:off x="3256429" y="467814"/>
            <a:ext cx="18288001" cy="10287001"/>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 fill="hold"/>
                                        <p:tgtEl>
                                          <p:spTgt spid="15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58"/>
                </p:tgtEl>
              </p:cMediaNode>
            </p:video>
            <p:seq concurrent="1" prevAc="none" nextAc="seek">
              <p:cTn id="8" restart="whenNotActive" fill="hold" evtFilter="cancelBubble" nodeType="interactiveSeq">
                <p:stCondLst>
                  <p:cond evt="onClick" delay="0">
                    <p:tgtEl>
                      <p:spTgt spid="15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58"/>
                                        </p:tgtEl>
                                      </p:cBhvr>
                                    </p:cmd>
                                  </p:childTnLst>
                                </p:cTn>
                              </p:par>
                            </p:childTnLst>
                          </p:cTn>
                        </p:par>
                      </p:childTnLst>
                    </p:cTn>
                  </p:par>
                </p:childTnLst>
              </p:cTn>
              <p:nextCondLst>
                <p:cond evt="onClick" delay="0">
                  <p:tgtEl>
                    <p:spTgt spid="158"/>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Eugenio Alvarez"/>
          <p:cNvSpPr txBox="1"/>
          <p:nvPr/>
        </p:nvSpPr>
        <p:spPr>
          <a:xfrm>
            <a:off x="3976687" y="609586"/>
            <a:ext cx="16430626" cy="13635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ormAutofit/>
          </a:bodyPr>
          <a:lstStyle>
            <a:lvl1pPr>
              <a:defRPr sz="7800" cap="all" spc="1248">
                <a:latin typeface="Freckle Face"/>
                <a:ea typeface="Freckle Face"/>
                <a:cs typeface="Freckle Face"/>
                <a:sym typeface="Freckle Face"/>
              </a:defRPr>
            </a:lvl1pPr>
          </a:lstStyle>
          <a:p>
            <a:r>
              <a:t>Eugenio Alvarez</a:t>
            </a:r>
          </a:p>
        </p:txBody>
      </p:sp>
      <p:sp>
        <p:nvSpPr>
          <p:cNvPr id="163" name="Eugenio Alvarez"/>
          <p:cNvSpPr txBox="1">
            <a:spLocks noGrp="1"/>
          </p:cNvSpPr>
          <p:nvPr>
            <p:ph type="title"/>
          </p:nvPr>
        </p:nvSpPr>
        <p:spPr>
          <a:xfrm>
            <a:off x="3976687" y="558786"/>
            <a:ext cx="16430626" cy="1363551"/>
          </a:xfrm>
          <a:prstGeom prst="rect">
            <a:avLst/>
          </a:prstGeom>
        </p:spPr>
        <p:txBody>
          <a:bodyPr/>
          <a:lstStyle>
            <a:lvl1pPr algn="ctr">
              <a:defRPr sz="7800" spc="1248">
                <a:solidFill>
                  <a:srgbClr val="FFA500"/>
                </a:solidFill>
                <a:latin typeface="Freckle Face"/>
                <a:ea typeface="Freckle Face"/>
                <a:cs typeface="Freckle Face"/>
                <a:sym typeface="Freckle Face"/>
              </a:defRPr>
            </a:lvl1pPr>
          </a:lstStyle>
          <a:p>
            <a:r>
              <a:t>Eugenio Alvarez</a:t>
            </a:r>
          </a:p>
        </p:txBody>
      </p:sp>
      <p:sp>
        <p:nvSpPr>
          <p:cNvPr id="164" name="A South Florida software engineering professional. Experienced in organizational design, software design, construction, and deployment.  Extensive knowledge of Java. Proponent of Unit testing.  An advocate for Agile Software Engineering methods using Kan"/>
          <p:cNvSpPr txBox="1"/>
          <p:nvPr/>
        </p:nvSpPr>
        <p:spPr>
          <a:xfrm>
            <a:off x="2616200" y="7645400"/>
            <a:ext cx="19621500" cy="32669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spAutoFit/>
          </a:bodyPr>
          <a:lstStyle>
            <a:lvl1pPr algn="l" defTabSz="642937">
              <a:lnSpc>
                <a:spcPct val="120000"/>
              </a:lnSpc>
              <a:defRPr sz="4600">
                <a:latin typeface="Arial"/>
                <a:ea typeface="Arial"/>
                <a:cs typeface="Arial"/>
                <a:sym typeface="Arial"/>
              </a:defRPr>
            </a:lvl1pPr>
          </a:lstStyle>
          <a:p>
            <a:r>
              <a:t>A South Florida software engineering professional. Experienced in organizational design, software design, construction, and deployment.  Extensive knowledge of Java. Proponent of Unit testing.  An advocate for Agile Software Engineering methods using Kanban and Scrum.</a:t>
            </a:r>
          </a:p>
        </p:txBody>
      </p:sp>
      <p:sp>
        <p:nvSpPr>
          <p:cNvPr id="165" name="Slide Number"/>
          <p:cNvSpPr txBox="1">
            <a:spLocks noGrp="1"/>
          </p:cNvSpPr>
          <p:nvPr>
            <p:ph type="sldNum" sz="quarter" idx="4294967295"/>
          </p:nvPr>
        </p:nvSpPr>
        <p:spPr>
          <a:xfrm>
            <a:off x="2826601" y="12982630"/>
            <a:ext cx="367470" cy="5622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3000">
                <a:latin typeface="Arial"/>
                <a:ea typeface="Arial"/>
                <a:cs typeface="Arial"/>
                <a:sym typeface="Arial"/>
              </a:defRPr>
            </a:lvl1pPr>
          </a:lstStyle>
          <a:p>
            <a:fld id="{86CB4B4D-7CA3-9044-876B-883B54F8677D}" type="slidenum">
              <a:t>2</a:t>
            </a:fld>
            <a:endParaRPr/>
          </a:p>
        </p:txBody>
      </p:sp>
      <p:sp>
        <p:nvSpPr>
          <p:cNvPr id="166" name="www.linkedin.com/in/ealvarez">
            <a:hlinkClick r:id="rId3"/>
          </p:cNvPr>
          <p:cNvSpPr txBox="1"/>
          <p:nvPr/>
        </p:nvSpPr>
        <p:spPr>
          <a:xfrm>
            <a:off x="8755162" y="11490776"/>
            <a:ext cx="6873677" cy="7598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defRPr sz="4000">
                <a:latin typeface="Arial"/>
                <a:ea typeface="Arial"/>
                <a:cs typeface="Arial"/>
                <a:sym typeface="Arial"/>
                <a:hlinkClick r:id="rId3"/>
              </a:defRPr>
            </a:lvl1pPr>
          </a:lstStyle>
          <a:p>
            <a:r>
              <a:rPr dirty="0">
                <a:solidFill>
                  <a:schemeClr val="tx1"/>
                </a:solidFill>
                <a:hlinkClick r:id="rId3">
                  <a:extLst>
                    <a:ext uri="{A12FA001-AC4F-418D-AE19-62706E023703}">
                      <ahyp:hlinkClr xmlns:ahyp="http://schemas.microsoft.com/office/drawing/2018/hyperlinkcolor" val="tx"/>
                    </a:ext>
                  </a:extLst>
                </a:hlinkClick>
              </a:rPr>
              <a:t>www.linkedin.com/in/ealvarez</a:t>
            </a:r>
          </a:p>
        </p:txBody>
      </p:sp>
      <p:sp>
        <p:nvSpPr>
          <p:cNvPr id="167" name="Rectangle"/>
          <p:cNvSpPr/>
          <p:nvPr/>
        </p:nvSpPr>
        <p:spPr>
          <a:xfrm>
            <a:off x="17152188" y="1972189"/>
            <a:ext cx="1232298" cy="1143001"/>
          </a:xfrm>
          <a:prstGeom prst="rect">
            <a:avLst/>
          </a:prstGeom>
          <a:solidFill>
            <a:srgbClr val="FFFFFF"/>
          </a:solidFill>
          <a:ln w="12700">
            <a:miter lim="400000"/>
          </a:ln>
        </p:spPr>
        <p:txBody>
          <a:bodyPr lIns="71437" tIns="71437" rIns="71437" bIns="71437" anchor="ctr"/>
          <a:lstStyle/>
          <a:p>
            <a:pPr>
              <a:defRPr sz="3200" b="1" cap="all" spc="512">
                <a:solidFill>
                  <a:schemeClr val="accent2">
                    <a:satOff val="44164"/>
                    <a:lumOff val="14231"/>
                  </a:schemeClr>
                </a:solidFill>
                <a:latin typeface="Arial"/>
                <a:ea typeface="Arial"/>
                <a:cs typeface="Arial"/>
                <a:sym typeface="Arial"/>
              </a:defRPr>
            </a:pPr>
            <a:endParaRPr/>
          </a:p>
        </p:txBody>
      </p:sp>
      <p:pic>
        <p:nvPicPr>
          <p:cNvPr id="168" name="lku-colors-vertical-box-blackfont-transpbg_0_0_0.png" descr="lku-colors-vertical-box-blackfont-transpbg_0_0_0.png">
            <a:hlinkClick r:id="rId4"/>
          </p:cNvPr>
          <p:cNvPicPr>
            <a:picLocks noChangeAspect="1"/>
          </p:cNvPicPr>
          <p:nvPr/>
        </p:nvPicPr>
        <p:blipFill>
          <a:blip r:embed="rId5"/>
          <a:stretch>
            <a:fillRect/>
          </a:stretch>
        </p:blipFill>
        <p:spPr>
          <a:xfrm>
            <a:off x="17163341" y="1963960"/>
            <a:ext cx="1232298" cy="1133714"/>
          </a:xfrm>
          <a:prstGeom prst="rect">
            <a:avLst/>
          </a:prstGeom>
          <a:ln w="12700">
            <a:miter lim="400000"/>
          </a:ln>
        </p:spPr>
      </p:pic>
      <p:pic>
        <p:nvPicPr>
          <p:cNvPr id="169" name="SCR20146-Seals-Final-CSM.png" descr="SCR20146-Seals-Final-CSM.png">
            <a:hlinkClick r:id="rId6"/>
          </p:cNvPr>
          <p:cNvPicPr>
            <a:picLocks noChangeAspect="1"/>
          </p:cNvPicPr>
          <p:nvPr/>
        </p:nvPicPr>
        <p:blipFill>
          <a:blip r:embed="rId7"/>
          <a:stretch>
            <a:fillRect/>
          </a:stretch>
        </p:blipFill>
        <p:spPr>
          <a:xfrm>
            <a:off x="15544800" y="2997659"/>
            <a:ext cx="1592687" cy="1592687"/>
          </a:xfrm>
          <a:prstGeom prst="rect">
            <a:avLst/>
          </a:prstGeom>
          <a:ln w="12700">
            <a:miter lim="400000"/>
          </a:ln>
        </p:spPr>
      </p:pic>
      <p:pic>
        <p:nvPicPr>
          <p:cNvPr id="170" name="SCR20146-Seals-Final-CSPO.png" descr="SCR20146-Seals-Final-CSPO.png">
            <a:hlinkClick r:id="rId8"/>
          </p:cNvPr>
          <p:cNvPicPr>
            <a:picLocks noChangeAspect="1"/>
          </p:cNvPicPr>
          <p:nvPr/>
        </p:nvPicPr>
        <p:blipFill>
          <a:blip r:embed="rId9"/>
          <a:stretch>
            <a:fillRect/>
          </a:stretch>
        </p:blipFill>
        <p:spPr>
          <a:xfrm>
            <a:off x="16981056" y="3010359"/>
            <a:ext cx="1592687" cy="1592687"/>
          </a:xfrm>
          <a:prstGeom prst="rect">
            <a:avLst/>
          </a:prstGeom>
          <a:ln w="12700">
            <a:miter lim="400000"/>
          </a:ln>
        </p:spPr>
      </p:pic>
      <p:pic>
        <p:nvPicPr>
          <p:cNvPr id="171" name="InBug-60px-R.png" descr="InBug-60px-R.png">
            <a:hlinkClick r:id="rId10"/>
          </p:cNvPr>
          <p:cNvPicPr>
            <a:picLocks noChangeAspect="1"/>
          </p:cNvPicPr>
          <p:nvPr/>
        </p:nvPicPr>
        <p:blipFill>
          <a:blip r:embed="rId11"/>
          <a:stretch>
            <a:fillRect/>
          </a:stretch>
        </p:blipFill>
        <p:spPr>
          <a:xfrm>
            <a:off x="15831404" y="1982475"/>
            <a:ext cx="1297931" cy="1096843"/>
          </a:xfrm>
          <a:prstGeom prst="rect">
            <a:avLst/>
          </a:prstGeom>
          <a:ln w="12700">
            <a:miter lim="400000"/>
          </a:ln>
        </p:spPr>
      </p:pic>
      <p:pic>
        <p:nvPicPr>
          <p:cNvPr id="172" name="AIPMM-CPM-102x102.png" descr="AIPMM-CPM-102x102.png">
            <a:hlinkClick r:id="rId12"/>
          </p:cNvPr>
          <p:cNvPicPr>
            <a:picLocks noChangeAspect="1"/>
          </p:cNvPicPr>
          <p:nvPr/>
        </p:nvPicPr>
        <p:blipFill>
          <a:blip r:embed="rId13"/>
          <a:stretch>
            <a:fillRect/>
          </a:stretch>
        </p:blipFill>
        <p:spPr>
          <a:xfrm>
            <a:off x="15718829" y="5888831"/>
            <a:ext cx="1295401" cy="1295401"/>
          </a:xfrm>
          <a:prstGeom prst="rect">
            <a:avLst/>
          </a:prstGeom>
          <a:ln w="25400">
            <a:miter lim="400000"/>
          </a:ln>
        </p:spPr>
      </p:pic>
      <p:pic>
        <p:nvPicPr>
          <p:cNvPr id="173" name="SAFe-Agilist-89x102.png" descr="SAFe-Agilist-89x102.png">
            <a:hlinkClick r:id="rId14"/>
          </p:cNvPr>
          <p:cNvPicPr>
            <a:picLocks noChangeAspect="1"/>
          </p:cNvPicPr>
          <p:nvPr/>
        </p:nvPicPr>
        <p:blipFill>
          <a:blip r:embed="rId15"/>
          <a:stretch>
            <a:fillRect/>
          </a:stretch>
        </p:blipFill>
        <p:spPr>
          <a:xfrm>
            <a:off x="15742735" y="4458890"/>
            <a:ext cx="1196789" cy="1371601"/>
          </a:xfrm>
          <a:prstGeom prst="rect">
            <a:avLst/>
          </a:prstGeom>
          <a:ln w="25400">
            <a:miter lim="400000"/>
          </a:ln>
        </p:spPr>
      </p:pic>
      <p:pic>
        <p:nvPicPr>
          <p:cNvPr id="174" name="AWS-ASS-RBG-92x102.png" descr="AWS-ASS-RBG-92x102.png">
            <a:hlinkClick r:id="rId16"/>
          </p:cNvPr>
          <p:cNvPicPr>
            <a:picLocks noChangeAspect="1"/>
          </p:cNvPicPr>
          <p:nvPr/>
        </p:nvPicPr>
        <p:blipFill>
          <a:blip r:embed="rId17"/>
          <a:stretch>
            <a:fillRect/>
          </a:stretch>
        </p:blipFill>
        <p:spPr>
          <a:xfrm>
            <a:off x="17171437" y="4496990"/>
            <a:ext cx="1168401" cy="1295401"/>
          </a:xfrm>
          <a:prstGeom prst="rect">
            <a:avLst/>
          </a:prstGeom>
          <a:ln w="25400">
            <a:miter lim="400000"/>
          </a:ln>
        </p:spPr>
      </p:pic>
      <p:pic>
        <p:nvPicPr>
          <p:cNvPr id="175" name="KCNA_badge-black-102x102.png" descr="KCNA_badge-black-102x102.png">
            <a:hlinkClick r:id="rId18"/>
          </p:cNvPr>
          <p:cNvPicPr>
            <a:picLocks noChangeAspect="1"/>
          </p:cNvPicPr>
          <p:nvPr/>
        </p:nvPicPr>
        <p:blipFill>
          <a:blip r:embed="rId19"/>
          <a:stretch>
            <a:fillRect/>
          </a:stretch>
        </p:blipFill>
        <p:spPr>
          <a:xfrm>
            <a:off x="17131789" y="5888831"/>
            <a:ext cx="1295401" cy="1295401"/>
          </a:xfrm>
          <a:prstGeom prst="rect">
            <a:avLst/>
          </a:prstGeom>
          <a:ln w="25400">
            <a:miter lim="400000"/>
          </a:ln>
        </p:spPr>
      </p:pic>
      <p:pic>
        <p:nvPicPr>
          <p:cNvPr id="176" name="2023-classroom-perspective-1269x505-30.jpg" descr="2023-classroom-perspective-1269x505-30.jpg"/>
          <p:cNvPicPr>
            <a:picLocks noChangeAspect="1"/>
          </p:cNvPicPr>
          <p:nvPr/>
        </p:nvPicPr>
        <p:blipFill>
          <a:blip r:embed="rId20"/>
          <a:stretch>
            <a:fillRect/>
          </a:stretch>
        </p:blipFill>
        <p:spPr>
          <a:xfrm>
            <a:off x="2517016" y="2006600"/>
            <a:ext cx="12765387" cy="5080000"/>
          </a:xfrm>
          <a:prstGeom prst="rect">
            <a:avLst/>
          </a:prstGeom>
          <a:ln w="25400">
            <a:miter lim="400000"/>
          </a:ln>
        </p:spPr>
      </p:pic>
      <p:sp>
        <p:nvSpPr>
          <p:cNvPr id="177"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1">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178" name="Duke-Wave-background-oval.png" descr="Duke-Wave-background-oval.png"/>
          <p:cNvPicPr>
            <a:picLocks noChangeAspect="1"/>
          </p:cNvPicPr>
          <p:nvPr/>
        </p:nvPicPr>
        <p:blipFill>
          <a:blip r:embed="rId22"/>
          <a:stretch>
            <a:fillRect/>
          </a:stretch>
        </p:blipFill>
        <p:spPr>
          <a:xfrm>
            <a:off x="18607720" y="1100351"/>
            <a:ext cx="4209943" cy="689249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 name="Rust_programming_language_white_logo.png" descr="Rust_programming_language_white_logo.png"/>
          <p:cNvPicPr>
            <a:picLocks noChangeAspect="1"/>
          </p:cNvPicPr>
          <p:nvPr/>
        </p:nvPicPr>
        <p:blipFill>
          <a:blip r:embed="rId3"/>
          <a:stretch>
            <a:fillRect/>
          </a:stretch>
        </p:blipFill>
        <p:spPr>
          <a:xfrm>
            <a:off x="857994" y="138516"/>
            <a:ext cx="2673630" cy="2673629"/>
          </a:xfrm>
          <a:prstGeom prst="rect">
            <a:avLst/>
          </a:prstGeom>
          <a:ln w="12700">
            <a:miter lim="400000"/>
          </a:ln>
        </p:spPr>
      </p:pic>
      <p:pic>
        <p:nvPicPr>
          <p:cNvPr id="183" name="Rust_programming_language_55d7ff_logo.png" descr="Rust_programming_language_55d7ff_logo.png"/>
          <p:cNvPicPr>
            <a:picLocks noChangeAspect="1"/>
          </p:cNvPicPr>
          <p:nvPr/>
        </p:nvPicPr>
        <p:blipFill>
          <a:blip r:embed="rId4"/>
          <a:stretch>
            <a:fillRect/>
          </a:stretch>
        </p:blipFill>
        <p:spPr>
          <a:xfrm>
            <a:off x="949314" y="229835"/>
            <a:ext cx="2490990" cy="2490990"/>
          </a:xfrm>
          <a:prstGeom prst="rect">
            <a:avLst/>
          </a:prstGeom>
          <a:ln w="12700">
            <a:miter lim="400000"/>
          </a:ln>
        </p:spPr>
      </p:pic>
      <p:sp>
        <p:nvSpPr>
          <p:cNvPr id="184" name="What IS this Video ABOUT"/>
          <p:cNvSpPr txBox="1">
            <a:spLocks noGrp="1"/>
          </p:cNvSpPr>
          <p:nvPr>
            <p:ph type="title"/>
          </p:nvPr>
        </p:nvSpPr>
        <p:spPr>
          <a:xfrm>
            <a:off x="3976687" y="85725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What IS this Video ABOUT</a:t>
            </a:r>
          </a:p>
        </p:txBody>
      </p:sp>
      <p:sp>
        <p:nvSpPr>
          <p:cNvPr id="185" name="Slide Number"/>
          <p:cNvSpPr txBox="1">
            <a:spLocks noGrp="1"/>
          </p:cNvSpPr>
          <p:nvPr>
            <p:ph type="sldNum" sz="quarter" idx="4294967295"/>
          </p:nvPr>
        </p:nvSpPr>
        <p:spPr>
          <a:xfrm>
            <a:off x="2826601" y="12982630"/>
            <a:ext cx="367470" cy="5622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3000">
                <a:latin typeface="Arial"/>
                <a:ea typeface="Arial"/>
                <a:cs typeface="Arial"/>
                <a:sym typeface="Arial"/>
              </a:defRPr>
            </a:lvl1pPr>
          </a:lstStyle>
          <a:p>
            <a:fld id="{86CB4B4D-7CA3-9044-876B-883B54F8677D}" type="slidenum">
              <a:t>3</a:t>
            </a:fld>
            <a:endParaRPr/>
          </a:p>
        </p:txBody>
      </p:sp>
      <p:sp>
        <p:nvSpPr>
          <p:cNvPr id="186"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5">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187" name="Source: 2024 Stack Overflow Developer Survey: https://survey.stackoverflow.co/2024/technology#admired-and-desired"/>
          <p:cNvSpPr txBox="1"/>
          <p:nvPr/>
        </p:nvSpPr>
        <p:spPr>
          <a:xfrm>
            <a:off x="2907728" y="11886167"/>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2024 Stack Overflow Developer Survey: https://survey.stackoverflow.co/2024/technology#admired-and-desired</a:t>
            </a:r>
          </a:p>
        </p:txBody>
      </p:sp>
      <p:sp>
        <p:nvSpPr>
          <p:cNvPr id="188" name="The Rust programming language has consistently topped Stack Overflow's annual Developer Survey as the &quot;most-admired programming language.&quot; We will discuss why Rust is so admired, compare it to Java, and investigate Rust use cases to understand how they r"/>
          <p:cNvSpPr txBox="1">
            <a:spLocks noGrp="1"/>
          </p:cNvSpPr>
          <p:nvPr>
            <p:ph type="body" idx="1"/>
          </p:nvPr>
        </p:nvSpPr>
        <p:spPr>
          <a:xfrm>
            <a:off x="2140225" y="2669120"/>
            <a:ext cx="20103550" cy="8657159"/>
          </a:xfrm>
          <a:prstGeom prst="rect">
            <a:avLst/>
          </a:prstGeom>
        </p:spPr>
        <p:txBody>
          <a:bodyPr anchor="t"/>
          <a:lstStyle/>
          <a:p>
            <a:pPr marL="657859" indent="-657859">
              <a:spcBef>
                <a:spcPts val="5200"/>
              </a:spcBef>
              <a:defRPr sz="5600">
                <a:latin typeface="Avenir Medium"/>
                <a:ea typeface="Avenir Medium"/>
                <a:cs typeface="Avenir Medium"/>
                <a:sym typeface="Avenir Medium"/>
              </a:defRPr>
            </a:pPr>
            <a:r>
              <a:t>The Rust programming language has consistently topped Stack Overflow's annual Developer Survey as the "most-admired programming language." We will discuss why Rust is so admired, compare it to Java, and investigate Rust use cases to understand how they relate.</a:t>
            </a:r>
          </a:p>
          <a:p>
            <a:pPr marL="657859" indent="-657859">
              <a:spcBef>
                <a:spcPts val="5200"/>
              </a:spcBef>
              <a:defRPr sz="5600">
                <a:latin typeface="Avenir Medium"/>
                <a:ea typeface="Avenir Medium"/>
                <a:cs typeface="Avenir Medium"/>
                <a:sym typeface="Avenir Medium"/>
              </a:defRPr>
            </a:pPr>
            <a:r>
              <a:t>The 2024 Stack Overflow Survey Results show that Rust is the most admired programming language, making it the most loved language since 2016.</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BRIEF Rust HISTORY"/>
          <p:cNvSpPr txBox="1">
            <a:spLocks noGrp="1"/>
          </p:cNvSpPr>
          <p:nvPr>
            <p:ph type="title"/>
          </p:nvPr>
        </p:nvSpPr>
        <p:spPr>
          <a:xfrm>
            <a:off x="3674590" y="5413001"/>
            <a:ext cx="17762867" cy="2469624"/>
          </a:xfrm>
          <a:prstGeom prst="rect">
            <a:avLst/>
          </a:prstGeom>
        </p:spPr>
        <p:txBody>
          <a:bodyPr>
            <a:normAutofit fontScale="90000"/>
          </a:bodyPr>
          <a:lstStyle>
            <a:lvl1pPr algn="ctr" defTabSz="788669">
              <a:defRPr sz="10752" spc="1720">
                <a:solidFill>
                  <a:schemeClr val="accent2">
                    <a:satOff val="44164"/>
                    <a:lumOff val="14231"/>
                  </a:schemeClr>
                </a:solidFill>
                <a:latin typeface="Avenir Heavy"/>
                <a:ea typeface="Avenir Heavy"/>
                <a:cs typeface="Avenir Heavy"/>
                <a:sym typeface="Avenir Heavy"/>
              </a:defRPr>
            </a:lvl1pPr>
          </a:lstStyle>
          <a:p>
            <a:r>
              <a:t>BRIEF Rust HISTORY</a:t>
            </a:r>
          </a:p>
        </p:txBody>
      </p:sp>
      <p:sp>
        <p:nvSpPr>
          <p:cNvPr id="193" name="Slide Number"/>
          <p:cNvSpPr txBox="1">
            <a:spLocks noGrp="1"/>
          </p:cNvSpPr>
          <p:nvPr>
            <p:ph type="sldNum" sz="quarter" idx="4294967295"/>
          </p:nvPr>
        </p:nvSpPr>
        <p:spPr>
          <a:xfrm>
            <a:off x="2853300" y="12982630"/>
            <a:ext cx="314072"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a:t>
            </a:fld>
            <a:endParaRPr/>
          </a:p>
        </p:txBody>
      </p:sp>
      <p:sp>
        <p:nvSpPr>
          <p:cNvPr id="194"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6" name="8715618508_84659c6981_w.jpg" descr="8715618508_84659c6981_w.jpg"/>
          <p:cNvPicPr>
            <a:picLocks noChangeAspect="1"/>
          </p:cNvPicPr>
          <p:nvPr/>
        </p:nvPicPr>
        <p:blipFill>
          <a:blip r:embed="rId3"/>
          <a:stretch>
            <a:fillRect/>
          </a:stretch>
        </p:blipFill>
        <p:spPr>
          <a:xfrm>
            <a:off x="18896637" y="3984119"/>
            <a:ext cx="5080001" cy="3390901"/>
          </a:xfrm>
          <a:prstGeom prst="rect">
            <a:avLst/>
          </a:prstGeom>
          <a:ln w="12700">
            <a:miter lim="400000"/>
          </a:ln>
        </p:spPr>
      </p:pic>
      <p:sp>
        <p:nvSpPr>
          <p:cNvPr id="197" name="Where did RuST Come From?"/>
          <p:cNvSpPr txBox="1">
            <a:spLocks noGrp="1"/>
          </p:cNvSpPr>
          <p:nvPr>
            <p:ph type="title"/>
          </p:nvPr>
        </p:nvSpPr>
        <p:spPr>
          <a:xfrm>
            <a:off x="3976687" y="85725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Where did RuST Come From?</a:t>
            </a:r>
          </a:p>
        </p:txBody>
      </p:sp>
      <p:sp>
        <p:nvSpPr>
          <p:cNvPr id="198" name="Hoare has stated that Rust was named for the group of fungi that are &quot;over-engineered for survival”[1]"/>
          <p:cNvSpPr txBox="1">
            <a:spLocks noGrp="1"/>
          </p:cNvSpPr>
          <p:nvPr>
            <p:ph type="body" sz="half" idx="1"/>
          </p:nvPr>
        </p:nvSpPr>
        <p:spPr>
          <a:xfrm>
            <a:off x="2140225" y="3386671"/>
            <a:ext cx="20103550" cy="4893373"/>
          </a:xfrm>
          <a:prstGeom prst="rect">
            <a:avLst/>
          </a:prstGeom>
        </p:spPr>
        <p:txBody>
          <a:bodyPr anchor="t"/>
          <a:lstStyle/>
          <a:p>
            <a:pPr marL="657859" indent="-657859">
              <a:spcBef>
                <a:spcPts val="5200"/>
              </a:spcBef>
              <a:defRPr sz="5600">
                <a:latin typeface="Avenir Medium"/>
                <a:ea typeface="Avenir Medium"/>
                <a:cs typeface="Avenir Medium"/>
                <a:sym typeface="Avenir Medium"/>
              </a:defRPr>
            </a:pPr>
            <a:endParaRPr/>
          </a:p>
          <a:p>
            <a:pPr marL="657859" indent="-657859">
              <a:spcBef>
                <a:spcPts val="5200"/>
              </a:spcBef>
              <a:defRPr sz="5600">
                <a:latin typeface="Avenir Medium"/>
                <a:ea typeface="Avenir Medium"/>
                <a:cs typeface="Avenir Medium"/>
                <a:sym typeface="Avenir Medium"/>
              </a:defRPr>
            </a:pPr>
            <a:r>
              <a:t>Hoare has stated that Rust was named for the group of fungi that are "over-engineered for survival”</a:t>
            </a:r>
            <a:r>
              <a:rPr sz="3400" baseline="31999"/>
              <a:t>[1]</a:t>
            </a:r>
          </a:p>
        </p:txBody>
      </p:sp>
      <p:sp>
        <p:nvSpPr>
          <p:cNvPr id="199" name="Slide Number"/>
          <p:cNvSpPr txBox="1">
            <a:spLocks noGrp="1"/>
          </p:cNvSpPr>
          <p:nvPr>
            <p:ph type="sldNum" sz="quarter" idx="4294967295"/>
          </p:nvPr>
        </p:nvSpPr>
        <p:spPr>
          <a:xfrm>
            <a:off x="2853300" y="12982630"/>
            <a:ext cx="314072"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a:t>
            </a:fld>
            <a:endParaRPr/>
          </a:p>
        </p:txBody>
      </p:sp>
      <p:sp>
        <p:nvSpPr>
          <p:cNvPr id="200"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4">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201" name="Source: [1]: https://www.technologyreview.com/2023/02/14/1067869/rust-worlds-fastest-growing-programming-language/"/>
          <p:cNvSpPr txBox="1"/>
          <p:nvPr/>
        </p:nvSpPr>
        <p:spPr>
          <a:xfrm>
            <a:off x="2907728" y="11886167"/>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[1]: https://www.technologyreview.com/2023/02/14/1067869/rust-worlds-fastest-growing-programming-language/</a:t>
            </a:r>
          </a:p>
        </p:txBody>
      </p:sp>
      <p:grpSp>
        <p:nvGrpSpPr>
          <p:cNvPr id="204" name="Group"/>
          <p:cNvGrpSpPr/>
          <p:nvPr/>
        </p:nvGrpSpPr>
        <p:grpSpPr>
          <a:xfrm>
            <a:off x="6133029" y="7886575"/>
            <a:ext cx="12465042" cy="2975099"/>
            <a:chOff x="0" y="0"/>
            <a:chExt cx="12465041" cy="2975097"/>
          </a:xfrm>
        </p:grpSpPr>
        <p:pic>
          <p:nvPicPr>
            <p:cNvPr id="202" name="Mozilla_logo.svg" descr="Mozilla_logo.svg"/>
            <p:cNvPicPr>
              <a:picLocks noChangeAspect="1"/>
            </p:cNvPicPr>
            <p:nvPr/>
          </p:nvPicPr>
          <p:blipFill>
            <a:blip r:embed="rId5"/>
            <a:stretch>
              <a:fillRect/>
            </a:stretch>
          </p:blipFill>
          <p:spPr>
            <a:xfrm>
              <a:off x="5500142" y="492562"/>
              <a:ext cx="6964900" cy="1989972"/>
            </a:xfrm>
            <a:prstGeom prst="rect">
              <a:avLst/>
            </a:prstGeom>
            <a:ln w="12700" cap="flat">
              <a:noFill/>
              <a:miter lim="400000"/>
            </a:ln>
            <a:effectLst/>
          </p:spPr>
        </p:pic>
        <p:pic>
          <p:nvPicPr>
            <p:cNvPr id="203" name="Mozilla_dinosaur_head_logo.png" descr="Mozilla_dinosaur_head_logo.png"/>
            <p:cNvPicPr>
              <a:picLocks noChangeAspect="1"/>
            </p:cNvPicPr>
            <p:nvPr/>
          </p:nvPicPr>
          <p:blipFill>
            <a:blip r:embed="rId6"/>
            <a:stretch>
              <a:fillRect/>
            </a:stretch>
          </p:blipFill>
          <p:spPr>
            <a:xfrm>
              <a:off x="0" y="0"/>
              <a:ext cx="4163215" cy="2975098"/>
            </a:xfrm>
            <a:prstGeom prst="rect">
              <a:avLst/>
            </a:prstGeom>
            <a:ln w="12700" cap="flat">
              <a:noFill/>
              <a:miter lim="400000"/>
            </a:ln>
            <a:effectLst/>
          </p:spPr>
        </p:pic>
      </p:grpSp>
      <p:sp>
        <p:nvSpPr>
          <p:cNvPr id="205" name="Created by Graydon Hoare as a personal project while working at Mozilla Research"/>
          <p:cNvSpPr txBox="1"/>
          <p:nvPr/>
        </p:nvSpPr>
        <p:spPr>
          <a:xfrm>
            <a:off x="2147608" y="2542773"/>
            <a:ext cx="19782005" cy="28701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ormAutofit/>
          </a:bodyPr>
          <a:lstStyle>
            <a:lvl1pPr marL="657859" indent="-657859" algn="l">
              <a:spcBef>
                <a:spcPts val="5200"/>
              </a:spcBef>
              <a:buClr>
                <a:srgbClr val="646464"/>
              </a:buClr>
              <a:buSzPct val="90000"/>
              <a:buChar char="•"/>
              <a:defRPr>
                <a:latin typeface="Avenir Medium"/>
                <a:ea typeface="Avenir Medium"/>
                <a:cs typeface="Avenir Medium"/>
                <a:sym typeface="Avenir Medium"/>
              </a:defRPr>
            </a:lvl1pPr>
          </a:lstStyle>
          <a:p>
            <a:r>
              <a:t>Created by Graydon Hoare as a personal project while working at Mozilla Research</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 name="LLVM_Diagram-Rust-2-2424x1034.png" descr="LLVM_Diagram-Rust-2-2424x1034.png"/>
          <p:cNvPicPr>
            <a:picLocks noChangeAspect="1"/>
          </p:cNvPicPr>
          <p:nvPr/>
        </p:nvPicPr>
        <p:blipFill>
          <a:blip r:embed="rId3"/>
          <a:stretch>
            <a:fillRect/>
          </a:stretch>
        </p:blipFill>
        <p:spPr>
          <a:xfrm>
            <a:off x="1336310" y="2440824"/>
            <a:ext cx="21011504" cy="9638819"/>
          </a:xfrm>
          <a:prstGeom prst="rect">
            <a:avLst/>
          </a:prstGeom>
          <a:ln w="12700">
            <a:miter lim="400000"/>
          </a:ln>
        </p:spPr>
      </p:pic>
      <p:sp>
        <p:nvSpPr>
          <p:cNvPr id="210" name="Rust Compiler Infrastructure"/>
          <p:cNvSpPr txBox="1">
            <a:spLocks noGrp="1"/>
          </p:cNvSpPr>
          <p:nvPr>
            <p:ph type="title"/>
          </p:nvPr>
        </p:nvSpPr>
        <p:spPr>
          <a:xfrm>
            <a:off x="2194094" y="571500"/>
            <a:ext cx="1929593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Rust Compiler Infrastructure </a:t>
            </a:r>
          </a:p>
        </p:txBody>
      </p:sp>
      <p:sp>
        <p:nvSpPr>
          <p:cNvPr id="211" name="Slide Number"/>
          <p:cNvSpPr txBox="1">
            <a:spLocks noGrp="1"/>
          </p:cNvSpPr>
          <p:nvPr>
            <p:ph type="sldNum" sz="quarter" idx="4294967295"/>
          </p:nvPr>
        </p:nvSpPr>
        <p:spPr>
          <a:xfrm>
            <a:off x="2853300" y="12982630"/>
            <a:ext cx="314072"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sp>
        <p:nvSpPr>
          <p:cNvPr id="212"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4">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213" name="LLVM_logo.png" descr="LLVM_logo.png"/>
          <p:cNvPicPr>
            <a:picLocks noChangeAspect="1"/>
          </p:cNvPicPr>
          <p:nvPr/>
        </p:nvPicPr>
        <p:blipFill>
          <a:blip r:embed="rId5"/>
          <a:stretch>
            <a:fillRect/>
          </a:stretch>
        </p:blipFill>
        <p:spPr>
          <a:xfrm>
            <a:off x="355941" y="477814"/>
            <a:ext cx="3371279" cy="2107050"/>
          </a:xfrm>
          <a:prstGeom prst="rect">
            <a:avLst/>
          </a:prstGeom>
          <a:ln w="12700">
            <a:miter lim="400000"/>
          </a:ln>
        </p:spPr>
      </p:pic>
      <p:sp>
        <p:nvSpPr>
          <p:cNvPr id="214" name="Source: LLVM Compiler Infrastructure : https://llvm.org/"/>
          <p:cNvSpPr txBox="1"/>
          <p:nvPr/>
        </p:nvSpPr>
        <p:spPr>
          <a:xfrm>
            <a:off x="2907728" y="11625483"/>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2600">
                <a:latin typeface="Helvetica"/>
                <a:ea typeface="Helvetica"/>
                <a:cs typeface="Helvetica"/>
                <a:sym typeface="Helvetica"/>
              </a:defRPr>
            </a:pPr>
            <a:r>
              <a:t>Source: </a:t>
            </a:r>
            <a:r>
              <a:rPr b="1"/>
              <a:t>LLVM</a:t>
            </a:r>
            <a:r>
              <a:t> Compiler Infrastructure : https://llvm.org/</a:t>
            </a:r>
          </a:p>
        </p:txBody>
      </p:sp>
      <p:sp>
        <p:nvSpPr>
          <p:cNvPr id="215" name="Source: Rustc Platform Support: https://doc.rust-lang.org/rustc/platform-support.html"/>
          <p:cNvSpPr txBox="1"/>
          <p:nvPr/>
        </p:nvSpPr>
        <p:spPr>
          <a:xfrm>
            <a:off x="2907728" y="12053272"/>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Rustc Platform Support: https://doc.rust-lang.org/rustc/platform-support.html</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Why is Rust so Admired?"/>
          <p:cNvSpPr txBox="1">
            <a:spLocks noGrp="1"/>
          </p:cNvSpPr>
          <p:nvPr>
            <p:ph type="title"/>
          </p:nvPr>
        </p:nvSpPr>
        <p:spPr>
          <a:xfrm>
            <a:off x="3674590" y="5413001"/>
            <a:ext cx="17762867" cy="2469624"/>
          </a:xfrm>
          <a:prstGeom prst="rect">
            <a:avLst/>
          </a:prstGeom>
        </p:spPr>
        <p:txBody>
          <a:bodyPr/>
          <a:lstStyle>
            <a:lvl1pPr algn="ctr" defTabSz="591502">
              <a:defRPr sz="8064" spc="1290">
                <a:solidFill>
                  <a:schemeClr val="accent2">
                    <a:satOff val="44164"/>
                    <a:lumOff val="14231"/>
                  </a:schemeClr>
                </a:solidFill>
                <a:latin typeface="Avenir Heavy"/>
                <a:ea typeface="Avenir Heavy"/>
                <a:cs typeface="Avenir Heavy"/>
                <a:sym typeface="Avenir Heavy"/>
              </a:defRPr>
            </a:lvl1pPr>
          </a:lstStyle>
          <a:p>
            <a:r>
              <a:t>Why is Rust so Admired?</a:t>
            </a:r>
          </a:p>
        </p:txBody>
      </p:sp>
      <p:sp>
        <p:nvSpPr>
          <p:cNvPr id="220" name="Slide Number"/>
          <p:cNvSpPr txBox="1">
            <a:spLocks noGrp="1"/>
          </p:cNvSpPr>
          <p:nvPr>
            <p:ph type="sldNum" sz="quarter" idx="4294967295"/>
          </p:nvPr>
        </p:nvSpPr>
        <p:spPr>
          <a:xfrm>
            <a:off x="2853300" y="12982630"/>
            <a:ext cx="314072"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7</a:t>
            </a:fld>
            <a:endParaRPr/>
          </a:p>
        </p:txBody>
      </p:sp>
      <p:sp>
        <p:nvSpPr>
          <p:cNvPr id="221"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222" name="SpongeBob-heart-eyes.png" descr="SpongeBob-heart-eyes.png"/>
          <p:cNvPicPr>
            <a:picLocks noChangeAspect="1"/>
          </p:cNvPicPr>
          <p:nvPr/>
        </p:nvPicPr>
        <p:blipFill>
          <a:blip r:embed="rId3"/>
          <a:stretch>
            <a:fillRect/>
          </a:stretch>
        </p:blipFill>
        <p:spPr>
          <a:xfrm>
            <a:off x="681780" y="812971"/>
            <a:ext cx="5472139" cy="4283206"/>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 name="Rust_programming_language_white_logo.png" descr="Rust_programming_language_white_logo.png"/>
          <p:cNvPicPr>
            <a:picLocks noChangeAspect="1"/>
          </p:cNvPicPr>
          <p:nvPr/>
        </p:nvPicPr>
        <p:blipFill>
          <a:blip r:embed="rId2"/>
          <a:stretch>
            <a:fillRect/>
          </a:stretch>
        </p:blipFill>
        <p:spPr>
          <a:xfrm>
            <a:off x="857994" y="138516"/>
            <a:ext cx="2673630" cy="2673629"/>
          </a:xfrm>
          <a:prstGeom prst="rect">
            <a:avLst/>
          </a:prstGeom>
          <a:ln w="12700">
            <a:miter lim="400000"/>
          </a:ln>
        </p:spPr>
      </p:pic>
      <p:sp>
        <p:nvSpPr>
          <p:cNvPr id="225" name="Why all the LOVE"/>
          <p:cNvSpPr txBox="1">
            <a:spLocks noGrp="1"/>
          </p:cNvSpPr>
          <p:nvPr>
            <p:ph type="title"/>
          </p:nvPr>
        </p:nvSpPr>
        <p:spPr>
          <a:xfrm>
            <a:off x="3976687" y="576651"/>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Why all the LOVE</a:t>
            </a:r>
          </a:p>
        </p:txBody>
      </p:sp>
      <p:sp>
        <p:nvSpPr>
          <p:cNvPr id="226" name="Rust is generally considered the first widely adopted language to achieve memory safety without relying on a garbage collector with comparable performance and memory usage to C and C++.…"/>
          <p:cNvSpPr txBox="1">
            <a:spLocks noGrp="1"/>
          </p:cNvSpPr>
          <p:nvPr>
            <p:ph type="body" idx="1"/>
          </p:nvPr>
        </p:nvSpPr>
        <p:spPr>
          <a:xfrm>
            <a:off x="2006038" y="2529421"/>
            <a:ext cx="20371924" cy="8657158"/>
          </a:xfrm>
          <a:prstGeom prst="rect">
            <a:avLst/>
          </a:prstGeom>
        </p:spPr>
        <p:txBody>
          <a:bodyPr anchor="t"/>
          <a:lstStyle/>
          <a:p>
            <a:pPr marL="657859" indent="-657859">
              <a:spcBef>
                <a:spcPts val="4300"/>
              </a:spcBef>
              <a:defRPr sz="5600">
                <a:latin typeface="Avenir Medium"/>
                <a:ea typeface="Avenir Medium"/>
                <a:cs typeface="Avenir Medium"/>
                <a:sym typeface="Avenir Medium"/>
              </a:defRPr>
            </a:pPr>
            <a:r>
              <a:t>Rust is generally considered the first widely adopted language to achieve memory safety without relying on a garbage collector with comparable performance and memory usage to C and C++.</a:t>
            </a:r>
          </a:p>
          <a:p>
            <a:pPr marL="657859" indent="-657859">
              <a:spcBef>
                <a:spcPts val="4300"/>
              </a:spcBef>
              <a:defRPr sz="5600">
                <a:latin typeface="Avenir Medium"/>
                <a:ea typeface="Avenir Medium"/>
                <a:cs typeface="Avenir Medium"/>
                <a:sym typeface="Avenir Medium"/>
              </a:defRPr>
            </a:pPr>
            <a:r>
              <a:t>How is memory safety achieved without garbage collection?</a:t>
            </a:r>
          </a:p>
          <a:p>
            <a:pPr marL="1597660" lvl="2" indent="-657860">
              <a:spcBef>
                <a:spcPts val="4300"/>
              </a:spcBef>
              <a:defRPr sz="5600">
                <a:latin typeface="Avenir Medium"/>
                <a:ea typeface="Avenir Medium"/>
                <a:cs typeface="Avenir Medium"/>
                <a:sym typeface="Avenir Medium"/>
              </a:defRPr>
            </a:pPr>
            <a:r>
              <a:t>Rust’s ownership system and borrow checker</a:t>
            </a:r>
          </a:p>
          <a:p>
            <a:pPr marL="1600200" lvl="2" indent="-660400">
              <a:spcBef>
                <a:spcPts val="4300"/>
              </a:spcBef>
              <a:defRPr sz="5600">
                <a:latin typeface="Avenir Medium"/>
                <a:ea typeface="Avenir Medium"/>
                <a:cs typeface="Avenir Medium"/>
                <a:sym typeface="Avenir Medium"/>
              </a:defRPr>
            </a:pPr>
            <a:r>
              <a:t>Checks at compile time: “If it compiles, it works!”</a:t>
            </a:r>
          </a:p>
        </p:txBody>
      </p:sp>
      <p:sp>
        <p:nvSpPr>
          <p:cNvPr id="227" name="Slide Number"/>
          <p:cNvSpPr txBox="1">
            <a:spLocks noGrp="1"/>
          </p:cNvSpPr>
          <p:nvPr>
            <p:ph type="sldNum" sz="quarter" idx="4294967295"/>
          </p:nvPr>
        </p:nvSpPr>
        <p:spPr>
          <a:xfrm>
            <a:off x="2853300" y="12982630"/>
            <a:ext cx="314072"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8</a:t>
            </a:fld>
            <a:endParaRPr/>
          </a:p>
        </p:txBody>
      </p:sp>
      <p:sp>
        <p:nvSpPr>
          <p:cNvPr id="228"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229" name="Source: 2024 Stack Overflow Developer Survey: https://survey.stackoverflow.co/2024/technology#admired-and-desired"/>
          <p:cNvSpPr txBox="1"/>
          <p:nvPr/>
        </p:nvSpPr>
        <p:spPr>
          <a:xfrm>
            <a:off x="2907728" y="11886167"/>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2024 Stack Overflow Developer Survey: https://survey.stackoverflow.co/2024/technology#admired-and-desired</a:t>
            </a:r>
          </a:p>
        </p:txBody>
      </p:sp>
      <p:pic>
        <p:nvPicPr>
          <p:cNvPr id="230" name="Rust_programming_language_55d7ff_logo.png" descr="Rust_programming_language_55d7ff_logo.png"/>
          <p:cNvPicPr>
            <a:picLocks noChangeAspect="1"/>
          </p:cNvPicPr>
          <p:nvPr/>
        </p:nvPicPr>
        <p:blipFill>
          <a:blip r:embed="rId4"/>
          <a:stretch>
            <a:fillRect/>
          </a:stretch>
        </p:blipFill>
        <p:spPr>
          <a:xfrm>
            <a:off x="949314" y="229835"/>
            <a:ext cx="2490990" cy="249099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2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2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2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2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2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1" build="p" bldLvl="5"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 name="Rust_programming_language_white_logo.png" descr="Rust_programming_language_white_logo.png"/>
          <p:cNvPicPr>
            <a:picLocks noChangeAspect="1"/>
          </p:cNvPicPr>
          <p:nvPr/>
        </p:nvPicPr>
        <p:blipFill>
          <a:blip r:embed="rId3"/>
          <a:stretch>
            <a:fillRect/>
          </a:stretch>
        </p:blipFill>
        <p:spPr>
          <a:xfrm>
            <a:off x="857994" y="138516"/>
            <a:ext cx="2673630" cy="2673629"/>
          </a:xfrm>
          <a:prstGeom prst="rect">
            <a:avLst/>
          </a:prstGeom>
          <a:ln w="12700">
            <a:miter lim="400000"/>
          </a:ln>
        </p:spPr>
      </p:pic>
      <p:sp>
        <p:nvSpPr>
          <p:cNvPr id="233" name="Why all the LOVE (partie deux)"/>
          <p:cNvSpPr txBox="1">
            <a:spLocks noGrp="1"/>
          </p:cNvSpPr>
          <p:nvPr>
            <p:ph type="title"/>
          </p:nvPr>
        </p:nvSpPr>
        <p:spPr>
          <a:xfrm>
            <a:off x="3976687" y="85725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Why all the LOVE (partie deux)</a:t>
            </a:r>
          </a:p>
        </p:txBody>
      </p:sp>
      <p:sp>
        <p:nvSpPr>
          <p:cNvPr id="234" name="High-performance concurrency, aka “Concurrency without fear” is achieved with the ownership model and borrow checker at compile time.…"/>
          <p:cNvSpPr txBox="1">
            <a:spLocks noGrp="1"/>
          </p:cNvSpPr>
          <p:nvPr>
            <p:ph type="body" idx="1"/>
          </p:nvPr>
        </p:nvSpPr>
        <p:spPr>
          <a:xfrm>
            <a:off x="2140225" y="2669120"/>
            <a:ext cx="20103550" cy="8657159"/>
          </a:xfrm>
          <a:prstGeom prst="rect">
            <a:avLst/>
          </a:prstGeom>
        </p:spPr>
        <p:txBody>
          <a:bodyPr anchor="t"/>
          <a:lstStyle/>
          <a:p>
            <a:pPr marL="657859" indent="-657859">
              <a:spcBef>
                <a:spcPts val="5200"/>
              </a:spcBef>
              <a:defRPr sz="5600">
                <a:latin typeface="Avenir Medium"/>
                <a:ea typeface="Avenir Medium"/>
                <a:cs typeface="Avenir Medium"/>
                <a:sym typeface="Avenir Medium"/>
              </a:defRPr>
            </a:pPr>
            <a:r>
              <a:t>High-performance concurrency, aka “Concurrency without fear” is achieved with the ownership model and borrow checker at compile time.</a:t>
            </a:r>
          </a:p>
          <a:p>
            <a:pPr marL="657859" indent="-657859">
              <a:spcBef>
                <a:spcPts val="5200"/>
              </a:spcBef>
              <a:defRPr sz="5600">
                <a:latin typeface="Avenir Medium"/>
                <a:ea typeface="Avenir Medium"/>
                <a:cs typeface="Avenir Medium"/>
                <a:sym typeface="Avenir Medium"/>
              </a:defRPr>
            </a:pPr>
            <a:r>
              <a:t>Zero-cost abstraction language features enable high-level code without incurring runtime overhead. </a:t>
            </a:r>
          </a:p>
          <a:p>
            <a:pPr marL="657859" indent="-657859">
              <a:spcBef>
                <a:spcPts val="5200"/>
              </a:spcBef>
              <a:defRPr sz="5600">
                <a:latin typeface="Avenir Medium"/>
                <a:ea typeface="Avenir Medium"/>
                <a:cs typeface="Avenir Medium"/>
                <a:sym typeface="Avenir Medium"/>
              </a:defRPr>
            </a:pPr>
            <a:r>
              <a:t>Developer centered design like compiler error messages</a:t>
            </a:r>
          </a:p>
        </p:txBody>
      </p:sp>
      <p:sp>
        <p:nvSpPr>
          <p:cNvPr id="235" name="Slide Number"/>
          <p:cNvSpPr txBox="1">
            <a:spLocks noGrp="1"/>
          </p:cNvSpPr>
          <p:nvPr>
            <p:ph type="sldNum" sz="quarter" idx="4294967295"/>
          </p:nvPr>
        </p:nvSpPr>
        <p:spPr>
          <a:xfrm>
            <a:off x="2853300" y="12982630"/>
            <a:ext cx="314072"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9</a:t>
            </a:fld>
            <a:endParaRPr/>
          </a:p>
        </p:txBody>
      </p:sp>
      <p:sp>
        <p:nvSpPr>
          <p:cNvPr id="236"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4">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237" name="Source: 2024 Stack Overflow Developer Survey: https://survey.stackoverflow.co/2024/technology#admired-and-desired"/>
          <p:cNvSpPr txBox="1"/>
          <p:nvPr/>
        </p:nvSpPr>
        <p:spPr>
          <a:xfrm>
            <a:off x="2907728" y="11886167"/>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2024 Stack Overflow Developer Survey: https://survey.stackoverflow.co/2024/technology#admired-and-desired</a:t>
            </a:r>
          </a:p>
        </p:txBody>
      </p:sp>
      <p:pic>
        <p:nvPicPr>
          <p:cNvPr id="238" name="Rust_programming_language_55d7ff_logo.png" descr="Rust_programming_language_55d7ff_logo.png"/>
          <p:cNvPicPr>
            <a:picLocks noChangeAspect="1"/>
          </p:cNvPicPr>
          <p:nvPr/>
        </p:nvPicPr>
        <p:blipFill>
          <a:blip r:embed="rId5"/>
          <a:stretch>
            <a:fillRect/>
          </a:stretch>
        </p:blipFill>
        <p:spPr>
          <a:xfrm>
            <a:off x="949314" y="229835"/>
            <a:ext cx="2490990" cy="249099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3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3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3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3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2" nodeType="clickEffect">
                                  <p:stCondLst>
                                    <p:cond delay="0"/>
                                  </p:stCondLst>
                                  <p:iterate>
                                    <p:tmAbs val="0"/>
                                  </p:iterate>
                                  <p:childTnLst>
                                    <p:set>
                                      <p:cBhvr>
                                        <p:cTn id="20" fill="hold"/>
                                        <p:tgtEl>
                                          <p:spTgt spid="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1" build="p" bldLvl="5" animBg="1" advAuto="0"/>
      <p:bldP spid="237" grpId="2"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2" name="Rust_programming_language_white_logo.png" descr="Rust_programming_language_white_logo.png"/>
          <p:cNvPicPr>
            <a:picLocks noChangeAspect="1"/>
          </p:cNvPicPr>
          <p:nvPr/>
        </p:nvPicPr>
        <p:blipFill>
          <a:blip r:embed="rId2"/>
          <a:stretch>
            <a:fillRect/>
          </a:stretch>
        </p:blipFill>
        <p:spPr>
          <a:xfrm>
            <a:off x="857994" y="138516"/>
            <a:ext cx="2673630" cy="2673629"/>
          </a:xfrm>
          <a:prstGeom prst="rect">
            <a:avLst/>
          </a:prstGeom>
          <a:ln w="12700">
            <a:miter lim="400000"/>
          </a:ln>
        </p:spPr>
      </p:pic>
      <p:pic>
        <p:nvPicPr>
          <p:cNvPr id="243" name="Rust_programming_language_55d7ff_logo.png" descr="Rust_programming_language_55d7ff_logo.png"/>
          <p:cNvPicPr>
            <a:picLocks noChangeAspect="1"/>
          </p:cNvPicPr>
          <p:nvPr/>
        </p:nvPicPr>
        <p:blipFill>
          <a:blip r:embed="rId3"/>
          <a:stretch>
            <a:fillRect/>
          </a:stretch>
        </p:blipFill>
        <p:spPr>
          <a:xfrm>
            <a:off x="949314" y="229835"/>
            <a:ext cx="2490990" cy="2490990"/>
          </a:xfrm>
          <a:prstGeom prst="rect">
            <a:avLst/>
          </a:prstGeom>
          <a:ln w="12700">
            <a:miter lim="400000"/>
          </a:ln>
        </p:spPr>
      </p:pic>
      <p:sp>
        <p:nvSpPr>
          <p:cNvPr id="244" name="Cloud providers Love Rust"/>
          <p:cNvSpPr txBox="1">
            <a:spLocks noGrp="1"/>
          </p:cNvSpPr>
          <p:nvPr>
            <p:ph type="title"/>
          </p:nvPr>
        </p:nvSpPr>
        <p:spPr>
          <a:xfrm>
            <a:off x="3976687" y="85725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Cloud providers Love Rust</a:t>
            </a:r>
          </a:p>
        </p:txBody>
      </p:sp>
      <p:sp>
        <p:nvSpPr>
          <p:cNvPr id="245" name="A 2017 study of Rust-based code found Rust uses half as much electricity as a similar program written in Java.…"/>
          <p:cNvSpPr txBox="1">
            <a:spLocks noGrp="1"/>
          </p:cNvSpPr>
          <p:nvPr>
            <p:ph type="body" sz="half" idx="1"/>
          </p:nvPr>
        </p:nvSpPr>
        <p:spPr>
          <a:xfrm>
            <a:off x="2140225" y="3577685"/>
            <a:ext cx="20103550" cy="6560630"/>
          </a:xfrm>
          <a:prstGeom prst="rect">
            <a:avLst/>
          </a:prstGeom>
        </p:spPr>
        <p:txBody>
          <a:bodyPr anchor="t"/>
          <a:lstStyle/>
          <a:p>
            <a:pPr marL="657859" indent="-657859">
              <a:spcBef>
                <a:spcPts val="5200"/>
              </a:spcBef>
              <a:defRPr sz="5600">
                <a:latin typeface="Avenir Medium"/>
                <a:ea typeface="Avenir Medium"/>
                <a:cs typeface="Avenir Medium"/>
                <a:sym typeface="Avenir Medium"/>
              </a:defRPr>
            </a:pPr>
            <a:r>
              <a:rPr dirty="0"/>
              <a:t>A 2017 study of Rust-based code found Rust uses </a:t>
            </a:r>
            <a:r>
              <a:rPr u="sng" dirty="0">
                <a:solidFill>
                  <a:schemeClr val="tx1"/>
                </a:solidFill>
                <a:hlinkClick r:id="rId4">
                  <a:extLst>
                    <a:ext uri="{A12FA001-AC4F-418D-AE19-62706E023703}">
                      <ahyp:hlinkClr xmlns:ahyp="http://schemas.microsoft.com/office/drawing/2018/hyperlinkcolor" val="tx"/>
                    </a:ext>
                  </a:extLst>
                </a:hlinkClick>
              </a:rPr>
              <a:t>half as much electricity</a:t>
            </a:r>
            <a:r>
              <a:rPr dirty="0"/>
              <a:t> as a similar program written in Java.</a:t>
            </a:r>
          </a:p>
          <a:p>
            <a:pPr marL="657859" indent="-657859">
              <a:spcBef>
                <a:spcPts val="5200"/>
              </a:spcBef>
              <a:defRPr sz="5600">
                <a:latin typeface="Avenir Medium"/>
                <a:ea typeface="Avenir Medium"/>
                <a:cs typeface="Avenir Medium"/>
                <a:sym typeface="Avenir Medium"/>
              </a:defRPr>
            </a:pPr>
            <a:r>
              <a:rPr dirty="0"/>
              <a:t>“Rust is the fastest growing language at        . It's had such an impact that we've actually rewritten a lot of our critical code in Rust” Chris Betz,  AWS CISO June 2024.</a:t>
            </a:r>
          </a:p>
        </p:txBody>
      </p:sp>
      <p:sp>
        <p:nvSpPr>
          <p:cNvPr id="246"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sp>
        <p:nvSpPr>
          <p:cNvPr id="247"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5">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248" name="Source: Energy Efficiency Across Programming Languages: https://sites.google.com/view/energy-efficiency-languages/"/>
          <p:cNvSpPr txBox="1"/>
          <p:nvPr/>
        </p:nvSpPr>
        <p:spPr>
          <a:xfrm>
            <a:off x="2739231" y="11639919"/>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Energy Efficiency Across Programming Languages: https://sites.google.com/view/energy-efficiency-languages/</a:t>
            </a:r>
          </a:p>
        </p:txBody>
      </p:sp>
      <p:pic>
        <p:nvPicPr>
          <p:cNvPr id="249" name="aws_logo.png" descr="aws_logo.png"/>
          <p:cNvPicPr>
            <a:picLocks noChangeAspect="1"/>
          </p:cNvPicPr>
          <p:nvPr/>
        </p:nvPicPr>
        <p:blipFill>
          <a:blip r:embed="rId6"/>
          <a:stretch>
            <a:fillRect/>
          </a:stretch>
        </p:blipFill>
        <p:spPr>
          <a:xfrm>
            <a:off x="15643342" y="5920010"/>
            <a:ext cx="1921180" cy="1365620"/>
          </a:xfrm>
          <a:prstGeom prst="rect">
            <a:avLst/>
          </a:prstGeom>
          <a:ln w="12700">
            <a:miter lim="400000"/>
          </a:ln>
        </p:spPr>
      </p:pic>
      <p:sp>
        <p:nvSpPr>
          <p:cNvPr id="250" name="Source: AWS re:Inforce 2024 - Keynote with Chris Betz: https://www.youtube.com/watch?v=skH3Q90llss"/>
          <p:cNvSpPr txBox="1"/>
          <p:nvPr/>
        </p:nvSpPr>
        <p:spPr>
          <a:xfrm>
            <a:off x="2739231" y="12138901"/>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AWS re:Inforce 2024 - Keynote with Chris Betz: https://www.youtube.com/watch?v=skH3Q90llss</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 name="Rust_programming_language_white_logo.png" descr="Rust_programming_language_white_logo.png"/>
          <p:cNvPicPr>
            <a:picLocks noChangeAspect="1"/>
          </p:cNvPicPr>
          <p:nvPr/>
        </p:nvPicPr>
        <p:blipFill>
          <a:blip r:embed="rId3"/>
          <a:stretch>
            <a:fillRect/>
          </a:stretch>
        </p:blipFill>
        <p:spPr>
          <a:xfrm>
            <a:off x="861180" y="138516"/>
            <a:ext cx="2673629" cy="2673629"/>
          </a:xfrm>
          <a:prstGeom prst="rect">
            <a:avLst/>
          </a:prstGeom>
          <a:ln w="12700">
            <a:miter lim="400000"/>
          </a:ln>
        </p:spPr>
      </p:pic>
      <p:pic>
        <p:nvPicPr>
          <p:cNvPr id="253" name="Rust_programming_language_55d7ff_logo.png" descr="Rust_programming_language_55d7ff_logo.png"/>
          <p:cNvPicPr>
            <a:picLocks noChangeAspect="1"/>
          </p:cNvPicPr>
          <p:nvPr/>
        </p:nvPicPr>
        <p:blipFill>
          <a:blip r:embed="rId4"/>
          <a:stretch>
            <a:fillRect/>
          </a:stretch>
        </p:blipFill>
        <p:spPr>
          <a:xfrm>
            <a:off x="952500" y="229835"/>
            <a:ext cx="2490990" cy="2490990"/>
          </a:xfrm>
          <a:prstGeom prst="rect">
            <a:avLst/>
          </a:prstGeom>
          <a:ln w="12700">
            <a:miter lim="400000"/>
          </a:ln>
        </p:spPr>
      </p:pic>
      <p:sp>
        <p:nvSpPr>
          <p:cNvPr id="254" name="Operating System Vendors Love Rust"/>
          <p:cNvSpPr txBox="1">
            <a:spLocks noGrp="1"/>
          </p:cNvSpPr>
          <p:nvPr>
            <p:ph type="title"/>
          </p:nvPr>
        </p:nvSpPr>
        <p:spPr>
          <a:xfrm>
            <a:off x="3976687" y="857250"/>
            <a:ext cx="16430626" cy="1488298"/>
          </a:xfrm>
          <a:prstGeom prst="rect">
            <a:avLst/>
          </a:prstGeom>
        </p:spPr>
        <p:txBody>
          <a:bodyPr>
            <a:normAutofit fontScale="90000"/>
          </a:bodyPr>
          <a:lstStyle>
            <a:lvl1pPr algn="ctr" defTabSz="714732">
              <a:defRPr sz="4872" spc="779">
                <a:solidFill>
                  <a:schemeClr val="accent2">
                    <a:satOff val="44164"/>
                    <a:lumOff val="14231"/>
                  </a:schemeClr>
                </a:solidFill>
                <a:latin typeface="Avenir Heavy"/>
                <a:ea typeface="Avenir Heavy"/>
                <a:cs typeface="Avenir Heavy"/>
                <a:sym typeface="Avenir Heavy"/>
              </a:defRPr>
            </a:lvl1pPr>
          </a:lstStyle>
          <a:p>
            <a:r>
              <a:t>Operating System Vendors Love Rust</a:t>
            </a:r>
          </a:p>
        </p:txBody>
      </p:sp>
      <p:sp>
        <p:nvSpPr>
          <p:cNvPr id="255" name="Microsoft is rewriting parts of the Windows 11 kernel using the memory-safe programming language Rust (May 2023)"/>
          <p:cNvSpPr txBox="1">
            <a:spLocks noGrp="1"/>
          </p:cNvSpPr>
          <p:nvPr>
            <p:ph type="body" sz="quarter" idx="1"/>
          </p:nvPr>
        </p:nvSpPr>
        <p:spPr>
          <a:xfrm>
            <a:off x="2608742" y="2529421"/>
            <a:ext cx="19166516" cy="2701810"/>
          </a:xfrm>
          <a:prstGeom prst="rect">
            <a:avLst/>
          </a:prstGeom>
        </p:spPr>
        <p:txBody>
          <a:bodyPr anchor="t"/>
          <a:lstStyle>
            <a:lvl1pPr marL="631545" indent="-631545" defTabSz="788669">
              <a:spcBef>
                <a:spcPts val="4900"/>
              </a:spcBef>
              <a:defRPr sz="5376">
                <a:latin typeface="Avenir Medium"/>
                <a:ea typeface="Avenir Medium"/>
                <a:cs typeface="Avenir Medium"/>
                <a:sym typeface="Avenir Medium"/>
              </a:defRPr>
            </a:lvl1pPr>
          </a:lstStyle>
          <a:p>
            <a:r>
              <a:t>Microsoft is rewriting parts of the Windows 11 kernel using the memory-safe programming language Rust (May 2023)</a:t>
            </a:r>
          </a:p>
        </p:txBody>
      </p:sp>
      <p:sp>
        <p:nvSpPr>
          <p:cNvPr id="256"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11</a:t>
            </a:fld>
            <a:endParaRPr/>
          </a:p>
        </p:txBody>
      </p:sp>
      <p:sp>
        <p:nvSpPr>
          <p:cNvPr id="257"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5">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258" name="Source: First Rust Code in the Windows 11 Kernel: https://www.thurrott.com/windows/windows-11/282995/first-rust-code-shows-up-in-the-windows-11-kernel"/>
          <p:cNvSpPr txBox="1"/>
          <p:nvPr/>
        </p:nvSpPr>
        <p:spPr>
          <a:xfrm>
            <a:off x="255178" y="11319797"/>
            <a:ext cx="23599796"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First Rust Code in the Windows 11 Kernel: https://www.thurrott.com/windows/windows-11/282995/first-rust-code-shows-up-in-the-windows-11-kernel</a:t>
            </a:r>
          </a:p>
        </p:txBody>
      </p:sp>
      <p:pic>
        <p:nvPicPr>
          <p:cNvPr id="259" name="Windows_11_logo.svg" descr="Windows_11_logo.svg"/>
          <p:cNvPicPr>
            <a:picLocks noChangeAspect="1"/>
          </p:cNvPicPr>
          <p:nvPr/>
        </p:nvPicPr>
        <p:blipFill>
          <a:blip r:embed="rId6"/>
          <a:stretch>
            <a:fillRect/>
          </a:stretch>
        </p:blipFill>
        <p:spPr>
          <a:xfrm>
            <a:off x="3100319" y="5866943"/>
            <a:ext cx="8211478" cy="1512838"/>
          </a:xfrm>
          <a:prstGeom prst="rect">
            <a:avLst/>
          </a:prstGeom>
          <a:ln w="12700">
            <a:miter lim="400000"/>
          </a:ln>
        </p:spPr>
      </p:pic>
      <p:pic>
        <p:nvPicPr>
          <p:cNvPr id="260" name="Linux-Symbol-White-Oval.png" descr="Linux-Symbol-White-Oval.png"/>
          <p:cNvPicPr>
            <a:picLocks noChangeAspect="1"/>
          </p:cNvPicPr>
          <p:nvPr/>
        </p:nvPicPr>
        <p:blipFill>
          <a:blip r:embed="rId7"/>
          <a:stretch>
            <a:fillRect/>
          </a:stretch>
        </p:blipFill>
        <p:spPr>
          <a:xfrm>
            <a:off x="12501581" y="4799235"/>
            <a:ext cx="6691021" cy="3648254"/>
          </a:xfrm>
          <a:prstGeom prst="rect">
            <a:avLst/>
          </a:prstGeom>
          <a:ln w="12700">
            <a:miter lim="400000"/>
          </a:ln>
        </p:spPr>
      </p:pic>
      <p:sp>
        <p:nvSpPr>
          <p:cNvPr id="261" name="Linux kernel version 6.1 (2022) introduced initial support for Rust"/>
          <p:cNvSpPr txBox="1"/>
          <p:nvPr/>
        </p:nvSpPr>
        <p:spPr>
          <a:xfrm>
            <a:off x="2723645" y="8838610"/>
            <a:ext cx="18071867" cy="20900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ormAutofit/>
          </a:bodyPr>
          <a:lstStyle>
            <a:lvl1pPr marL="657859" indent="-657859" algn="l">
              <a:spcBef>
                <a:spcPts val="5200"/>
              </a:spcBef>
              <a:buClr>
                <a:srgbClr val="646464"/>
              </a:buClr>
              <a:buSzPct val="90000"/>
              <a:buChar char="•"/>
              <a:defRPr>
                <a:latin typeface="Avenir Medium"/>
                <a:ea typeface="Avenir Medium"/>
                <a:cs typeface="Avenir Medium"/>
                <a:sym typeface="Avenir Medium"/>
              </a:defRPr>
            </a:lvl1pPr>
          </a:lstStyle>
          <a:p>
            <a:r>
              <a:t>Linux kernel version 6.1 (2022) introduced initial support for Rust</a:t>
            </a:r>
          </a:p>
        </p:txBody>
      </p:sp>
      <p:sp>
        <p:nvSpPr>
          <p:cNvPr id="262" name="Source: Rust for Linux: https://en.wikipedia.org/wiki/Rust_for_Linux"/>
          <p:cNvSpPr txBox="1"/>
          <p:nvPr/>
        </p:nvSpPr>
        <p:spPr>
          <a:xfrm>
            <a:off x="255178" y="11766919"/>
            <a:ext cx="23599796"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Rust for Linux: https://en.wikipedia.org/wiki/Rust_for_Linux</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he United States GOVERNMENT Loves Rust…"/>
          <p:cNvSpPr txBox="1">
            <a:spLocks noGrp="1"/>
          </p:cNvSpPr>
          <p:nvPr>
            <p:ph type="title"/>
          </p:nvPr>
        </p:nvSpPr>
        <p:spPr>
          <a:xfrm>
            <a:off x="2631987" y="499086"/>
            <a:ext cx="19593101" cy="1846462"/>
          </a:xfrm>
          <a:prstGeom prst="rect">
            <a:avLst/>
          </a:prstGeom>
        </p:spPr>
        <p:txBody>
          <a:bodyPr/>
          <a:lstStyle/>
          <a:p>
            <a:pPr algn="ctr" defTabSz="722947">
              <a:defRPr sz="4928" spc="788">
                <a:solidFill>
                  <a:schemeClr val="accent2">
                    <a:satOff val="44164"/>
                    <a:lumOff val="14231"/>
                  </a:schemeClr>
                </a:solidFill>
                <a:latin typeface="Avenir Heavy"/>
                <a:ea typeface="Avenir Heavy"/>
                <a:cs typeface="Avenir Heavy"/>
                <a:sym typeface="Avenir Heavy"/>
              </a:defRPr>
            </a:pPr>
            <a:r>
              <a:t>The United States GOVERNMENT Loves Rust</a:t>
            </a:r>
          </a:p>
          <a:p>
            <a:pPr algn="ctr" defTabSz="722947">
              <a:defRPr sz="4928" spc="788">
                <a:solidFill>
                  <a:schemeClr val="accent2">
                    <a:satOff val="44164"/>
                    <a:lumOff val="14231"/>
                  </a:schemeClr>
                </a:solidFill>
                <a:latin typeface="Avenir Heavy"/>
                <a:ea typeface="Avenir Heavy"/>
                <a:cs typeface="Avenir Heavy"/>
                <a:sym typeface="Avenir Heavy"/>
              </a:defRPr>
            </a:pPr>
            <a:r>
              <a:t>and Java Too</a:t>
            </a:r>
          </a:p>
        </p:txBody>
      </p:sp>
      <p:sp>
        <p:nvSpPr>
          <p:cNvPr id="267" name="Darpa’s TRACTOR Project (Translating C to Rust)…"/>
          <p:cNvSpPr txBox="1">
            <a:spLocks noGrp="1"/>
          </p:cNvSpPr>
          <p:nvPr>
            <p:ph type="body" sz="half" idx="1"/>
          </p:nvPr>
        </p:nvSpPr>
        <p:spPr>
          <a:xfrm>
            <a:off x="2608742" y="3269203"/>
            <a:ext cx="18453431" cy="7177594"/>
          </a:xfrm>
          <a:prstGeom prst="rect">
            <a:avLst/>
          </a:prstGeom>
        </p:spPr>
        <p:txBody>
          <a:bodyPr anchor="t"/>
          <a:lstStyle/>
          <a:p>
            <a:pPr marL="519709" indent="-519709" defTabSz="649009">
              <a:spcBef>
                <a:spcPts val="4100"/>
              </a:spcBef>
              <a:defRPr sz="5530">
                <a:latin typeface="Avenir Medium"/>
                <a:ea typeface="Avenir Medium"/>
                <a:cs typeface="Avenir Medium"/>
                <a:sym typeface="Avenir Medium"/>
              </a:defRPr>
            </a:pPr>
            <a:r>
              <a:rPr dirty="0" err="1"/>
              <a:t>Darpa’s</a:t>
            </a:r>
            <a:r>
              <a:rPr dirty="0"/>
              <a:t> TRACTOR Project (Translating C to Rust)</a:t>
            </a:r>
          </a:p>
          <a:p>
            <a:pPr marL="519709" indent="-519709" defTabSz="649009">
              <a:spcBef>
                <a:spcPts val="4100"/>
              </a:spcBef>
              <a:defRPr sz="5214">
                <a:latin typeface="Avenir Medium"/>
                <a:ea typeface="Avenir Medium"/>
                <a:cs typeface="Avenir Medium"/>
                <a:sym typeface="Avenir Medium"/>
              </a:defRPr>
            </a:pPr>
            <a:r>
              <a:rPr dirty="0"/>
              <a:t>The Case for Memory Safe Roadmaps (CISA, NSA, FBI etc.)</a:t>
            </a:r>
          </a:p>
          <a:p>
            <a:pPr marL="1262151" lvl="2" indent="-519709" defTabSz="649009">
              <a:spcBef>
                <a:spcPts val="4100"/>
              </a:spcBef>
              <a:defRPr sz="5214">
                <a:latin typeface="Avenir Medium"/>
                <a:ea typeface="Avenir Medium"/>
                <a:cs typeface="Avenir Medium"/>
                <a:sym typeface="Avenir Medium"/>
              </a:defRPr>
            </a:pPr>
            <a:r>
              <a:rPr dirty="0"/>
              <a:t>C#</a:t>
            </a:r>
          </a:p>
          <a:p>
            <a:pPr marL="1262151" lvl="2" indent="-519709" defTabSz="649009">
              <a:spcBef>
                <a:spcPts val="4100"/>
              </a:spcBef>
              <a:defRPr sz="4424">
                <a:latin typeface="Avenir Medium"/>
                <a:ea typeface="Avenir Medium"/>
                <a:cs typeface="Avenir Medium"/>
                <a:sym typeface="Avenir Medium"/>
              </a:defRPr>
            </a:pPr>
            <a:r>
              <a:rPr dirty="0"/>
              <a:t>Go</a:t>
            </a:r>
          </a:p>
          <a:p>
            <a:pPr marL="1262151" lvl="2" indent="-519709" defTabSz="649009">
              <a:spcBef>
                <a:spcPts val="4100"/>
              </a:spcBef>
              <a:defRPr sz="4424">
                <a:latin typeface="Avenir Medium"/>
                <a:ea typeface="Avenir Medium"/>
                <a:cs typeface="Avenir Medium"/>
                <a:sym typeface="Avenir Medium"/>
              </a:defRPr>
            </a:pPr>
            <a:r>
              <a:rPr dirty="0"/>
              <a:t>Java</a:t>
            </a:r>
          </a:p>
        </p:txBody>
      </p:sp>
      <p:sp>
        <p:nvSpPr>
          <p:cNvPr id="268"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12</a:t>
            </a:fld>
            <a:endParaRPr/>
          </a:p>
        </p:txBody>
      </p:sp>
      <p:sp>
        <p:nvSpPr>
          <p:cNvPr id="269"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270" name="Source: In Rust we trust? White House Office urges memory safety:…"/>
          <p:cNvSpPr txBox="1"/>
          <p:nvPr/>
        </p:nvSpPr>
        <p:spPr>
          <a:xfrm>
            <a:off x="2028038" y="10734354"/>
            <a:ext cx="15730940" cy="9444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lgn="l">
              <a:defRPr sz="2600">
                <a:latin typeface="Helvetica"/>
                <a:ea typeface="Helvetica"/>
                <a:cs typeface="Helvetica"/>
                <a:sym typeface="Helvetica"/>
              </a:defRPr>
            </a:pPr>
            <a:r>
              <a:rPr dirty="0"/>
              <a:t>Source: In Rust we trust? White House Office urges memory safety:</a:t>
            </a:r>
          </a:p>
          <a:p>
            <a:pPr algn="l">
              <a:defRPr sz="2600">
                <a:latin typeface="Helvetica"/>
                <a:ea typeface="Helvetica"/>
                <a:cs typeface="Helvetica"/>
                <a:sym typeface="Helvetica"/>
              </a:defRPr>
            </a:pPr>
            <a:r>
              <a:rPr dirty="0"/>
              <a:t>              </a:t>
            </a:r>
            <a:r>
              <a:rPr u="sng" dirty="0">
                <a:solidFill>
                  <a:schemeClr val="tx1"/>
                </a:solidFill>
                <a:hlinkClick r:id="rId3">
                  <a:extLst>
                    <a:ext uri="{A12FA001-AC4F-418D-AE19-62706E023703}">
                      <ahyp:hlinkClr xmlns:ahyp="http://schemas.microsoft.com/office/drawing/2018/hyperlinkcolor" val="tx"/>
                    </a:ext>
                  </a:extLst>
                </a:hlinkClick>
              </a:rPr>
              <a:t>https://stackoverflow.blog/2024/03/04/in-rust-we-trust-white-house-office-urges-memory-safety</a:t>
            </a:r>
            <a:r>
              <a:rPr u="sng" dirty="0">
                <a:solidFill>
                  <a:srgbClr val="0000FF"/>
                </a:solidFill>
                <a:hlinkClick r:id="rId3">
                  <a:extLst>
                    <a:ext uri="{A12FA001-AC4F-418D-AE19-62706E023703}">
                      <ahyp:hlinkClr xmlns:ahyp="http://schemas.microsoft.com/office/drawing/2018/hyperlinkcolor" val="tx"/>
                    </a:ext>
                  </a:extLst>
                </a:hlinkClick>
              </a:rPr>
              <a:t>/</a:t>
            </a:r>
          </a:p>
        </p:txBody>
      </p:sp>
      <p:sp>
        <p:nvSpPr>
          <p:cNvPr id="271" name="Source: The Case for Memory Safe Roadmaps:…"/>
          <p:cNvSpPr txBox="1"/>
          <p:nvPr/>
        </p:nvSpPr>
        <p:spPr>
          <a:xfrm>
            <a:off x="1981682" y="11642579"/>
            <a:ext cx="20420636" cy="9444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lgn="l">
              <a:defRPr sz="2600">
                <a:latin typeface="Helvetica"/>
                <a:ea typeface="Helvetica"/>
                <a:cs typeface="Helvetica"/>
                <a:sym typeface="Helvetica"/>
              </a:defRPr>
            </a:pPr>
            <a:r>
              <a:rPr dirty="0"/>
              <a:t>Source: The Case for Memory Safe Roadmaps:</a:t>
            </a:r>
          </a:p>
          <a:p>
            <a:pPr algn="l">
              <a:defRPr sz="2600">
                <a:latin typeface="Helvetica"/>
                <a:ea typeface="Helvetica"/>
                <a:cs typeface="Helvetica"/>
                <a:sym typeface="Helvetica"/>
              </a:defRPr>
            </a:pPr>
            <a:r>
              <a:rPr dirty="0">
                <a:solidFill>
                  <a:schemeClr val="tx1"/>
                </a:solidFill>
              </a:rPr>
              <a:t>              </a:t>
            </a:r>
            <a:r>
              <a:rPr u="sng" dirty="0">
                <a:solidFill>
                  <a:schemeClr val="tx1"/>
                </a:solidFill>
                <a:hlinkClick r:id="rId4">
                  <a:extLst>
                    <a:ext uri="{A12FA001-AC4F-418D-AE19-62706E023703}">
                      <ahyp:hlinkClr xmlns:ahyp="http://schemas.microsoft.com/office/drawing/2018/hyperlinkcolor" val="tx"/>
                    </a:ext>
                  </a:extLst>
                </a:hlinkClick>
              </a:rPr>
              <a:t>https://media.defense.gov/2023/Dec/06/2003352724/-1/-1/0/The-Case-for-Memory-Safe-Roadmaps-TLP-clear.pdf</a:t>
            </a:r>
          </a:p>
        </p:txBody>
      </p:sp>
      <p:sp>
        <p:nvSpPr>
          <p:cNvPr id="272" name="Python…"/>
          <p:cNvSpPr txBox="1"/>
          <p:nvPr/>
        </p:nvSpPr>
        <p:spPr>
          <a:xfrm>
            <a:off x="6105280" y="6163041"/>
            <a:ext cx="8297899" cy="3932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ormAutofit/>
          </a:bodyPr>
          <a:lstStyle/>
          <a:p>
            <a:pPr marL="1437894" lvl="2" indent="-592074" algn="l" defTabSz="739378">
              <a:spcBef>
                <a:spcPts val="4600"/>
              </a:spcBef>
              <a:buClr>
                <a:srgbClr val="646464"/>
              </a:buClr>
              <a:buSzPct val="90000"/>
              <a:buChar char="•"/>
              <a:defRPr sz="5040">
                <a:latin typeface="Avenir Medium"/>
                <a:ea typeface="Avenir Medium"/>
                <a:cs typeface="Avenir Medium"/>
                <a:sym typeface="Avenir Medium"/>
              </a:defRPr>
            </a:pPr>
            <a:r>
              <a:t>Python</a:t>
            </a:r>
          </a:p>
          <a:p>
            <a:pPr marL="1437894" lvl="2" indent="-592074" algn="l" defTabSz="739378">
              <a:spcBef>
                <a:spcPts val="4600"/>
              </a:spcBef>
              <a:buClr>
                <a:srgbClr val="646464"/>
              </a:buClr>
              <a:buSzPct val="90000"/>
              <a:buChar char="•"/>
              <a:defRPr sz="5040">
                <a:latin typeface="Avenir Medium"/>
                <a:ea typeface="Avenir Medium"/>
                <a:cs typeface="Avenir Medium"/>
                <a:sym typeface="Avenir Medium"/>
              </a:defRPr>
            </a:pPr>
            <a:r>
              <a:t>Rust</a:t>
            </a:r>
          </a:p>
          <a:p>
            <a:pPr marL="1437894" lvl="2" indent="-592074" algn="l" defTabSz="739378">
              <a:spcBef>
                <a:spcPts val="4600"/>
              </a:spcBef>
              <a:buClr>
                <a:srgbClr val="646464"/>
              </a:buClr>
              <a:buSzPct val="90000"/>
              <a:buChar char="•"/>
              <a:defRPr sz="5040">
                <a:latin typeface="Avenir Medium"/>
                <a:ea typeface="Avenir Medium"/>
                <a:cs typeface="Avenir Medium"/>
                <a:sym typeface="Avenir Medium"/>
              </a:defRPr>
            </a:pPr>
            <a:r>
              <a:t>Swift</a:t>
            </a:r>
          </a:p>
        </p:txBody>
      </p:sp>
      <p:pic>
        <p:nvPicPr>
          <p:cNvPr id="273" name="Rust_programming_language_white_logo.png" descr="Rust_programming_language_white_logo.png"/>
          <p:cNvPicPr>
            <a:picLocks noChangeAspect="1"/>
          </p:cNvPicPr>
          <p:nvPr/>
        </p:nvPicPr>
        <p:blipFill>
          <a:blip r:embed="rId5"/>
          <a:stretch>
            <a:fillRect/>
          </a:stretch>
        </p:blipFill>
        <p:spPr>
          <a:xfrm>
            <a:off x="298612" y="85502"/>
            <a:ext cx="2673629" cy="2673630"/>
          </a:xfrm>
          <a:prstGeom prst="rect">
            <a:avLst/>
          </a:prstGeom>
          <a:ln w="12700">
            <a:miter lim="400000"/>
          </a:ln>
        </p:spPr>
      </p:pic>
      <p:pic>
        <p:nvPicPr>
          <p:cNvPr id="274" name="rustacean-flat-happy.png" descr="rustacean-flat-happy.png"/>
          <p:cNvPicPr>
            <a:picLocks noChangeAspect="1"/>
          </p:cNvPicPr>
          <p:nvPr/>
        </p:nvPicPr>
        <p:blipFill>
          <a:blip r:embed="rId6"/>
          <a:stretch>
            <a:fillRect/>
          </a:stretch>
        </p:blipFill>
        <p:spPr>
          <a:xfrm>
            <a:off x="9196559" y="7664031"/>
            <a:ext cx="1393899" cy="930276"/>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 name="Android-bot-black-bg.png" descr="Android-bot-black-bg.png"/>
          <p:cNvPicPr>
            <a:picLocks noChangeAspect="1"/>
          </p:cNvPicPr>
          <p:nvPr/>
        </p:nvPicPr>
        <p:blipFill>
          <a:blip r:embed="rId3"/>
          <a:stretch>
            <a:fillRect/>
          </a:stretch>
        </p:blipFill>
        <p:spPr>
          <a:xfrm>
            <a:off x="403454" y="459674"/>
            <a:ext cx="2604079" cy="3094490"/>
          </a:xfrm>
          <a:prstGeom prst="rect">
            <a:avLst/>
          </a:prstGeom>
          <a:ln w="12700">
            <a:miter lim="400000"/>
          </a:ln>
        </p:spPr>
      </p:pic>
      <p:sp>
        <p:nvSpPr>
          <p:cNvPr id="277" name="Operating System Vendors Love Rust"/>
          <p:cNvSpPr txBox="1">
            <a:spLocks noGrp="1"/>
          </p:cNvSpPr>
          <p:nvPr>
            <p:ph type="title"/>
          </p:nvPr>
        </p:nvSpPr>
        <p:spPr>
          <a:xfrm>
            <a:off x="3976687" y="857250"/>
            <a:ext cx="16430626" cy="1488298"/>
          </a:xfrm>
          <a:prstGeom prst="rect">
            <a:avLst/>
          </a:prstGeom>
        </p:spPr>
        <p:txBody>
          <a:bodyPr>
            <a:normAutofit fontScale="90000"/>
          </a:bodyPr>
          <a:lstStyle>
            <a:lvl1pPr algn="ctr" defTabSz="714732">
              <a:defRPr sz="4872" spc="779">
                <a:solidFill>
                  <a:schemeClr val="accent2">
                    <a:satOff val="44164"/>
                    <a:lumOff val="14231"/>
                  </a:schemeClr>
                </a:solidFill>
                <a:latin typeface="Avenir Heavy"/>
                <a:ea typeface="Avenir Heavy"/>
                <a:cs typeface="Avenir Heavy"/>
                <a:sym typeface="Avenir Heavy"/>
              </a:defRPr>
            </a:lvl1pPr>
          </a:lstStyle>
          <a:p>
            <a:r>
              <a:t>Operating System Vendors Love Rust</a:t>
            </a:r>
          </a:p>
        </p:txBody>
      </p:sp>
      <p:sp>
        <p:nvSpPr>
          <p:cNvPr id="278" name="“The percentage of memory safety vulnerabilities in Android dropped from 76% to 24% over 6 years as development shifted to memory safe languages” (September 2024)"/>
          <p:cNvSpPr txBox="1">
            <a:spLocks noGrp="1"/>
          </p:cNvSpPr>
          <p:nvPr>
            <p:ph type="body" sz="quarter" idx="1"/>
          </p:nvPr>
        </p:nvSpPr>
        <p:spPr>
          <a:xfrm>
            <a:off x="3076612" y="2233923"/>
            <a:ext cx="19166517" cy="2701811"/>
          </a:xfrm>
          <a:prstGeom prst="rect">
            <a:avLst/>
          </a:prstGeom>
        </p:spPr>
        <p:txBody>
          <a:bodyPr anchor="t"/>
          <a:lstStyle>
            <a:lvl1pPr marL="578916" indent="-578916" defTabSz="722947">
              <a:spcBef>
                <a:spcPts val="4500"/>
              </a:spcBef>
              <a:defRPr sz="4928">
                <a:latin typeface="Avenir Medium"/>
                <a:ea typeface="Avenir Medium"/>
                <a:cs typeface="Avenir Medium"/>
                <a:sym typeface="Avenir Medium"/>
              </a:defRPr>
            </a:lvl1pPr>
          </a:lstStyle>
          <a:p>
            <a:r>
              <a:t>“The percentage of memory safety vulnerabilities in Android dropped from 76% to 24% over 6 years as development shifted to memory safe languages” (September 2024)</a:t>
            </a:r>
          </a:p>
        </p:txBody>
      </p:sp>
      <p:sp>
        <p:nvSpPr>
          <p:cNvPr id="279"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13</a:t>
            </a:fld>
            <a:endParaRPr/>
          </a:p>
        </p:txBody>
      </p:sp>
      <p:sp>
        <p:nvSpPr>
          <p:cNvPr id="280"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4">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281" name="Source: Eliminating Memory Safety Vulnerabilities at the Source…"/>
          <p:cNvSpPr txBox="1"/>
          <p:nvPr/>
        </p:nvSpPr>
        <p:spPr>
          <a:xfrm>
            <a:off x="4072018" y="11781870"/>
            <a:ext cx="15656574" cy="930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lgn="l">
              <a:defRPr sz="2600">
                <a:latin typeface="Helvetica"/>
                <a:ea typeface="Helvetica"/>
                <a:cs typeface="Helvetica"/>
                <a:sym typeface="Helvetica"/>
              </a:defRPr>
            </a:pPr>
            <a:r>
              <a:t>Source: Eliminating Memory Safety Vulnerabilities at the Source</a:t>
            </a:r>
          </a:p>
          <a:p>
            <a:pPr algn="l">
              <a:defRPr sz="2600">
                <a:latin typeface="Helvetica"/>
                <a:ea typeface="Helvetica"/>
                <a:cs typeface="Helvetica"/>
                <a:sym typeface="Helvetica"/>
              </a:defRPr>
            </a:pPr>
            <a:r>
              <a:t>              https://security.googleblog.com/2024/09/eliminating-memory-safety-vulnerabilities-Android.html</a:t>
            </a:r>
          </a:p>
        </p:txBody>
      </p:sp>
      <p:pic>
        <p:nvPicPr>
          <p:cNvPr id="282" name="Rust_programming_language_white_logo.png" descr="Rust_programming_language_white_logo.png"/>
          <p:cNvPicPr>
            <a:picLocks noChangeAspect="1"/>
          </p:cNvPicPr>
          <p:nvPr/>
        </p:nvPicPr>
        <p:blipFill>
          <a:blip r:embed="rId5"/>
          <a:stretch>
            <a:fillRect/>
          </a:stretch>
        </p:blipFill>
        <p:spPr>
          <a:xfrm>
            <a:off x="1069518" y="1567942"/>
            <a:ext cx="1271951" cy="1271951"/>
          </a:xfrm>
          <a:prstGeom prst="rect">
            <a:avLst/>
          </a:prstGeom>
          <a:ln w="12700">
            <a:miter lim="400000"/>
          </a:ln>
        </p:spPr>
      </p:pic>
      <p:pic>
        <p:nvPicPr>
          <p:cNvPr id="283" name="Android-2024-09-Memory-Safe-and-Unsafe-black-bg.png" descr="Android-2024-09-Memory-Safe-and-Unsafe-black-bg.png"/>
          <p:cNvPicPr>
            <a:picLocks noChangeAspect="1"/>
          </p:cNvPicPr>
          <p:nvPr/>
        </p:nvPicPr>
        <p:blipFill>
          <a:blip r:embed="rId6"/>
          <a:stretch>
            <a:fillRect/>
          </a:stretch>
        </p:blipFill>
        <p:spPr>
          <a:xfrm>
            <a:off x="655473" y="5164611"/>
            <a:ext cx="11243981" cy="6584928"/>
          </a:xfrm>
          <a:prstGeom prst="rect">
            <a:avLst/>
          </a:prstGeom>
          <a:ln w="12700">
            <a:miter lim="400000"/>
          </a:ln>
        </p:spPr>
      </p:pic>
      <p:pic>
        <p:nvPicPr>
          <p:cNvPr id="284" name="Android-2024-09-Vulns-per-Year-black-bg.png" descr="Android-2024-09-Vulns-per-Year-black-bg.png"/>
          <p:cNvPicPr>
            <a:picLocks noChangeAspect="1"/>
          </p:cNvPicPr>
          <p:nvPr/>
        </p:nvPicPr>
        <p:blipFill>
          <a:blip r:embed="rId7"/>
          <a:stretch>
            <a:fillRect/>
          </a:stretch>
        </p:blipFill>
        <p:spPr>
          <a:xfrm>
            <a:off x="12291407" y="5167775"/>
            <a:ext cx="11238442" cy="657860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Safe C++ proposal…"/>
          <p:cNvSpPr txBox="1">
            <a:spLocks noGrp="1"/>
          </p:cNvSpPr>
          <p:nvPr>
            <p:ph type="body" idx="1"/>
          </p:nvPr>
        </p:nvSpPr>
        <p:spPr>
          <a:xfrm>
            <a:off x="2451363" y="2400273"/>
            <a:ext cx="19481274" cy="8915454"/>
          </a:xfrm>
          <a:prstGeom prst="rect">
            <a:avLst/>
          </a:prstGeom>
        </p:spPr>
        <p:txBody>
          <a:bodyPr anchor="t"/>
          <a:lstStyle/>
          <a:p>
            <a:pPr marL="427608" indent="-427608" defTabSz="533995">
              <a:spcBef>
                <a:spcPts val="3300"/>
              </a:spcBef>
              <a:defRPr sz="4744">
                <a:latin typeface="Avenir Medium"/>
                <a:ea typeface="Avenir Medium"/>
                <a:cs typeface="Avenir Medium"/>
                <a:sym typeface="Avenir Medium"/>
              </a:defRPr>
            </a:pPr>
            <a:r>
              <a:rPr dirty="0"/>
              <a:t>Safe C++ proposal</a:t>
            </a:r>
          </a:p>
          <a:p>
            <a:pPr marL="1343913" lvl="3" indent="-427609" defTabSz="533995">
              <a:spcBef>
                <a:spcPts val="3300"/>
              </a:spcBef>
              <a:defRPr sz="3575">
                <a:latin typeface="Avenir Medium"/>
                <a:ea typeface="Avenir Medium"/>
                <a:cs typeface="Avenir Medium"/>
                <a:sym typeface="Avenir Medium"/>
              </a:defRPr>
            </a:pPr>
            <a:r>
              <a:rPr u="sng" dirty="0">
                <a:solidFill>
                  <a:schemeClr val="tx1"/>
                </a:solidFill>
                <a:hlinkClick r:id="rId3">
                  <a:extLst>
                    <a:ext uri="{A12FA001-AC4F-418D-AE19-62706E023703}">
                      <ahyp:hlinkClr xmlns:ahyp="http://schemas.microsoft.com/office/drawing/2018/hyperlinkcolor" val="tx"/>
                    </a:ext>
                  </a:extLst>
                </a:hlinkClick>
              </a:rPr>
              <a:t>https://safecpp.org/draft.html</a:t>
            </a:r>
          </a:p>
          <a:p>
            <a:pPr marL="427608" indent="-427608" defTabSz="533995">
              <a:spcBef>
                <a:spcPts val="3300"/>
              </a:spcBef>
              <a:defRPr sz="4744">
                <a:latin typeface="Avenir Medium"/>
                <a:ea typeface="Avenir Medium"/>
                <a:cs typeface="Avenir Medium"/>
                <a:sym typeface="Avenir Medium"/>
              </a:defRPr>
            </a:pPr>
            <a:r>
              <a:rPr dirty="0"/>
              <a:t>Fil-C</a:t>
            </a:r>
          </a:p>
          <a:p>
            <a:pPr marL="1343913" lvl="3" indent="-427609" defTabSz="533995">
              <a:spcBef>
                <a:spcPts val="3300"/>
              </a:spcBef>
              <a:defRPr sz="3575">
                <a:latin typeface="Avenir Medium"/>
                <a:ea typeface="Avenir Medium"/>
                <a:cs typeface="Avenir Medium"/>
                <a:sym typeface="Avenir Medium"/>
              </a:defRPr>
            </a:pPr>
            <a:r>
              <a:rPr u="sng" dirty="0">
                <a:solidFill>
                  <a:schemeClr val="tx1"/>
                </a:solidFill>
                <a:hlinkClick r:id="rId4">
                  <a:extLst>
                    <a:ext uri="{A12FA001-AC4F-418D-AE19-62706E023703}">
                      <ahyp:hlinkClr xmlns:ahyp="http://schemas.microsoft.com/office/drawing/2018/hyperlinkcolor" val="tx"/>
                    </a:ext>
                  </a:extLst>
                </a:hlinkClick>
              </a:rPr>
              <a:t>https://github.com/pizlonator/llvm-project-deluge/blob/deluge/Manifesto.md</a:t>
            </a:r>
          </a:p>
          <a:p>
            <a:pPr marL="427608" indent="-427608" defTabSz="533995">
              <a:spcBef>
                <a:spcPts val="3300"/>
              </a:spcBef>
              <a:defRPr sz="4744">
                <a:latin typeface="Avenir Medium"/>
                <a:ea typeface="Avenir Medium"/>
                <a:cs typeface="Avenir Medium"/>
                <a:sym typeface="Avenir Medium"/>
              </a:defRPr>
            </a:pPr>
            <a:r>
              <a:rPr dirty="0" err="1"/>
              <a:t>TrapC</a:t>
            </a:r>
            <a:endParaRPr dirty="0"/>
          </a:p>
          <a:p>
            <a:pPr marL="1343913" lvl="3" indent="-427609" defTabSz="533995">
              <a:spcBef>
                <a:spcPts val="3300"/>
              </a:spcBef>
              <a:defRPr sz="3575">
                <a:latin typeface="Avenir Medium"/>
                <a:ea typeface="Avenir Medium"/>
                <a:cs typeface="Avenir Medium"/>
                <a:sym typeface="Avenir Medium"/>
              </a:defRPr>
            </a:pPr>
            <a:r>
              <a:rPr u="sng" dirty="0">
                <a:solidFill>
                  <a:schemeClr val="tx1"/>
                </a:solidFill>
                <a:hlinkClick r:id="rId5">
                  <a:extLst>
                    <a:ext uri="{A12FA001-AC4F-418D-AE19-62706E023703}">
                      <ahyp:hlinkClr xmlns:ahyp="http://schemas.microsoft.com/office/drawing/2018/hyperlinkcolor" val="tx"/>
                    </a:ext>
                  </a:extLst>
                </a:hlinkClick>
              </a:rPr>
              <a:t>https://vimeo.com/1028578347</a:t>
            </a:r>
          </a:p>
          <a:p>
            <a:pPr marL="427609" lvl="3" indent="-427609" defTabSz="533995">
              <a:spcBef>
                <a:spcPts val="3300"/>
              </a:spcBef>
              <a:defRPr sz="3575">
                <a:latin typeface="Avenir Medium"/>
                <a:ea typeface="Avenir Medium"/>
                <a:cs typeface="Avenir Medium"/>
                <a:sym typeface="Avenir Medium"/>
              </a:defRPr>
            </a:pPr>
            <a:r>
              <a:rPr dirty="0"/>
              <a:t>Enabling hardened </a:t>
            </a:r>
            <a:r>
              <a:rPr dirty="0" err="1"/>
              <a:t>libc</a:t>
            </a:r>
            <a:r>
              <a:rPr dirty="0"/>
              <a:t>++ / </a:t>
            </a:r>
            <a:r>
              <a:rPr dirty="0" err="1"/>
              <a:t>listedc</a:t>
            </a:r>
            <a:r>
              <a:rPr dirty="0"/>
              <a:t>++</a:t>
            </a:r>
          </a:p>
          <a:p>
            <a:pPr marL="1343913" lvl="3" indent="-427609" defTabSz="533995">
              <a:spcBef>
                <a:spcPts val="3300"/>
              </a:spcBef>
              <a:defRPr sz="3575">
                <a:latin typeface="Avenir Medium"/>
                <a:ea typeface="Avenir Medium"/>
                <a:cs typeface="Avenir Medium"/>
                <a:sym typeface="Avenir Medium"/>
              </a:defRPr>
            </a:pPr>
            <a:r>
              <a:rPr u="sng" dirty="0">
                <a:solidFill>
                  <a:schemeClr val="tx1"/>
                </a:solidFill>
                <a:hlinkClick r:id="rId6">
                  <a:extLst>
                    <a:ext uri="{A12FA001-AC4F-418D-AE19-62706E023703}">
                      <ahyp:hlinkClr xmlns:ahyp="http://schemas.microsoft.com/office/drawing/2018/hyperlinkcolor" val="tx"/>
                    </a:ext>
                  </a:extLst>
                </a:hlinkClick>
              </a:rPr>
              <a:t>https://security.googleblog.com/2024/11/retrofitting-spatial-safety-to-hundreds.html</a:t>
            </a:r>
          </a:p>
        </p:txBody>
      </p:sp>
      <p:sp>
        <p:nvSpPr>
          <p:cNvPr id="289"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sp>
        <p:nvSpPr>
          <p:cNvPr id="290"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7">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291" name="ISO_C++_Logo.svg.png" descr="ISO_C++_Logo.svg.png"/>
          <p:cNvPicPr>
            <a:picLocks noChangeAspect="1"/>
          </p:cNvPicPr>
          <p:nvPr/>
        </p:nvPicPr>
        <p:blipFill>
          <a:blip r:embed="rId8"/>
          <a:stretch>
            <a:fillRect/>
          </a:stretch>
        </p:blipFill>
        <p:spPr>
          <a:xfrm>
            <a:off x="2374381" y="276198"/>
            <a:ext cx="1802296" cy="2032001"/>
          </a:xfrm>
          <a:prstGeom prst="rect">
            <a:avLst/>
          </a:prstGeom>
          <a:ln w="12700">
            <a:miter lim="400000"/>
          </a:ln>
        </p:spPr>
      </p:pic>
      <p:pic>
        <p:nvPicPr>
          <p:cNvPr id="292" name="C_Programming_Language.svg.png" descr="C_Programming_Language.svg.png"/>
          <p:cNvPicPr>
            <a:picLocks noChangeAspect="1"/>
          </p:cNvPicPr>
          <p:nvPr/>
        </p:nvPicPr>
        <p:blipFill>
          <a:blip r:embed="rId9"/>
          <a:stretch>
            <a:fillRect/>
          </a:stretch>
        </p:blipFill>
        <p:spPr>
          <a:xfrm>
            <a:off x="416738" y="276198"/>
            <a:ext cx="1838477" cy="2032001"/>
          </a:xfrm>
          <a:prstGeom prst="rect">
            <a:avLst/>
          </a:prstGeom>
          <a:ln w="12700">
            <a:miter lim="400000"/>
          </a:ln>
        </p:spPr>
      </p:pic>
      <p:sp>
        <p:nvSpPr>
          <p:cNvPr id="293" name="C/C++ Reaction to Rust"/>
          <p:cNvSpPr txBox="1">
            <a:spLocks noGrp="1"/>
          </p:cNvSpPr>
          <p:nvPr>
            <p:ph type="title"/>
          </p:nvPr>
        </p:nvSpPr>
        <p:spPr>
          <a:xfrm>
            <a:off x="2619426" y="562522"/>
            <a:ext cx="19145148" cy="1918741"/>
          </a:xfrm>
          <a:prstGeom prst="rect">
            <a:avLst/>
          </a:prstGeom>
        </p:spPr>
        <p:txBody>
          <a:bodyPr/>
          <a:lstStyle>
            <a:lvl1pPr algn="ctr">
              <a:defRPr sz="6400" spc="1024">
                <a:solidFill>
                  <a:schemeClr val="accent2">
                    <a:satOff val="44164"/>
                    <a:lumOff val="14231"/>
                  </a:schemeClr>
                </a:solidFill>
                <a:latin typeface="Avenir Heavy"/>
                <a:ea typeface="Avenir Heavy"/>
                <a:cs typeface="Avenir Heavy"/>
                <a:sym typeface="Avenir Heavy"/>
              </a:defRPr>
            </a:lvl1pPr>
          </a:lstStyle>
          <a:p>
            <a:r>
              <a:t>C/C++ Reaction to Rust</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Rust / Java Ecosystems"/>
          <p:cNvSpPr txBox="1">
            <a:spLocks noGrp="1"/>
          </p:cNvSpPr>
          <p:nvPr>
            <p:ph type="title"/>
          </p:nvPr>
        </p:nvSpPr>
        <p:spPr>
          <a:xfrm>
            <a:off x="5657856" y="5311295"/>
            <a:ext cx="17762867" cy="2469624"/>
          </a:xfrm>
          <a:prstGeom prst="rect">
            <a:avLst/>
          </a:prstGeom>
        </p:spPr>
        <p:txBody>
          <a:bodyPr>
            <a:normAutofit fontScale="90000"/>
          </a:bodyPr>
          <a:lstStyle>
            <a:lvl1pPr algn="ctr" defTabSz="624363">
              <a:defRPr sz="8512" spc="1361">
                <a:solidFill>
                  <a:schemeClr val="accent2">
                    <a:satOff val="44164"/>
                    <a:lumOff val="14231"/>
                  </a:schemeClr>
                </a:solidFill>
                <a:latin typeface="Avenir Heavy"/>
                <a:ea typeface="Avenir Heavy"/>
                <a:cs typeface="Avenir Heavy"/>
                <a:sym typeface="Avenir Heavy"/>
              </a:defRPr>
            </a:lvl1pPr>
          </a:lstStyle>
          <a:p>
            <a:r>
              <a:t>Rust / Java Ecosystems</a:t>
            </a:r>
          </a:p>
        </p:txBody>
      </p:sp>
      <p:sp>
        <p:nvSpPr>
          <p:cNvPr id="298"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15</a:t>
            </a:fld>
            <a:endParaRPr/>
          </a:p>
        </p:txBody>
      </p:sp>
      <p:sp>
        <p:nvSpPr>
          <p:cNvPr id="299"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300" name="pineappe-under-the-see.png" descr="pineappe-under-the-see.png"/>
          <p:cNvPicPr>
            <a:picLocks noChangeAspect="1"/>
          </p:cNvPicPr>
          <p:nvPr/>
        </p:nvPicPr>
        <p:blipFill>
          <a:blip r:embed="rId3"/>
          <a:stretch>
            <a:fillRect/>
          </a:stretch>
        </p:blipFill>
        <p:spPr>
          <a:xfrm>
            <a:off x="319963" y="2868915"/>
            <a:ext cx="5031771" cy="503177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rustup (install/update)…"/>
          <p:cNvSpPr txBox="1">
            <a:spLocks noGrp="1"/>
          </p:cNvSpPr>
          <p:nvPr>
            <p:ph type="body" sz="half" idx="1"/>
          </p:nvPr>
        </p:nvSpPr>
        <p:spPr>
          <a:xfrm>
            <a:off x="4311977" y="3193963"/>
            <a:ext cx="15760046" cy="7076001"/>
          </a:xfrm>
          <a:prstGeom prst="rect">
            <a:avLst/>
          </a:prstGeom>
        </p:spPr>
        <p:txBody>
          <a:bodyPr anchor="t"/>
          <a:lstStyle/>
          <a:p>
            <a:pPr marL="644702" indent="-644702" defTabSz="805100">
              <a:spcBef>
                <a:spcPts val="5000"/>
              </a:spcBef>
              <a:defRPr sz="7154">
                <a:latin typeface="Avenir Medium"/>
                <a:ea typeface="Avenir Medium"/>
                <a:cs typeface="Avenir Medium"/>
                <a:sym typeface="Avenir Medium"/>
              </a:defRPr>
            </a:pPr>
            <a:r>
              <a:t>rustup (install/update)</a:t>
            </a:r>
          </a:p>
          <a:p>
            <a:pPr marL="644702" indent="-644702" defTabSz="805100">
              <a:spcBef>
                <a:spcPts val="5000"/>
              </a:spcBef>
              <a:defRPr sz="7154">
                <a:latin typeface="Avenir Medium"/>
                <a:ea typeface="Avenir Medium"/>
                <a:cs typeface="Avenir Medium"/>
                <a:sym typeface="Avenir Medium"/>
              </a:defRPr>
            </a:pPr>
            <a:r>
              <a:t>Clippy: linting tool (700 rules)</a:t>
            </a:r>
          </a:p>
          <a:p>
            <a:pPr marL="644702" indent="-644702" defTabSz="805100">
              <a:spcBef>
                <a:spcPts val="5000"/>
              </a:spcBef>
              <a:defRPr sz="7154">
                <a:latin typeface="Avenir Medium"/>
                <a:ea typeface="Avenir Medium"/>
                <a:cs typeface="Avenir Medium"/>
                <a:sym typeface="Avenir Medium"/>
              </a:defRPr>
            </a:pPr>
            <a:r>
              <a:t>Rustfmt: code formatter / checker</a:t>
            </a:r>
          </a:p>
          <a:p>
            <a:pPr marL="644702" indent="-644702" defTabSz="805100">
              <a:spcBef>
                <a:spcPts val="5000"/>
              </a:spcBef>
              <a:defRPr sz="7154">
                <a:latin typeface="Avenir Medium"/>
                <a:ea typeface="Avenir Medium"/>
                <a:cs typeface="Avenir Medium"/>
                <a:sym typeface="Avenir Medium"/>
              </a:defRPr>
            </a:pPr>
            <a:r>
              <a:t>Cargo: build / package manager</a:t>
            </a:r>
          </a:p>
        </p:txBody>
      </p:sp>
      <p:sp>
        <p:nvSpPr>
          <p:cNvPr id="303"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16</a:t>
            </a:fld>
            <a:endParaRPr/>
          </a:p>
        </p:txBody>
      </p:sp>
      <p:sp>
        <p:nvSpPr>
          <p:cNvPr id="304"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305" name="Rust Ecosystem"/>
          <p:cNvSpPr txBox="1">
            <a:spLocks noGrp="1"/>
          </p:cNvSpPr>
          <p:nvPr>
            <p:ph type="title"/>
          </p:nvPr>
        </p:nvSpPr>
        <p:spPr>
          <a:xfrm>
            <a:off x="3310566" y="276851"/>
            <a:ext cx="17762868" cy="2469624"/>
          </a:xfrm>
          <a:prstGeom prst="rect">
            <a:avLst/>
          </a:prstGeom>
        </p:spPr>
        <p:txBody>
          <a:bodyPr/>
          <a:lstStyle>
            <a:lvl1pPr algn="ctr">
              <a:defRPr sz="6400" spc="1024">
                <a:solidFill>
                  <a:schemeClr val="accent2">
                    <a:satOff val="44164"/>
                    <a:lumOff val="14231"/>
                  </a:schemeClr>
                </a:solidFill>
                <a:latin typeface="Avenir Heavy"/>
                <a:ea typeface="Avenir Heavy"/>
                <a:cs typeface="Avenir Heavy"/>
                <a:sym typeface="Avenir Heavy"/>
              </a:defRPr>
            </a:lvl1pPr>
          </a:lstStyle>
          <a:p>
            <a:r>
              <a:t>Rust Ecosystem</a:t>
            </a:r>
          </a:p>
        </p:txBody>
      </p:sp>
      <p:pic>
        <p:nvPicPr>
          <p:cNvPr id="306" name="cargo.png" descr="cargo.png"/>
          <p:cNvPicPr>
            <a:picLocks noChangeAspect="1"/>
          </p:cNvPicPr>
          <p:nvPr/>
        </p:nvPicPr>
        <p:blipFill>
          <a:blip r:embed="rId4"/>
          <a:stretch>
            <a:fillRect/>
          </a:stretch>
        </p:blipFill>
        <p:spPr>
          <a:xfrm>
            <a:off x="349234" y="398675"/>
            <a:ext cx="3942238" cy="354286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BUILDING RUST Applications"/>
          <p:cNvSpPr txBox="1">
            <a:spLocks noGrp="1"/>
          </p:cNvSpPr>
          <p:nvPr>
            <p:ph type="title"/>
          </p:nvPr>
        </p:nvSpPr>
        <p:spPr>
          <a:xfrm>
            <a:off x="3976687" y="57150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BUILDING RUST Applications</a:t>
            </a:r>
          </a:p>
        </p:txBody>
      </p:sp>
      <p:sp>
        <p:nvSpPr>
          <p:cNvPr id="311"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sp>
        <p:nvSpPr>
          <p:cNvPr id="312"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313" name="Source: JetBrains State of Developer Ecosystem 2023 : https://www.jetbrains.com/lp/devecosystem-2023/rust/"/>
          <p:cNvSpPr txBox="1"/>
          <p:nvPr/>
        </p:nvSpPr>
        <p:spPr>
          <a:xfrm>
            <a:off x="2907728" y="11886167"/>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JetBrains State of Developer Ecosystem 2023 : https://www.jetbrains.com/lp/devecosystem-2023/rust/</a:t>
            </a:r>
          </a:p>
        </p:txBody>
      </p:sp>
      <p:sp>
        <p:nvSpPr>
          <p:cNvPr id="314" name="Cargo ● Make ● CMake ● Bazel"/>
          <p:cNvSpPr txBox="1"/>
          <p:nvPr/>
        </p:nvSpPr>
        <p:spPr>
          <a:xfrm>
            <a:off x="2907728" y="9502740"/>
            <a:ext cx="17868668" cy="1082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6200">
                <a:solidFill>
                  <a:srgbClr val="00FA95"/>
                </a:solidFill>
                <a:latin typeface="Helvetica"/>
                <a:ea typeface="Helvetica"/>
                <a:cs typeface="Helvetica"/>
                <a:sym typeface="Helvetica"/>
              </a:defRPr>
            </a:pPr>
            <a:r>
              <a:t>Cargo</a:t>
            </a:r>
            <a:r>
              <a:rPr>
                <a:solidFill>
                  <a:srgbClr val="FFFFFF"/>
                </a:solidFill>
              </a:rPr>
              <a:t> ● Make ● CMake ● Bazel</a:t>
            </a:r>
          </a:p>
        </p:txBody>
      </p:sp>
      <p:pic>
        <p:nvPicPr>
          <p:cNvPr id="315" name="Rust-build-tools-black-background-2.png" descr="Rust-build-tools-black-background-2.png"/>
          <p:cNvPicPr>
            <a:picLocks noChangeAspect="1"/>
          </p:cNvPicPr>
          <p:nvPr/>
        </p:nvPicPr>
        <p:blipFill>
          <a:blip r:embed="rId3"/>
          <a:stretch>
            <a:fillRect/>
          </a:stretch>
        </p:blipFill>
        <p:spPr>
          <a:xfrm>
            <a:off x="812800" y="3073400"/>
            <a:ext cx="22758400" cy="5646219"/>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RUST Crates"/>
          <p:cNvSpPr txBox="1">
            <a:spLocks noGrp="1"/>
          </p:cNvSpPr>
          <p:nvPr>
            <p:ph type="title"/>
          </p:nvPr>
        </p:nvSpPr>
        <p:spPr>
          <a:xfrm>
            <a:off x="3976687" y="576651"/>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RUST Crates</a:t>
            </a:r>
          </a:p>
        </p:txBody>
      </p:sp>
      <p:sp>
        <p:nvSpPr>
          <p:cNvPr id="318"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18</a:t>
            </a:fld>
            <a:endParaRPr/>
          </a:p>
        </p:txBody>
      </p:sp>
      <p:sp>
        <p:nvSpPr>
          <p:cNvPr id="319"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320" name="Source: The Rust community’s crate registry : https://crates.io/"/>
          <p:cNvSpPr txBox="1"/>
          <p:nvPr/>
        </p:nvSpPr>
        <p:spPr>
          <a:xfrm>
            <a:off x="2907728" y="11886167"/>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The Rust community’s crate registry : https://crates.io/</a:t>
            </a:r>
          </a:p>
        </p:txBody>
      </p:sp>
      <p:pic>
        <p:nvPicPr>
          <p:cNvPr id="321" name="Rust-Crates-io-website.png" descr="Rust-Crates-io-website.png"/>
          <p:cNvPicPr>
            <a:picLocks noChangeAspect="1"/>
          </p:cNvPicPr>
          <p:nvPr/>
        </p:nvPicPr>
        <p:blipFill>
          <a:blip r:embed="rId4"/>
          <a:stretch>
            <a:fillRect/>
          </a:stretch>
        </p:blipFill>
        <p:spPr>
          <a:xfrm>
            <a:off x="3626749" y="1995876"/>
            <a:ext cx="16430626" cy="9724248"/>
          </a:xfrm>
          <a:prstGeom prst="rect">
            <a:avLst/>
          </a:prstGeom>
          <a:ln w="12700">
            <a:miter lim="400000"/>
          </a:ln>
        </p:spPr>
      </p:pic>
      <p:pic>
        <p:nvPicPr>
          <p:cNvPr id="322" name="cargo.png" descr="cargo.png"/>
          <p:cNvPicPr>
            <a:picLocks noChangeAspect="1"/>
          </p:cNvPicPr>
          <p:nvPr/>
        </p:nvPicPr>
        <p:blipFill>
          <a:blip r:embed="rId5"/>
          <a:stretch>
            <a:fillRect/>
          </a:stretch>
        </p:blipFill>
        <p:spPr>
          <a:xfrm>
            <a:off x="-78884" y="-97459"/>
            <a:ext cx="3942238" cy="354286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19</a:t>
            </a:fld>
            <a:endParaRPr/>
          </a:p>
        </p:txBody>
      </p:sp>
      <p:sp>
        <p:nvSpPr>
          <p:cNvPr id="327"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328" name="Source: 2023 Annual Rust Survey Results : https://blog.rust-lang.org/2024/02/19/2023-Rust-Annual-Survey-2023-results.html"/>
          <p:cNvSpPr txBox="1"/>
          <p:nvPr/>
        </p:nvSpPr>
        <p:spPr>
          <a:xfrm>
            <a:off x="2827488" y="12261970"/>
            <a:ext cx="18729024" cy="5443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2600">
                <a:latin typeface="Helvetica"/>
                <a:ea typeface="Helvetica"/>
                <a:cs typeface="Helvetica"/>
                <a:sym typeface="Helvetica"/>
              </a:defRPr>
            </a:pPr>
            <a:r>
              <a:rPr dirty="0"/>
              <a:t>Source: 2023 Annual Rust Survey Results : </a:t>
            </a:r>
            <a:r>
              <a:rPr u="sng" dirty="0">
                <a:solidFill>
                  <a:schemeClr val="tx1"/>
                </a:solidFill>
                <a:hlinkClick r:id="rId3">
                  <a:extLst>
                    <a:ext uri="{A12FA001-AC4F-418D-AE19-62706E023703}">
                      <ahyp:hlinkClr xmlns:ahyp="http://schemas.microsoft.com/office/drawing/2018/hyperlinkcolor" val="tx"/>
                    </a:ext>
                  </a:extLst>
                </a:hlinkClick>
              </a:rPr>
              <a:t>https://blog.rust-lang.org/2024/02/19/2023-Rust-Annual-Survey-2023-results.html</a:t>
            </a:r>
            <a:r>
              <a:rPr dirty="0">
                <a:solidFill>
                  <a:schemeClr val="tx1"/>
                </a:solidFill>
              </a:rPr>
              <a:t> </a:t>
            </a:r>
          </a:p>
        </p:txBody>
      </p:sp>
      <p:sp>
        <p:nvSpPr>
          <p:cNvPr id="329" name="RUST IDE"/>
          <p:cNvSpPr txBox="1">
            <a:spLocks noGrp="1"/>
          </p:cNvSpPr>
          <p:nvPr>
            <p:ph type="title"/>
          </p:nvPr>
        </p:nvSpPr>
        <p:spPr>
          <a:xfrm>
            <a:off x="3976687" y="372717"/>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RUST IDE</a:t>
            </a:r>
          </a:p>
        </p:txBody>
      </p:sp>
      <p:pic>
        <p:nvPicPr>
          <p:cNvPr id="330" name="what-ide-do-you-use-black-bg.png" descr="what-ide-do-you-use-black-bg.png"/>
          <p:cNvPicPr>
            <a:picLocks noChangeAspect="1"/>
          </p:cNvPicPr>
          <p:nvPr/>
        </p:nvPicPr>
        <p:blipFill>
          <a:blip r:embed="rId4"/>
          <a:stretch>
            <a:fillRect/>
          </a:stretch>
        </p:blipFill>
        <p:spPr>
          <a:xfrm>
            <a:off x="5378475" y="1409363"/>
            <a:ext cx="13627050" cy="10897274"/>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Rust / Java Language Features"/>
          <p:cNvSpPr txBox="1">
            <a:spLocks noGrp="1"/>
          </p:cNvSpPr>
          <p:nvPr>
            <p:ph type="title"/>
          </p:nvPr>
        </p:nvSpPr>
        <p:spPr>
          <a:xfrm>
            <a:off x="2418285" y="5437985"/>
            <a:ext cx="19167511" cy="2469624"/>
          </a:xfrm>
          <a:prstGeom prst="rect">
            <a:avLst/>
          </a:prstGeom>
        </p:spPr>
        <p:txBody>
          <a:bodyPr/>
          <a:lstStyle>
            <a:lvl1pPr algn="ctr" defTabSz="501134">
              <a:defRPr sz="6832" spc="1093">
                <a:solidFill>
                  <a:schemeClr val="accent2">
                    <a:satOff val="44164"/>
                    <a:lumOff val="14231"/>
                  </a:schemeClr>
                </a:solidFill>
                <a:latin typeface="Avenir Heavy"/>
                <a:ea typeface="Avenir Heavy"/>
                <a:cs typeface="Avenir Heavy"/>
                <a:sym typeface="Avenir Heavy"/>
              </a:defRPr>
            </a:lvl1pPr>
          </a:lstStyle>
          <a:p>
            <a:r>
              <a:t>Rust / Java Language Features</a:t>
            </a:r>
          </a:p>
        </p:txBody>
      </p:sp>
      <p:sp>
        <p:nvSpPr>
          <p:cNvPr id="333"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20</a:t>
            </a:fld>
            <a:endParaRPr/>
          </a:p>
        </p:txBody>
      </p:sp>
      <p:sp>
        <p:nvSpPr>
          <p:cNvPr id="334"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335" name="Java-Icon.png" descr="Java-Icon.png"/>
          <p:cNvPicPr>
            <a:picLocks noChangeAspect="1"/>
          </p:cNvPicPr>
          <p:nvPr/>
        </p:nvPicPr>
        <p:blipFill>
          <a:blip r:embed="rId3"/>
          <a:stretch>
            <a:fillRect/>
          </a:stretch>
        </p:blipFill>
        <p:spPr>
          <a:xfrm>
            <a:off x="2322942" y="6917492"/>
            <a:ext cx="2480844" cy="2819142"/>
          </a:xfrm>
          <a:prstGeom prst="rect">
            <a:avLst/>
          </a:prstGeom>
          <a:ln w="12700">
            <a:miter lim="400000"/>
          </a:ln>
        </p:spPr>
      </p:pic>
      <p:pic>
        <p:nvPicPr>
          <p:cNvPr id="336" name="Rust-Icon.png" descr="Rust-Icon.png"/>
          <p:cNvPicPr>
            <a:picLocks noChangeAspect="1"/>
          </p:cNvPicPr>
          <p:nvPr/>
        </p:nvPicPr>
        <p:blipFill>
          <a:blip r:embed="rId4"/>
          <a:stretch>
            <a:fillRect/>
          </a:stretch>
        </p:blipFill>
        <p:spPr>
          <a:xfrm>
            <a:off x="2322942" y="2366151"/>
            <a:ext cx="2480844" cy="281914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 name="Java_Logo-No-Text-correct-colors.svg" descr="Java_Logo-No-Text-correct-colors.svg"/>
          <p:cNvPicPr>
            <a:picLocks noChangeAspect="1"/>
          </p:cNvPicPr>
          <p:nvPr/>
        </p:nvPicPr>
        <p:blipFill>
          <a:blip r:embed="rId2"/>
          <a:stretch>
            <a:fillRect/>
          </a:stretch>
        </p:blipFill>
        <p:spPr>
          <a:xfrm>
            <a:off x="3074245" y="284091"/>
            <a:ext cx="2266995" cy="4216401"/>
          </a:xfrm>
          <a:prstGeom prst="rect">
            <a:avLst/>
          </a:prstGeom>
          <a:ln w="12700">
            <a:miter lim="400000"/>
          </a:ln>
        </p:spPr>
      </p:pic>
      <p:sp>
        <p:nvSpPr>
          <p:cNvPr id="339" name="JAVA Features Not Rust"/>
          <p:cNvSpPr txBox="1">
            <a:spLocks noGrp="1"/>
          </p:cNvSpPr>
          <p:nvPr>
            <p:ph type="title"/>
          </p:nvPr>
        </p:nvSpPr>
        <p:spPr>
          <a:xfrm>
            <a:off x="3802752" y="1648142"/>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JAVA Features Not Rust</a:t>
            </a:r>
          </a:p>
        </p:txBody>
      </p:sp>
      <p:sp>
        <p:nvSpPr>
          <p:cNvPr id="340"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21</a:t>
            </a:fld>
            <a:endParaRPr/>
          </a:p>
        </p:txBody>
      </p:sp>
      <p:sp>
        <p:nvSpPr>
          <p:cNvPr id="341"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342" name="Rust_programming_language_55d7ff_logo.png" descr="Rust_programming_language_55d7ff_logo.png"/>
          <p:cNvPicPr>
            <a:picLocks noChangeAspect="1"/>
          </p:cNvPicPr>
          <p:nvPr/>
        </p:nvPicPr>
        <p:blipFill>
          <a:blip r:embed="rId4"/>
          <a:stretch>
            <a:fillRect/>
          </a:stretch>
        </p:blipFill>
        <p:spPr>
          <a:xfrm>
            <a:off x="18668812" y="926289"/>
            <a:ext cx="2490990" cy="2490990"/>
          </a:xfrm>
          <a:prstGeom prst="rect">
            <a:avLst/>
          </a:prstGeom>
          <a:ln w="12700">
            <a:miter lim="400000"/>
          </a:ln>
        </p:spPr>
      </p:pic>
      <p:sp>
        <p:nvSpPr>
          <p:cNvPr id="343" name="Garbage Collector…"/>
          <p:cNvSpPr txBox="1">
            <a:spLocks noGrp="1"/>
          </p:cNvSpPr>
          <p:nvPr>
            <p:ph type="body" sz="quarter" idx="1"/>
          </p:nvPr>
        </p:nvSpPr>
        <p:spPr>
          <a:xfrm>
            <a:off x="8475667" y="3727193"/>
            <a:ext cx="8838650" cy="6856509"/>
          </a:xfrm>
          <a:prstGeom prst="rect">
            <a:avLst/>
          </a:prstGeom>
        </p:spPr>
        <p:txBody>
          <a:bodyPr anchor="t"/>
          <a:lstStyle/>
          <a:p>
            <a:pPr marL="592073" indent="-592073" defTabSz="739378">
              <a:spcBef>
                <a:spcPts val="4600"/>
              </a:spcBef>
              <a:defRPr sz="5040">
                <a:latin typeface="Avenir Medium"/>
                <a:ea typeface="Avenir Medium"/>
                <a:cs typeface="Avenir Medium"/>
                <a:sym typeface="Avenir Medium"/>
              </a:defRPr>
            </a:pPr>
            <a:r>
              <a:t>Garbage Collector</a:t>
            </a:r>
          </a:p>
          <a:p>
            <a:pPr marL="592073" indent="-592073" defTabSz="739378">
              <a:spcBef>
                <a:spcPts val="4600"/>
              </a:spcBef>
              <a:defRPr sz="5040">
                <a:latin typeface="Avenir Medium"/>
                <a:ea typeface="Avenir Medium"/>
                <a:cs typeface="Avenir Medium"/>
                <a:sym typeface="Avenir Medium"/>
              </a:defRPr>
            </a:pPr>
            <a:r>
              <a:t>Inheritance</a:t>
            </a:r>
          </a:p>
          <a:p>
            <a:pPr marL="592073" indent="-592073" defTabSz="739378">
              <a:spcBef>
                <a:spcPts val="4600"/>
              </a:spcBef>
              <a:defRPr sz="5040">
                <a:latin typeface="Avenir Medium"/>
                <a:ea typeface="Avenir Medium"/>
                <a:cs typeface="Avenir Medium"/>
                <a:sym typeface="Avenir Medium"/>
              </a:defRPr>
            </a:pPr>
            <a:r>
              <a:t>Exceptions</a:t>
            </a:r>
          </a:p>
          <a:p>
            <a:pPr marL="592073" indent="-592073" defTabSz="739378">
              <a:spcBef>
                <a:spcPts val="4600"/>
              </a:spcBef>
              <a:defRPr sz="5040">
                <a:latin typeface="Avenir Medium"/>
                <a:ea typeface="Avenir Medium"/>
                <a:cs typeface="Avenir Medium"/>
                <a:sym typeface="Avenir Medium"/>
              </a:defRPr>
            </a:pPr>
            <a:r>
              <a:t>Reflection</a:t>
            </a:r>
          </a:p>
          <a:p>
            <a:pPr marL="592073" indent="-592073" defTabSz="739378">
              <a:spcBef>
                <a:spcPts val="4600"/>
              </a:spcBef>
              <a:defRPr sz="5040">
                <a:latin typeface="Avenir Medium"/>
                <a:ea typeface="Avenir Medium"/>
                <a:cs typeface="Avenir Medium"/>
                <a:sym typeface="Avenir Medium"/>
              </a:defRPr>
            </a:pPr>
            <a:r>
              <a:t>Null references</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 grpId="1"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A String IN RUST Compared to Java"/>
          <p:cNvSpPr txBox="1">
            <a:spLocks noGrp="1"/>
          </p:cNvSpPr>
          <p:nvPr>
            <p:ph type="title"/>
          </p:nvPr>
        </p:nvSpPr>
        <p:spPr>
          <a:xfrm>
            <a:off x="319326" y="332828"/>
            <a:ext cx="23745347" cy="2863116"/>
          </a:xfrm>
          <a:prstGeom prst="rect">
            <a:avLst/>
          </a:prstGeom>
        </p:spPr>
        <p:txBody>
          <a:bodyPr/>
          <a:lstStyle/>
          <a:p>
            <a:pPr algn="ctr" defTabSz="673655">
              <a:defRPr sz="5248" spc="839">
                <a:solidFill>
                  <a:schemeClr val="accent2">
                    <a:satOff val="44164"/>
                    <a:lumOff val="14231"/>
                  </a:schemeClr>
                </a:solidFill>
                <a:latin typeface="Avenir Heavy"/>
                <a:ea typeface="Avenir Heavy"/>
                <a:cs typeface="Avenir Heavy"/>
                <a:sym typeface="Avenir Heavy"/>
              </a:defRPr>
            </a:pPr>
            <a:endParaRPr/>
          </a:p>
          <a:p>
            <a:pPr algn="ctr" defTabSz="673655">
              <a:defRPr sz="5248" spc="839">
                <a:solidFill>
                  <a:schemeClr val="accent2">
                    <a:satOff val="44164"/>
                    <a:lumOff val="14231"/>
                  </a:schemeClr>
                </a:solidFill>
                <a:latin typeface="Avenir Heavy"/>
                <a:ea typeface="Avenir Heavy"/>
                <a:cs typeface="Avenir Heavy"/>
                <a:sym typeface="Avenir Heavy"/>
              </a:defRPr>
            </a:pPr>
            <a:r>
              <a:t>A String IN RUST Compared to Java</a:t>
            </a:r>
          </a:p>
        </p:txBody>
      </p:sp>
      <p:sp>
        <p:nvSpPr>
          <p:cNvPr id="346" name="Strings are encoded in UTF-8…"/>
          <p:cNvSpPr txBox="1">
            <a:spLocks noGrp="1"/>
          </p:cNvSpPr>
          <p:nvPr>
            <p:ph type="body" sz="half" idx="1"/>
          </p:nvPr>
        </p:nvSpPr>
        <p:spPr>
          <a:xfrm>
            <a:off x="4337403" y="3493988"/>
            <a:ext cx="16511916" cy="7766715"/>
          </a:xfrm>
          <a:prstGeom prst="rect">
            <a:avLst/>
          </a:prstGeom>
        </p:spPr>
        <p:txBody>
          <a:bodyPr anchor="t"/>
          <a:lstStyle/>
          <a:p>
            <a:pPr marL="427608" indent="-427608" defTabSz="533995">
              <a:spcBef>
                <a:spcPts val="3300"/>
              </a:spcBef>
              <a:defRPr sz="4744">
                <a:latin typeface="Avenir Medium"/>
                <a:ea typeface="Avenir Medium"/>
                <a:cs typeface="Avenir Medium"/>
                <a:sym typeface="Avenir Medium"/>
              </a:defRPr>
            </a:pPr>
            <a:r>
              <a:t>Strings are encoded in UTF-8</a:t>
            </a:r>
          </a:p>
          <a:p>
            <a:pPr marL="427608" indent="-427608" defTabSz="533995">
              <a:spcBef>
                <a:spcPts val="3300"/>
              </a:spcBef>
              <a:defRPr sz="4744">
                <a:latin typeface="Avenir Medium"/>
                <a:ea typeface="Avenir Medium"/>
                <a:cs typeface="Avenir Medium"/>
                <a:sym typeface="Avenir Medium"/>
              </a:defRPr>
            </a:pPr>
            <a:r>
              <a:rPr>
                <a:latin typeface="Avenir Heavy"/>
                <a:ea typeface="Avenir Heavy"/>
                <a:cs typeface="Avenir Heavy"/>
                <a:sym typeface="Avenir Heavy"/>
              </a:rPr>
              <a:t>String</a:t>
            </a:r>
            <a:r>
              <a:t> when you need an owned, mutable string.</a:t>
            </a:r>
          </a:p>
          <a:p>
            <a:pPr marL="427608" indent="-427608" defTabSz="533995">
              <a:spcBef>
                <a:spcPts val="3300"/>
              </a:spcBef>
              <a:defRPr sz="4744">
                <a:latin typeface="Avenir Medium"/>
                <a:ea typeface="Avenir Medium"/>
                <a:cs typeface="Avenir Medium"/>
                <a:sym typeface="Avenir Medium"/>
              </a:defRPr>
            </a:pPr>
            <a:r>
              <a:rPr>
                <a:latin typeface="Avenir Heavy"/>
                <a:ea typeface="Avenir Heavy"/>
                <a:cs typeface="Avenir Heavy"/>
                <a:sym typeface="Avenir Heavy"/>
              </a:rPr>
              <a:t>&amp;str</a:t>
            </a:r>
            <a:r>
              <a:t> for borrowing or when working with literals.</a:t>
            </a:r>
          </a:p>
          <a:p>
            <a:pPr marL="427608" indent="-427608" defTabSz="533995">
              <a:spcBef>
                <a:spcPts val="3300"/>
              </a:spcBef>
              <a:defRPr sz="4744">
                <a:latin typeface="Avenir Medium"/>
                <a:ea typeface="Avenir Medium"/>
                <a:cs typeface="Avenir Medium"/>
                <a:sym typeface="Avenir Medium"/>
              </a:defRPr>
            </a:pPr>
            <a:r>
              <a:rPr>
                <a:latin typeface="Avenir Heavy"/>
                <a:ea typeface="Avenir Heavy"/>
                <a:cs typeface="Avenir Heavy"/>
                <a:sym typeface="Avenir Heavy"/>
              </a:rPr>
              <a:t>CString</a:t>
            </a:r>
            <a:r>
              <a:t> for C interoperability.</a:t>
            </a:r>
          </a:p>
          <a:p>
            <a:pPr marL="427608" indent="-427608" defTabSz="533995">
              <a:spcBef>
                <a:spcPts val="3300"/>
              </a:spcBef>
              <a:defRPr sz="4744">
                <a:latin typeface="Avenir Medium"/>
                <a:ea typeface="Avenir Medium"/>
                <a:cs typeface="Avenir Medium"/>
                <a:sym typeface="Avenir Medium"/>
              </a:defRPr>
            </a:pPr>
            <a:r>
              <a:rPr>
                <a:latin typeface="Avenir Heavy"/>
                <a:ea typeface="Avenir Heavy"/>
                <a:cs typeface="Avenir Heavy"/>
                <a:sym typeface="Avenir Heavy"/>
              </a:rPr>
              <a:t>OsString</a:t>
            </a:r>
            <a:r>
              <a:t> and </a:t>
            </a:r>
            <a:r>
              <a:rPr>
                <a:latin typeface="Avenir Heavy"/>
                <a:ea typeface="Avenir Heavy"/>
                <a:cs typeface="Avenir Heavy"/>
                <a:sym typeface="Avenir Heavy"/>
              </a:rPr>
              <a:t>OsStr</a:t>
            </a:r>
            <a:r>
              <a:t> for platform-specific needs.</a:t>
            </a:r>
          </a:p>
          <a:p>
            <a:pPr marL="427608" indent="-427608" defTabSz="533995">
              <a:spcBef>
                <a:spcPts val="3300"/>
              </a:spcBef>
              <a:defRPr sz="4744">
                <a:latin typeface="Avenir Medium"/>
                <a:ea typeface="Avenir Medium"/>
                <a:cs typeface="Avenir Medium"/>
                <a:sym typeface="Avenir Medium"/>
              </a:defRPr>
            </a:pPr>
            <a:r>
              <a:t>Cow&lt;str&gt; for efficient shared and owned string scenarios.</a:t>
            </a:r>
          </a:p>
        </p:txBody>
      </p:sp>
      <p:sp>
        <p:nvSpPr>
          <p:cNvPr id="347"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22</a:t>
            </a:fld>
            <a:endParaRPr/>
          </a:p>
        </p:txBody>
      </p:sp>
      <p:sp>
        <p:nvSpPr>
          <p:cNvPr id="348"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RUST Traits / Java INTERFACE"/>
          <p:cNvSpPr txBox="1">
            <a:spLocks noGrp="1"/>
          </p:cNvSpPr>
          <p:nvPr>
            <p:ph type="title"/>
          </p:nvPr>
        </p:nvSpPr>
        <p:spPr>
          <a:xfrm>
            <a:off x="319327" y="399262"/>
            <a:ext cx="23745346" cy="1843076"/>
          </a:xfrm>
          <a:prstGeom prst="rect">
            <a:avLst/>
          </a:prstGeom>
        </p:spPr>
        <p:txBody>
          <a:bodyPr/>
          <a:lstStyle>
            <a:lvl1pPr algn="ctr">
              <a:defRPr sz="6400" spc="1024">
                <a:solidFill>
                  <a:schemeClr val="accent2">
                    <a:satOff val="44164"/>
                    <a:lumOff val="14231"/>
                  </a:schemeClr>
                </a:solidFill>
                <a:latin typeface="Avenir Heavy"/>
                <a:ea typeface="Avenir Heavy"/>
                <a:cs typeface="Avenir Heavy"/>
                <a:sym typeface="Avenir Heavy"/>
              </a:defRPr>
            </a:lvl1pPr>
          </a:lstStyle>
          <a:p>
            <a:r>
              <a:t>RUST Traits / Java INTERFACE</a:t>
            </a:r>
          </a:p>
        </p:txBody>
      </p:sp>
      <p:sp>
        <p:nvSpPr>
          <p:cNvPr id="353"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23</a:t>
            </a:fld>
            <a:endParaRPr/>
          </a:p>
        </p:txBody>
      </p:sp>
      <p:sp>
        <p:nvSpPr>
          <p:cNvPr id="354"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355" name="trait Animal {…"/>
          <p:cNvSpPr txBox="1"/>
          <p:nvPr/>
        </p:nvSpPr>
        <p:spPr>
          <a:xfrm>
            <a:off x="4858663" y="3084512"/>
            <a:ext cx="6231450" cy="754697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lgn="l" defTabSz="457200">
              <a:defRPr sz="4400">
                <a:solidFill>
                  <a:srgbClr val="252525"/>
                </a:solidFill>
                <a:latin typeface="Times Roman"/>
                <a:ea typeface="Times Roman"/>
                <a:cs typeface="Times Roman"/>
                <a:sym typeface="Times Roman"/>
              </a:defRPr>
            </a:pPr>
            <a:r>
              <a:rPr>
                <a:solidFill>
                  <a:schemeClr val="accent6">
                    <a:satOff val="16558"/>
                    <a:lumOff val="8431"/>
                  </a:schemeClr>
                </a:solidFill>
              </a:rPr>
              <a:t>trait </a:t>
            </a:r>
            <a:r>
              <a:rPr>
                <a:solidFill>
                  <a:schemeClr val="accent1">
                    <a:hueOff val="-297087"/>
                    <a:satOff val="11340"/>
                    <a:lumOff val="7366"/>
                  </a:schemeClr>
                </a:solidFill>
              </a:rPr>
              <a:t>Animal</a:t>
            </a:r>
            <a:r>
              <a:rPr>
                <a:solidFill>
                  <a:srgbClr val="000000"/>
                </a:solidFill>
              </a:rPr>
              <a:t> {</a:t>
            </a:r>
          </a:p>
          <a:p>
            <a:pPr algn="l" defTabSz="457200">
              <a:defRPr sz="4400">
                <a:solidFill>
                  <a:srgbClr val="252525"/>
                </a:solidFill>
                <a:latin typeface="Times Roman"/>
                <a:ea typeface="Times Roman"/>
                <a:cs typeface="Times Roman"/>
                <a:sym typeface="Times Roman"/>
              </a:defRPr>
            </a:pPr>
            <a:r>
              <a:rPr>
                <a:solidFill>
                  <a:srgbClr val="000000"/>
                </a:solidFill>
              </a:rPr>
              <a:t>    </a:t>
            </a:r>
            <a:r>
              <a:rPr>
                <a:solidFill>
                  <a:schemeClr val="accent6">
                    <a:satOff val="16558"/>
                    <a:lumOff val="8431"/>
                  </a:schemeClr>
                </a:solidFill>
              </a:rPr>
              <a:t>fn</a:t>
            </a:r>
            <a:r>
              <a:rPr>
                <a:solidFill>
                  <a:srgbClr val="000000"/>
                </a:solidFill>
              </a:rPr>
              <a:t> </a:t>
            </a:r>
            <a:r>
              <a:rPr>
                <a:solidFill>
                  <a:schemeClr val="accent1">
                    <a:hueOff val="-297087"/>
                    <a:satOff val="11340"/>
                    <a:lumOff val="7366"/>
                  </a:schemeClr>
                </a:solidFill>
              </a:rPr>
              <a:t>speak</a:t>
            </a:r>
            <a:r>
              <a:rPr>
                <a:solidFill>
                  <a:srgbClr val="000000"/>
                </a:solidFill>
              </a:rPr>
              <a:t>(&amp;</a:t>
            </a:r>
            <a:r>
              <a:rPr>
                <a:solidFill>
                  <a:schemeClr val="accent6">
                    <a:satOff val="16558"/>
                    <a:lumOff val="8431"/>
                  </a:schemeClr>
                </a:solidFill>
              </a:rPr>
              <a:t>self</a:t>
            </a:r>
            <a:r>
              <a:rPr>
                <a:solidFill>
                  <a:srgbClr val="000000"/>
                </a:solidFill>
              </a:rPr>
              <a:t>);</a:t>
            </a:r>
          </a:p>
          <a:p>
            <a:pPr algn="l" defTabSz="457200">
              <a:defRPr sz="4400">
                <a:solidFill>
                  <a:srgbClr val="252525"/>
                </a:solidFill>
                <a:latin typeface="Times Roman"/>
                <a:ea typeface="Times Roman"/>
                <a:cs typeface="Times Roman"/>
                <a:sym typeface="Times Roman"/>
              </a:defRPr>
            </a:pPr>
            <a:r>
              <a:rPr>
                <a:solidFill>
                  <a:srgbClr val="000000"/>
                </a:solidFill>
              </a:rPr>
              <a:t>}</a:t>
            </a:r>
          </a:p>
          <a:p>
            <a:pPr algn="l" defTabSz="457200">
              <a:defRPr sz="4400">
                <a:solidFill>
                  <a:srgbClr val="252525"/>
                </a:solidFill>
                <a:latin typeface="Times Roman"/>
                <a:ea typeface="Times Roman"/>
                <a:cs typeface="Times Roman"/>
                <a:sym typeface="Times Roman"/>
              </a:defRPr>
            </a:pPr>
            <a:endParaRPr>
              <a:solidFill>
                <a:srgbClr val="000000"/>
              </a:solidFill>
            </a:endParaRPr>
          </a:p>
          <a:p>
            <a:pPr algn="l" defTabSz="457200">
              <a:defRPr sz="4400">
                <a:solidFill>
                  <a:srgbClr val="252525"/>
                </a:solidFill>
                <a:latin typeface="Times Roman"/>
                <a:ea typeface="Times Roman"/>
                <a:cs typeface="Times Roman"/>
                <a:sym typeface="Times Roman"/>
              </a:defRPr>
            </a:pPr>
            <a:r>
              <a:rPr>
                <a:solidFill>
                  <a:schemeClr val="accent6">
                    <a:satOff val="16558"/>
                    <a:lumOff val="8431"/>
                  </a:schemeClr>
                </a:solidFill>
              </a:rPr>
              <a:t>struct </a:t>
            </a:r>
            <a:r>
              <a:rPr>
                <a:solidFill>
                  <a:srgbClr val="000000"/>
                </a:solidFill>
              </a:rPr>
              <a:t>Dog;</a:t>
            </a:r>
          </a:p>
          <a:p>
            <a:pPr algn="l" defTabSz="457200">
              <a:defRPr sz="4400">
                <a:solidFill>
                  <a:srgbClr val="252525"/>
                </a:solidFill>
                <a:latin typeface="Times Roman"/>
                <a:ea typeface="Times Roman"/>
                <a:cs typeface="Times Roman"/>
                <a:sym typeface="Times Roman"/>
              </a:defRPr>
            </a:pPr>
            <a:endParaRPr>
              <a:solidFill>
                <a:srgbClr val="000000"/>
              </a:solidFill>
            </a:endParaRPr>
          </a:p>
          <a:p>
            <a:pPr algn="l" defTabSz="457200">
              <a:defRPr sz="4400">
                <a:solidFill>
                  <a:srgbClr val="252525"/>
                </a:solidFill>
                <a:latin typeface="Times Roman"/>
                <a:ea typeface="Times Roman"/>
                <a:cs typeface="Times Roman"/>
                <a:sym typeface="Times Roman"/>
              </a:defRPr>
            </a:pPr>
            <a:r>
              <a:rPr>
                <a:solidFill>
                  <a:schemeClr val="accent6">
                    <a:satOff val="16558"/>
                    <a:lumOff val="8431"/>
                  </a:schemeClr>
                </a:solidFill>
              </a:rPr>
              <a:t>impl </a:t>
            </a:r>
            <a:r>
              <a:rPr>
                <a:solidFill>
                  <a:schemeClr val="accent1">
                    <a:hueOff val="-297087"/>
                    <a:satOff val="11340"/>
                    <a:lumOff val="7366"/>
                  </a:schemeClr>
                </a:solidFill>
              </a:rPr>
              <a:t>Animal</a:t>
            </a:r>
            <a:r>
              <a:rPr>
                <a:solidFill>
                  <a:srgbClr val="000000"/>
                </a:solidFill>
              </a:rPr>
              <a:t> </a:t>
            </a:r>
            <a:r>
              <a:rPr>
                <a:solidFill>
                  <a:schemeClr val="accent6">
                    <a:satOff val="16558"/>
                    <a:lumOff val="8431"/>
                  </a:schemeClr>
                </a:solidFill>
              </a:rPr>
              <a:t>for </a:t>
            </a:r>
            <a:r>
              <a:rPr>
                <a:solidFill>
                  <a:schemeClr val="accent1">
                    <a:hueOff val="-297087"/>
                    <a:satOff val="11340"/>
                    <a:lumOff val="7366"/>
                  </a:schemeClr>
                </a:solidFill>
              </a:rPr>
              <a:t>Dog</a:t>
            </a:r>
            <a:r>
              <a:rPr>
                <a:solidFill>
                  <a:srgbClr val="000000"/>
                </a:solidFill>
              </a:rPr>
              <a:t>{</a:t>
            </a:r>
          </a:p>
          <a:p>
            <a:pPr algn="l" defTabSz="457200">
              <a:defRPr sz="4400">
                <a:solidFill>
                  <a:srgbClr val="252525"/>
                </a:solidFill>
                <a:latin typeface="Times Roman"/>
                <a:ea typeface="Times Roman"/>
                <a:cs typeface="Times Roman"/>
                <a:sym typeface="Times Roman"/>
              </a:defRPr>
            </a:pPr>
            <a:r>
              <a:rPr>
                <a:solidFill>
                  <a:srgbClr val="000000"/>
                </a:solidFill>
              </a:rPr>
              <a:t>    </a:t>
            </a:r>
            <a:r>
              <a:rPr>
                <a:solidFill>
                  <a:schemeClr val="accent6">
                    <a:satOff val="16558"/>
                    <a:lumOff val="8431"/>
                  </a:schemeClr>
                </a:solidFill>
              </a:rPr>
              <a:t>fn</a:t>
            </a:r>
            <a:r>
              <a:rPr>
                <a:solidFill>
                  <a:srgbClr val="000000"/>
                </a:solidFill>
              </a:rPr>
              <a:t> </a:t>
            </a:r>
            <a:r>
              <a:rPr>
                <a:solidFill>
                  <a:schemeClr val="accent1">
                    <a:hueOff val="-297087"/>
                    <a:satOff val="11340"/>
                    <a:lumOff val="7366"/>
                  </a:schemeClr>
                </a:solidFill>
              </a:rPr>
              <a:t>speak</a:t>
            </a:r>
            <a:r>
              <a:rPr>
                <a:solidFill>
                  <a:srgbClr val="000000"/>
                </a:solidFill>
              </a:rPr>
              <a:t>(&amp;</a:t>
            </a:r>
            <a:r>
              <a:rPr>
                <a:solidFill>
                  <a:schemeClr val="accent6">
                    <a:satOff val="16558"/>
                    <a:lumOff val="8431"/>
                  </a:schemeClr>
                </a:solidFill>
              </a:rPr>
              <a:t>self</a:t>
            </a:r>
            <a:r>
              <a:rPr>
                <a:solidFill>
                  <a:srgbClr val="000000"/>
                </a:solidFill>
              </a:rPr>
              <a:t>) {</a:t>
            </a:r>
          </a:p>
          <a:p>
            <a:pPr algn="l" defTabSz="457200">
              <a:defRPr sz="4400">
                <a:solidFill>
                  <a:srgbClr val="252525"/>
                </a:solidFill>
                <a:latin typeface="Times Roman"/>
                <a:ea typeface="Times Roman"/>
                <a:cs typeface="Times Roman"/>
                <a:sym typeface="Times Roman"/>
              </a:defRPr>
            </a:pPr>
            <a:r>
              <a:rPr>
                <a:solidFill>
                  <a:srgbClr val="000000"/>
                </a:solidFill>
              </a:rPr>
              <a:t>        </a:t>
            </a:r>
            <a:r>
              <a:rPr>
                <a:solidFill>
                  <a:srgbClr val="B21E00"/>
                </a:solidFill>
              </a:rPr>
              <a:t>println!</a:t>
            </a:r>
            <a:r>
              <a:rPr>
                <a:solidFill>
                  <a:srgbClr val="000000"/>
                </a:solidFill>
              </a:rPr>
              <a:t>(“</a:t>
            </a:r>
            <a:r>
              <a:rPr>
                <a:solidFill>
                  <a:schemeClr val="accent3">
                    <a:lumOff val="5212"/>
                  </a:schemeClr>
                </a:solidFill>
              </a:rPr>
              <a:t>Woof!</a:t>
            </a:r>
            <a:r>
              <a:rPr>
                <a:solidFill>
                  <a:srgbClr val="000000"/>
                </a:solidFill>
              </a:rPr>
              <a:t>");</a:t>
            </a:r>
            <a:endParaRPr>
              <a:solidFill>
                <a:srgbClr val="4F4F4F"/>
              </a:solidFill>
            </a:endParaRPr>
          </a:p>
          <a:p>
            <a:pPr algn="l" defTabSz="457200">
              <a:defRPr sz="4400">
                <a:solidFill>
                  <a:srgbClr val="252525"/>
                </a:solidFill>
                <a:latin typeface="Times Roman"/>
                <a:ea typeface="Times Roman"/>
                <a:cs typeface="Times Roman"/>
                <a:sym typeface="Times Roman"/>
              </a:defRPr>
            </a:pPr>
            <a:r>
              <a:rPr>
                <a:solidFill>
                  <a:srgbClr val="000000"/>
                </a:solidFill>
              </a:rPr>
              <a:t>    }</a:t>
            </a:r>
          </a:p>
          <a:p>
            <a:pPr algn="l" defTabSz="457200">
              <a:defRPr sz="4400">
                <a:solidFill>
                  <a:srgbClr val="252525"/>
                </a:solidFill>
                <a:latin typeface="Times Roman"/>
                <a:ea typeface="Times Roman"/>
                <a:cs typeface="Times Roman"/>
                <a:sym typeface="Times Roman"/>
              </a:defRPr>
            </a:pPr>
            <a:r>
              <a:rPr>
                <a:solidFill>
                  <a:srgbClr val="000000"/>
                </a:solidFill>
              </a:rPr>
              <a:t>}</a:t>
            </a:r>
          </a:p>
        </p:txBody>
      </p:sp>
      <p:sp>
        <p:nvSpPr>
          <p:cNvPr id="356" name="interface Animal {…"/>
          <p:cNvSpPr txBox="1"/>
          <p:nvPr/>
        </p:nvSpPr>
        <p:spPr>
          <a:xfrm>
            <a:off x="12337765" y="3757612"/>
            <a:ext cx="8197215" cy="620077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lgn="l" defTabSz="457200">
              <a:defRPr sz="4400">
                <a:solidFill>
                  <a:srgbClr val="252525"/>
                </a:solidFill>
                <a:latin typeface="Times Roman"/>
                <a:ea typeface="Times Roman"/>
                <a:cs typeface="Times Roman"/>
                <a:sym typeface="Times Roman"/>
              </a:defRPr>
            </a:pPr>
            <a:r>
              <a:rPr>
                <a:solidFill>
                  <a:schemeClr val="accent6">
                    <a:satOff val="16558"/>
                    <a:lumOff val="8431"/>
                  </a:schemeClr>
                </a:solidFill>
              </a:rPr>
              <a:t>interface </a:t>
            </a:r>
            <a:r>
              <a:rPr>
                <a:solidFill>
                  <a:schemeClr val="accent1">
                    <a:hueOff val="-297087"/>
                    <a:satOff val="11340"/>
                    <a:lumOff val="7366"/>
                  </a:schemeClr>
                </a:solidFill>
              </a:rPr>
              <a:t>Animal</a:t>
            </a:r>
            <a:r>
              <a:rPr>
                <a:solidFill>
                  <a:srgbClr val="000000"/>
                </a:solidFill>
              </a:rPr>
              <a:t> {</a:t>
            </a:r>
          </a:p>
          <a:p>
            <a:pPr algn="l" defTabSz="457200">
              <a:defRPr sz="4400">
                <a:solidFill>
                  <a:srgbClr val="252525"/>
                </a:solidFill>
                <a:latin typeface="Times Roman"/>
                <a:ea typeface="Times Roman"/>
                <a:cs typeface="Times Roman"/>
                <a:sym typeface="Times Roman"/>
              </a:defRPr>
            </a:pPr>
            <a:r>
              <a:rPr>
                <a:solidFill>
                  <a:srgbClr val="000000"/>
                </a:solidFill>
              </a:rPr>
              <a:t>    </a:t>
            </a:r>
            <a:r>
              <a:rPr>
                <a:solidFill>
                  <a:schemeClr val="accent6">
                    <a:satOff val="16558"/>
                    <a:lumOff val="8431"/>
                  </a:schemeClr>
                </a:solidFill>
              </a:rPr>
              <a:t>void</a:t>
            </a:r>
            <a:r>
              <a:rPr>
                <a:solidFill>
                  <a:srgbClr val="000000"/>
                </a:solidFill>
              </a:rPr>
              <a:t> </a:t>
            </a:r>
            <a:r>
              <a:rPr>
                <a:solidFill>
                  <a:schemeClr val="accent1">
                    <a:hueOff val="-297087"/>
                    <a:satOff val="11340"/>
                    <a:lumOff val="7366"/>
                  </a:schemeClr>
                </a:solidFill>
              </a:rPr>
              <a:t>speak</a:t>
            </a:r>
            <a:r>
              <a:rPr>
                <a:solidFill>
                  <a:srgbClr val="000000"/>
                </a:solidFill>
              </a:rPr>
              <a:t>();</a:t>
            </a:r>
          </a:p>
          <a:p>
            <a:pPr algn="l" defTabSz="457200">
              <a:defRPr sz="4400">
                <a:solidFill>
                  <a:srgbClr val="252525"/>
                </a:solidFill>
                <a:latin typeface="Times Roman"/>
                <a:ea typeface="Times Roman"/>
                <a:cs typeface="Times Roman"/>
                <a:sym typeface="Times Roman"/>
              </a:defRPr>
            </a:pPr>
            <a:r>
              <a:rPr>
                <a:solidFill>
                  <a:srgbClr val="000000"/>
                </a:solidFill>
              </a:rPr>
              <a:t>}</a:t>
            </a:r>
          </a:p>
          <a:p>
            <a:pPr algn="l" defTabSz="457200">
              <a:defRPr sz="4400">
                <a:solidFill>
                  <a:srgbClr val="252525"/>
                </a:solidFill>
                <a:latin typeface="Times Roman"/>
                <a:ea typeface="Times Roman"/>
                <a:cs typeface="Times Roman"/>
                <a:sym typeface="Times Roman"/>
              </a:defRPr>
            </a:pPr>
            <a:endParaRPr>
              <a:solidFill>
                <a:srgbClr val="000000"/>
              </a:solidFill>
            </a:endParaRPr>
          </a:p>
          <a:p>
            <a:pPr algn="l" defTabSz="457200">
              <a:defRPr sz="4400">
                <a:solidFill>
                  <a:srgbClr val="252525"/>
                </a:solidFill>
                <a:latin typeface="Times Roman"/>
                <a:ea typeface="Times Roman"/>
                <a:cs typeface="Times Roman"/>
                <a:sym typeface="Times Roman"/>
              </a:defRPr>
            </a:pPr>
            <a:r>
              <a:rPr>
                <a:solidFill>
                  <a:schemeClr val="accent6">
                    <a:satOff val="16558"/>
                    <a:lumOff val="8431"/>
                  </a:schemeClr>
                </a:solidFill>
              </a:rPr>
              <a:t>class </a:t>
            </a:r>
            <a:r>
              <a:rPr>
                <a:solidFill>
                  <a:schemeClr val="accent1">
                    <a:hueOff val="-297087"/>
                    <a:satOff val="11340"/>
                    <a:lumOff val="7366"/>
                  </a:schemeClr>
                </a:solidFill>
              </a:rPr>
              <a:t>Dog </a:t>
            </a:r>
            <a:r>
              <a:rPr>
                <a:solidFill>
                  <a:schemeClr val="accent6">
                    <a:satOff val="16558"/>
                    <a:lumOff val="8431"/>
                  </a:schemeClr>
                </a:solidFill>
              </a:rPr>
              <a:t>implements </a:t>
            </a:r>
            <a:r>
              <a:rPr>
                <a:solidFill>
                  <a:schemeClr val="accent1">
                    <a:hueOff val="-297087"/>
                    <a:satOff val="11340"/>
                    <a:lumOff val="7366"/>
                  </a:schemeClr>
                </a:solidFill>
              </a:rPr>
              <a:t>Animal</a:t>
            </a:r>
            <a:r>
              <a:rPr>
                <a:solidFill>
                  <a:srgbClr val="000000"/>
                </a:solidFill>
              </a:rPr>
              <a:t>{</a:t>
            </a:r>
          </a:p>
          <a:p>
            <a:pPr algn="l" defTabSz="457200">
              <a:defRPr sz="4400">
                <a:solidFill>
                  <a:srgbClr val="252525"/>
                </a:solidFill>
                <a:latin typeface="Times Roman"/>
                <a:ea typeface="Times Roman"/>
                <a:cs typeface="Times Roman"/>
                <a:sym typeface="Times Roman"/>
              </a:defRPr>
            </a:pPr>
            <a:r>
              <a:rPr>
                <a:solidFill>
                  <a:srgbClr val="000000"/>
                </a:solidFill>
              </a:rPr>
              <a:t>    </a:t>
            </a:r>
            <a:r>
              <a:rPr>
                <a:solidFill>
                  <a:schemeClr val="accent6">
                    <a:satOff val="16558"/>
                    <a:lumOff val="8431"/>
                  </a:schemeClr>
                </a:solidFill>
              </a:rPr>
              <a:t>public void</a:t>
            </a:r>
            <a:r>
              <a:rPr>
                <a:solidFill>
                  <a:srgbClr val="000000"/>
                </a:solidFill>
              </a:rPr>
              <a:t> </a:t>
            </a:r>
            <a:r>
              <a:rPr>
                <a:solidFill>
                  <a:schemeClr val="accent1">
                    <a:hueOff val="-297087"/>
                    <a:satOff val="11340"/>
                    <a:lumOff val="7366"/>
                  </a:schemeClr>
                </a:solidFill>
              </a:rPr>
              <a:t>speak</a:t>
            </a:r>
            <a:r>
              <a:rPr>
                <a:solidFill>
                  <a:srgbClr val="000000"/>
                </a:solidFill>
              </a:rPr>
              <a:t>() {</a:t>
            </a:r>
          </a:p>
          <a:p>
            <a:pPr algn="l" defTabSz="457200">
              <a:defRPr sz="4400">
                <a:solidFill>
                  <a:srgbClr val="252525"/>
                </a:solidFill>
                <a:latin typeface="Times Roman"/>
                <a:ea typeface="Times Roman"/>
                <a:cs typeface="Times Roman"/>
                <a:sym typeface="Times Roman"/>
              </a:defRPr>
            </a:pPr>
            <a:r>
              <a:rPr>
                <a:solidFill>
                  <a:srgbClr val="000000"/>
                </a:solidFill>
              </a:rPr>
              <a:t>        System.out.println(“</a:t>
            </a:r>
            <a:r>
              <a:rPr>
                <a:solidFill>
                  <a:schemeClr val="accent3">
                    <a:lumOff val="5212"/>
                  </a:schemeClr>
                </a:solidFill>
              </a:rPr>
              <a:t>Woof!</a:t>
            </a:r>
            <a:r>
              <a:rPr>
                <a:solidFill>
                  <a:srgbClr val="000000"/>
                </a:solidFill>
              </a:rPr>
              <a:t>”);</a:t>
            </a:r>
            <a:endParaRPr>
              <a:solidFill>
                <a:srgbClr val="4F4F4F"/>
              </a:solidFill>
            </a:endParaRPr>
          </a:p>
          <a:p>
            <a:pPr algn="l" defTabSz="457200">
              <a:defRPr sz="4400">
                <a:solidFill>
                  <a:srgbClr val="252525"/>
                </a:solidFill>
                <a:latin typeface="Times Roman"/>
                <a:ea typeface="Times Roman"/>
                <a:cs typeface="Times Roman"/>
                <a:sym typeface="Times Roman"/>
              </a:defRPr>
            </a:pPr>
            <a:r>
              <a:rPr>
                <a:solidFill>
                  <a:srgbClr val="000000"/>
                </a:solidFill>
              </a:rPr>
              <a:t>    }</a:t>
            </a:r>
          </a:p>
          <a:p>
            <a:pPr algn="l" defTabSz="457200">
              <a:defRPr sz="4400">
                <a:solidFill>
                  <a:srgbClr val="252525"/>
                </a:solidFill>
                <a:latin typeface="Times Roman"/>
                <a:ea typeface="Times Roman"/>
                <a:cs typeface="Times Roman"/>
                <a:sym typeface="Times Roman"/>
              </a:defRPr>
            </a:pPr>
            <a:r>
              <a:rPr>
                <a:solidFill>
                  <a:srgbClr val="000000"/>
                </a:solidFill>
              </a:rPr>
              <a:t>}</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RUST Ownership"/>
          <p:cNvSpPr txBox="1">
            <a:spLocks noGrp="1"/>
          </p:cNvSpPr>
          <p:nvPr>
            <p:ph type="title"/>
          </p:nvPr>
        </p:nvSpPr>
        <p:spPr>
          <a:xfrm>
            <a:off x="319326" y="332828"/>
            <a:ext cx="23745347" cy="2863116"/>
          </a:xfrm>
          <a:prstGeom prst="rect">
            <a:avLst/>
          </a:prstGeom>
        </p:spPr>
        <p:txBody>
          <a:bodyPr/>
          <a:lstStyle/>
          <a:p>
            <a:pPr algn="ctr" defTabSz="673655">
              <a:defRPr sz="5248" spc="839">
                <a:solidFill>
                  <a:schemeClr val="accent2">
                    <a:satOff val="44164"/>
                    <a:lumOff val="14231"/>
                  </a:schemeClr>
                </a:solidFill>
                <a:latin typeface="Avenir Heavy"/>
                <a:ea typeface="Avenir Heavy"/>
                <a:cs typeface="Avenir Heavy"/>
                <a:sym typeface="Avenir Heavy"/>
              </a:defRPr>
            </a:pPr>
            <a:endParaRPr/>
          </a:p>
          <a:p>
            <a:pPr algn="ctr" defTabSz="673655">
              <a:defRPr sz="5248" spc="839">
                <a:solidFill>
                  <a:schemeClr val="accent2">
                    <a:satOff val="44164"/>
                    <a:lumOff val="14231"/>
                  </a:schemeClr>
                </a:solidFill>
                <a:latin typeface="Avenir Heavy"/>
                <a:ea typeface="Avenir Heavy"/>
                <a:cs typeface="Avenir Heavy"/>
                <a:sym typeface="Avenir Heavy"/>
              </a:defRPr>
            </a:pPr>
            <a:r>
              <a:t>RUST Ownership </a:t>
            </a:r>
          </a:p>
        </p:txBody>
      </p:sp>
      <p:sp>
        <p:nvSpPr>
          <p:cNvPr id="361"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24</a:t>
            </a:fld>
            <a:endParaRPr/>
          </a:p>
        </p:txBody>
      </p:sp>
      <p:sp>
        <p:nvSpPr>
          <p:cNvPr id="362"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363" name="fn main() {…"/>
          <p:cNvSpPr txBox="1"/>
          <p:nvPr/>
        </p:nvSpPr>
        <p:spPr>
          <a:xfrm>
            <a:off x="2847872" y="4075112"/>
            <a:ext cx="18688256" cy="556577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lgn="l" defTabSz="457200">
              <a:defRPr sz="5000">
                <a:solidFill>
                  <a:srgbClr val="252525"/>
                </a:solidFill>
                <a:latin typeface="Times Roman"/>
                <a:ea typeface="Times Roman"/>
                <a:cs typeface="Times Roman"/>
                <a:sym typeface="Times Roman"/>
              </a:defRPr>
            </a:pPr>
            <a:r>
              <a:rPr>
                <a:solidFill>
                  <a:schemeClr val="accent6">
                    <a:satOff val="16558"/>
                    <a:lumOff val="8431"/>
                  </a:schemeClr>
                </a:solidFill>
              </a:rPr>
              <a:t>fn</a:t>
            </a:r>
            <a:r>
              <a:rPr>
                <a:solidFill>
                  <a:srgbClr val="000000"/>
                </a:solidFill>
              </a:rPr>
              <a:t> </a:t>
            </a:r>
            <a:r>
              <a:rPr>
                <a:solidFill>
                  <a:schemeClr val="accent1">
                    <a:hueOff val="-297087"/>
                    <a:satOff val="11340"/>
                    <a:lumOff val="7366"/>
                  </a:schemeClr>
                </a:solidFill>
              </a:rPr>
              <a:t>main</a:t>
            </a:r>
            <a:r>
              <a:rPr>
                <a:solidFill>
                  <a:srgbClr val="000000"/>
                </a:solidFill>
              </a:rPr>
              <a:t>() {</a:t>
            </a:r>
          </a:p>
          <a:p>
            <a:pPr algn="l" defTabSz="457200">
              <a:defRPr sz="5000">
                <a:solidFill>
                  <a:srgbClr val="252525"/>
                </a:solidFill>
                <a:latin typeface="Times Roman"/>
                <a:ea typeface="Times Roman"/>
                <a:cs typeface="Times Roman"/>
                <a:sym typeface="Times Roman"/>
              </a:defRPr>
            </a:pPr>
            <a:r>
              <a:rPr>
                <a:solidFill>
                  <a:srgbClr val="000000"/>
                </a:solidFill>
              </a:rPr>
              <a:t>    </a:t>
            </a:r>
            <a:r>
              <a:rPr>
                <a:solidFill>
                  <a:schemeClr val="accent6">
                    <a:satOff val="16558"/>
                    <a:lumOff val="8431"/>
                  </a:schemeClr>
                </a:solidFill>
              </a:rPr>
              <a:t>let</a:t>
            </a:r>
            <a:r>
              <a:rPr>
                <a:solidFill>
                  <a:srgbClr val="000000"/>
                </a:solidFill>
              </a:rPr>
              <a:t> s1 = </a:t>
            </a:r>
            <a:r>
              <a:rPr>
                <a:solidFill>
                  <a:srgbClr val="B21E00"/>
                </a:solidFill>
              </a:rPr>
              <a:t>String</a:t>
            </a:r>
            <a:r>
              <a:rPr>
                <a:solidFill>
                  <a:srgbClr val="000000"/>
                </a:solidFill>
              </a:rPr>
              <a:t>::</a:t>
            </a:r>
            <a:r>
              <a:rPr>
                <a:solidFill>
                  <a:schemeClr val="accent1">
                    <a:hueOff val="-297087"/>
                    <a:satOff val="11340"/>
                    <a:lumOff val="7366"/>
                  </a:schemeClr>
                </a:solidFill>
              </a:rPr>
              <a:t>from</a:t>
            </a:r>
            <a:r>
              <a:rPr>
                <a:solidFill>
                  <a:srgbClr val="000000"/>
                </a:solidFill>
              </a:rPr>
              <a:t>("</a:t>
            </a:r>
            <a:r>
              <a:rPr>
                <a:solidFill>
                  <a:schemeClr val="accent3">
                    <a:lumOff val="5212"/>
                  </a:schemeClr>
                </a:solidFill>
              </a:rPr>
              <a:t>Hello, Rust!</a:t>
            </a:r>
            <a:r>
              <a:rPr>
                <a:solidFill>
                  <a:srgbClr val="000000"/>
                </a:solidFill>
              </a:rPr>
              <a:t>"); // ‘s1' owns the string.</a:t>
            </a:r>
          </a:p>
          <a:p>
            <a:pPr algn="l" defTabSz="457200">
              <a:defRPr sz="5000">
                <a:solidFill>
                  <a:srgbClr val="252525"/>
                </a:solidFill>
                <a:latin typeface="Times Roman"/>
                <a:ea typeface="Times Roman"/>
                <a:cs typeface="Times Roman"/>
                <a:sym typeface="Times Roman"/>
              </a:defRPr>
            </a:pPr>
            <a:r>
              <a:rPr>
                <a:solidFill>
                  <a:srgbClr val="000000"/>
                </a:solidFill>
              </a:rPr>
              <a:t>    </a:t>
            </a:r>
            <a:r>
              <a:rPr>
                <a:solidFill>
                  <a:schemeClr val="accent6">
                    <a:satOff val="16558"/>
                    <a:lumOff val="8431"/>
                  </a:schemeClr>
                </a:solidFill>
              </a:rPr>
              <a:t>let</a:t>
            </a:r>
            <a:r>
              <a:rPr>
                <a:solidFill>
                  <a:srgbClr val="000000"/>
                </a:solidFill>
              </a:rPr>
              <a:t> s2 = s1; // Ownership is moved to 's2'.</a:t>
            </a:r>
          </a:p>
          <a:p>
            <a:pPr algn="l" defTabSz="457200">
              <a:defRPr sz="5000">
                <a:solidFill>
                  <a:srgbClr val="252525"/>
                </a:solidFill>
                <a:latin typeface="Times Roman"/>
                <a:ea typeface="Times Roman"/>
                <a:cs typeface="Times Roman"/>
                <a:sym typeface="Times Roman"/>
              </a:defRPr>
            </a:pPr>
            <a:endParaRPr>
              <a:solidFill>
                <a:srgbClr val="000000"/>
              </a:solidFill>
            </a:endParaRPr>
          </a:p>
          <a:p>
            <a:pPr algn="l" defTabSz="457200">
              <a:defRPr sz="5000">
                <a:solidFill>
                  <a:srgbClr val="252525"/>
                </a:solidFill>
                <a:latin typeface="Times Roman"/>
                <a:ea typeface="Times Roman"/>
                <a:cs typeface="Times Roman"/>
                <a:sym typeface="Times Roman"/>
              </a:defRPr>
            </a:pPr>
            <a:r>
              <a:rPr>
                <a:solidFill>
                  <a:srgbClr val="000000"/>
                </a:solidFill>
              </a:rPr>
              <a:t>    // </a:t>
            </a:r>
            <a:r>
              <a:rPr>
                <a:solidFill>
                  <a:srgbClr val="919191"/>
                </a:solidFill>
              </a:rPr>
              <a:t>println!("{}", s1); // ERROR: `s1` is no longer valid after the move.</a:t>
            </a:r>
            <a:endParaRPr>
              <a:solidFill>
                <a:srgbClr val="000000"/>
              </a:solidFill>
            </a:endParaRPr>
          </a:p>
          <a:p>
            <a:pPr algn="l" defTabSz="457200">
              <a:defRPr sz="5000">
                <a:solidFill>
                  <a:srgbClr val="252525"/>
                </a:solidFill>
                <a:latin typeface="Times Roman"/>
                <a:ea typeface="Times Roman"/>
                <a:cs typeface="Times Roman"/>
                <a:sym typeface="Times Roman"/>
              </a:defRPr>
            </a:pPr>
            <a:r>
              <a:rPr>
                <a:solidFill>
                  <a:srgbClr val="000000"/>
                </a:solidFill>
              </a:rPr>
              <a:t>    </a:t>
            </a:r>
            <a:r>
              <a:rPr>
                <a:solidFill>
                  <a:srgbClr val="B21E00"/>
                </a:solidFill>
              </a:rPr>
              <a:t>println!</a:t>
            </a:r>
            <a:r>
              <a:rPr>
                <a:solidFill>
                  <a:srgbClr val="000000"/>
                </a:solidFill>
              </a:rPr>
              <a:t>("</a:t>
            </a:r>
            <a:r>
              <a:rPr>
                <a:solidFill>
                  <a:schemeClr val="accent3">
                    <a:lumOff val="5212"/>
                  </a:schemeClr>
                </a:solidFill>
              </a:rPr>
              <a:t>{}</a:t>
            </a:r>
            <a:r>
              <a:rPr>
                <a:solidFill>
                  <a:srgbClr val="000000"/>
                </a:solidFill>
              </a:rPr>
              <a:t>", s2); // Only 's2' can be used now.</a:t>
            </a:r>
          </a:p>
          <a:p>
            <a:pPr algn="l" defTabSz="457200">
              <a:defRPr sz="5000">
                <a:solidFill>
                  <a:srgbClr val="252525"/>
                </a:solidFill>
                <a:latin typeface="Times Roman"/>
                <a:ea typeface="Times Roman"/>
                <a:cs typeface="Times Roman"/>
                <a:sym typeface="Times Roman"/>
              </a:defRPr>
            </a:pPr>
            <a:r>
              <a:rPr>
                <a:solidFill>
                  <a:srgbClr val="000000"/>
                </a:solidFill>
              </a:rPr>
              <a:t>}</a:t>
            </a:r>
          </a:p>
        </p:txBody>
      </p:sp>
      <p:sp>
        <p:nvSpPr>
          <p:cNvPr id="364" name="Example"/>
          <p:cNvSpPr txBox="1"/>
          <p:nvPr/>
        </p:nvSpPr>
        <p:spPr>
          <a:xfrm>
            <a:off x="2703741" y="2995366"/>
            <a:ext cx="2601596" cy="10064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defRPr sz="5000"/>
            </a:lvl1pPr>
          </a:lstStyle>
          <a:p>
            <a:r>
              <a:t>Example</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Testing IN RUST"/>
          <p:cNvSpPr txBox="1">
            <a:spLocks noGrp="1"/>
          </p:cNvSpPr>
          <p:nvPr>
            <p:ph type="title"/>
          </p:nvPr>
        </p:nvSpPr>
        <p:spPr>
          <a:xfrm>
            <a:off x="319326" y="332828"/>
            <a:ext cx="23745347" cy="2863116"/>
          </a:xfrm>
          <a:prstGeom prst="rect">
            <a:avLst/>
          </a:prstGeom>
        </p:spPr>
        <p:txBody>
          <a:bodyPr/>
          <a:lstStyle/>
          <a:p>
            <a:pPr algn="ctr" defTabSz="673655">
              <a:defRPr sz="5248" spc="839">
                <a:solidFill>
                  <a:schemeClr val="accent2">
                    <a:satOff val="44164"/>
                    <a:lumOff val="14231"/>
                  </a:schemeClr>
                </a:solidFill>
                <a:latin typeface="Avenir Heavy"/>
                <a:ea typeface="Avenir Heavy"/>
                <a:cs typeface="Avenir Heavy"/>
                <a:sym typeface="Avenir Heavy"/>
              </a:defRPr>
            </a:pPr>
            <a:endParaRPr/>
          </a:p>
          <a:p>
            <a:pPr algn="ctr" defTabSz="673655">
              <a:defRPr sz="5248" spc="839">
                <a:solidFill>
                  <a:schemeClr val="accent2">
                    <a:satOff val="44164"/>
                    <a:lumOff val="14231"/>
                  </a:schemeClr>
                </a:solidFill>
                <a:latin typeface="Avenir Heavy"/>
                <a:ea typeface="Avenir Heavy"/>
                <a:cs typeface="Avenir Heavy"/>
                <a:sym typeface="Avenir Heavy"/>
              </a:defRPr>
            </a:pPr>
            <a:r>
              <a:t>Testing IN RUST </a:t>
            </a:r>
          </a:p>
        </p:txBody>
      </p:sp>
      <p:sp>
        <p:nvSpPr>
          <p:cNvPr id="367"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25</a:t>
            </a:fld>
            <a:endParaRPr/>
          </a:p>
        </p:txBody>
      </p:sp>
      <p:sp>
        <p:nvSpPr>
          <p:cNvPr id="368"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369" name="pub fn add(a: i32, b: i32) -&gt; i32 {…"/>
          <p:cNvSpPr txBox="1"/>
          <p:nvPr/>
        </p:nvSpPr>
        <p:spPr>
          <a:xfrm>
            <a:off x="4518025" y="2411412"/>
            <a:ext cx="15347950" cy="889317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lgn="l" defTabSz="457200">
              <a:defRPr sz="4400">
                <a:solidFill>
                  <a:srgbClr val="252525"/>
                </a:solidFill>
                <a:latin typeface="Times Roman"/>
                <a:ea typeface="Times Roman"/>
                <a:cs typeface="Times Roman"/>
                <a:sym typeface="Times Roman"/>
              </a:defRPr>
            </a:pPr>
            <a:r>
              <a:rPr>
                <a:solidFill>
                  <a:schemeClr val="accent6">
                    <a:satOff val="16558"/>
                    <a:lumOff val="8431"/>
                  </a:schemeClr>
                </a:solidFill>
              </a:rPr>
              <a:t>pub fn</a:t>
            </a:r>
            <a:r>
              <a:rPr>
                <a:solidFill>
                  <a:srgbClr val="000000"/>
                </a:solidFill>
              </a:rPr>
              <a:t> </a:t>
            </a:r>
            <a:r>
              <a:rPr>
                <a:solidFill>
                  <a:schemeClr val="accent1">
                    <a:hueOff val="-297087"/>
                    <a:satOff val="11340"/>
                    <a:lumOff val="7366"/>
                  </a:schemeClr>
                </a:solidFill>
              </a:rPr>
              <a:t>add</a:t>
            </a:r>
            <a:r>
              <a:rPr>
                <a:solidFill>
                  <a:srgbClr val="000000"/>
                </a:solidFill>
              </a:rPr>
              <a:t>(a: i32, b: i32) -&gt; i32 {</a:t>
            </a:r>
          </a:p>
          <a:p>
            <a:pPr algn="l" defTabSz="457200">
              <a:defRPr sz="4400">
                <a:solidFill>
                  <a:srgbClr val="252525"/>
                </a:solidFill>
                <a:latin typeface="Times Roman"/>
                <a:ea typeface="Times Roman"/>
                <a:cs typeface="Times Roman"/>
                <a:sym typeface="Times Roman"/>
              </a:defRPr>
            </a:pPr>
            <a:r>
              <a:rPr>
                <a:solidFill>
                  <a:srgbClr val="000000"/>
                </a:solidFill>
              </a:rPr>
              <a:t>    a + b</a:t>
            </a:r>
          </a:p>
          <a:p>
            <a:pPr algn="l" defTabSz="457200">
              <a:defRPr sz="4400">
                <a:solidFill>
                  <a:srgbClr val="252525"/>
                </a:solidFill>
                <a:latin typeface="Times Roman"/>
                <a:ea typeface="Times Roman"/>
                <a:cs typeface="Times Roman"/>
                <a:sym typeface="Times Roman"/>
              </a:defRPr>
            </a:pPr>
            <a:r>
              <a:rPr>
                <a:solidFill>
                  <a:srgbClr val="000000"/>
                </a:solidFill>
              </a:rPr>
              <a:t>}</a:t>
            </a:r>
          </a:p>
          <a:p>
            <a:pPr algn="l" defTabSz="457200">
              <a:defRPr sz="4400">
                <a:solidFill>
                  <a:srgbClr val="252525"/>
                </a:solidFill>
                <a:latin typeface="Times Roman"/>
                <a:ea typeface="Times Roman"/>
                <a:cs typeface="Times Roman"/>
                <a:sym typeface="Times Roman"/>
              </a:defRPr>
            </a:pPr>
            <a:endParaRPr>
              <a:solidFill>
                <a:srgbClr val="000000"/>
              </a:solidFill>
            </a:endParaRPr>
          </a:p>
          <a:p>
            <a:pPr algn="l" defTabSz="457200">
              <a:defRPr sz="4400">
                <a:solidFill>
                  <a:schemeClr val="accent1">
                    <a:hueOff val="-297087"/>
                    <a:satOff val="11340"/>
                    <a:lumOff val="7366"/>
                  </a:schemeClr>
                </a:solidFill>
                <a:latin typeface="Times Roman"/>
                <a:ea typeface="Times Roman"/>
                <a:cs typeface="Times Roman"/>
                <a:sym typeface="Times Roman"/>
              </a:defRPr>
            </a:pPr>
            <a:r>
              <a:t>#[cfg(test)]</a:t>
            </a:r>
            <a:endParaRPr>
              <a:solidFill>
                <a:srgbClr val="000000"/>
              </a:solidFill>
            </a:endParaRPr>
          </a:p>
          <a:p>
            <a:pPr algn="l" defTabSz="457200">
              <a:defRPr sz="4400">
                <a:solidFill>
                  <a:srgbClr val="252525"/>
                </a:solidFill>
                <a:latin typeface="Times Roman"/>
                <a:ea typeface="Times Roman"/>
                <a:cs typeface="Times Roman"/>
                <a:sym typeface="Times Roman"/>
              </a:defRPr>
            </a:pPr>
            <a:r>
              <a:rPr>
                <a:solidFill>
                  <a:schemeClr val="accent6">
                    <a:satOff val="16558"/>
                    <a:lumOff val="8431"/>
                  </a:schemeClr>
                </a:solidFill>
              </a:rPr>
              <a:t>mod</a:t>
            </a:r>
            <a:r>
              <a:rPr>
                <a:solidFill>
                  <a:srgbClr val="000000"/>
                </a:solidFill>
              </a:rPr>
              <a:t> tests {</a:t>
            </a:r>
          </a:p>
          <a:p>
            <a:pPr algn="l" defTabSz="457200">
              <a:defRPr sz="4400">
                <a:solidFill>
                  <a:srgbClr val="252525"/>
                </a:solidFill>
                <a:latin typeface="Times Roman"/>
                <a:ea typeface="Times Roman"/>
                <a:cs typeface="Times Roman"/>
                <a:sym typeface="Times Roman"/>
              </a:defRPr>
            </a:pPr>
            <a:r>
              <a:rPr>
                <a:solidFill>
                  <a:srgbClr val="000000"/>
                </a:solidFill>
              </a:rPr>
              <a:t>    </a:t>
            </a:r>
            <a:r>
              <a:rPr>
                <a:solidFill>
                  <a:schemeClr val="accent6">
                    <a:satOff val="16558"/>
                    <a:lumOff val="8431"/>
                  </a:schemeClr>
                </a:solidFill>
              </a:rPr>
              <a:t>use</a:t>
            </a:r>
            <a:r>
              <a:rPr>
                <a:solidFill>
                  <a:srgbClr val="000000"/>
                </a:solidFill>
              </a:rPr>
              <a:t> super::*; // </a:t>
            </a:r>
            <a:r>
              <a:rPr>
                <a:solidFill>
                  <a:srgbClr val="4F4F4F"/>
                </a:solidFill>
              </a:rPr>
              <a:t>Import from the parent module</a:t>
            </a:r>
            <a:endParaRPr>
              <a:solidFill>
                <a:srgbClr val="000000"/>
              </a:solidFill>
            </a:endParaRPr>
          </a:p>
          <a:p>
            <a:pPr algn="l" defTabSz="457200">
              <a:defRPr sz="4400">
                <a:solidFill>
                  <a:srgbClr val="252525"/>
                </a:solidFill>
                <a:latin typeface="Times Roman"/>
                <a:ea typeface="Times Roman"/>
                <a:cs typeface="Times Roman"/>
                <a:sym typeface="Times Roman"/>
              </a:defRPr>
            </a:pPr>
            <a:endParaRPr>
              <a:solidFill>
                <a:srgbClr val="000000"/>
              </a:solidFill>
            </a:endParaRPr>
          </a:p>
          <a:p>
            <a:pPr algn="l" defTabSz="457200">
              <a:defRPr sz="4400">
                <a:solidFill>
                  <a:srgbClr val="252525"/>
                </a:solidFill>
                <a:latin typeface="Times Roman"/>
                <a:ea typeface="Times Roman"/>
                <a:cs typeface="Times Roman"/>
                <a:sym typeface="Times Roman"/>
              </a:defRPr>
            </a:pPr>
            <a:r>
              <a:rPr>
                <a:solidFill>
                  <a:srgbClr val="000000"/>
                </a:solidFill>
              </a:rPr>
              <a:t>    </a:t>
            </a:r>
            <a:r>
              <a:rPr>
                <a:solidFill>
                  <a:schemeClr val="accent1">
                    <a:hueOff val="-297087"/>
                    <a:satOff val="11340"/>
                    <a:lumOff val="7366"/>
                  </a:schemeClr>
                </a:solidFill>
              </a:rPr>
              <a:t>#[test]</a:t>
            </a:r>
            <a:endParaRPr>
              <a:solidFill>
                <a:srgbClr val="000000"/>
              </a:solidFill>
            </a:endParaRPr>
          </a:p>
          <a:p>
            <a:pPr algn="l" defTabSz="457200">
              <a:defRPr sz="4400">
                <a:solidFill>
                  <a:srgbClr val="252525"/>
                </a:solidFill>
                <a:latin typeface="Times Roman"/>
                <a:ea typeface="Times Roman"/>
                <a:cs typeface="Times Roman"/>
                <a:sym typeface="Times Roman"/>
              </a:defRPr>
            </a:pPr>
            <a:r>
              <a:rPr>
                <a:solidFill>
                  <a:srgbClr val="000000"/>
                </a:solidFill>
              </a:rPr>
              <a:t>    </a:t>
            </a:r>
            <a:r>
              <a:rPr>
                <a:solidFill>
                  <a:schemeClr val="accent6">
                    <a:satOff val="16558"/>
                    <a:lumOff val="8431"/>
                  </a:schemeClr>
                </a:solidFill>
              </a:rPr>
              <a:t>fn</a:t>
            </a:r>
            <a:r>
              <a:rPr>
                <a:solidFill>
                  <a:srgbClr val="000000"/>
                </a:solidFill>
              </a:rPr>
              <a:t> </a:t>
            </a:r>
            <a:r>
              <a:rPr>
                <a:solidFill>
                  <a:schemeClr val="accent1">
                    <a:hueOff val="-297087"/>
                    <a:satOff val="11340"/>
                    <a:lumOff val="7366"/>
                  </a:schemeClr>
                </a:solidFill>
              </a:rPr>
              <a:t>test_add</a:t>
            </a:r>
            <a:r>
              <a:rPr>
                <a:solidFill>
                  <a:srgbClr val="000000"/>
                </a:solidFill>
              </a:rPr>
              <a:t>() {</a:t>
            </a:r>
          </a:p>
          <a:p>
            <a:pPr algn="l" defTabSz="457200">
              <a:defRPr sz="4400">
                <a:solidFill>
                  <a:srgbClr val="252525"/>
                </a:solidFill>
                <a:latin typeface="Times Roman"/>
                <a:ea typeface="Times Roman"/>
                <a:cs typeface="Times Roman"/>
                <a:sym typeface="Times Roman"/>
              </a:defRPr>
            </a:pPr>
            <a:r>
              <a:rPr>
                <a:solidFill>
                  <a:srgbClr val="000000"/>
                </a:solidFill>
              </a:rPr>
              <a:t>        </a:t>
            </a:r>
            <a:r>
              <a:rPr>
                <a:solidFill>
                  <a:srgbClr val="B21E00"/>
                </a:solidFill>
              </a:rPr>
              <a:t>assert_eq!</a:t>
            </a:r>
            <a:r>
              <a:rPr>
                <a:solidFill>
                  <a:srgbClr val="000000"/>
                </a:solidFill>
              </a:rPr>
              <a:t>(</a:t>
            </a:r>
            <a:r>
              <a:rPr>
                <a:solidFill>
                  <a:schemeClr val="accent1">
                    <a:hueOff val="-297087"/>
                    <a:satOff val="11340"/>
                    <a:lumOff val="7366"/>
                  </a:schemeClr>
                </a:solidFill>
              </a:rPr>
              <a:t>add</a:t>
            </a:r>
            <a:r>
              <a:rPr>
                <a:solidFill>
                  <a:srgbClr val="000000"/>
                </a:solidFill>
              </a:rPr>
              <a:t>(2, 3), 5); // </a:t>
            </a:r>
            <a:r>
              <a:rPr>
                <a:solidFill>
                  <a:srgbClr val="4F4F4F"/>
                </a:solidFill>
              </a:rPr>
              <a:t>Check if 2 + 3 equals 5</a:t>
            </a:r>
          </a:p>
          <a:p>
            <a:pPr algn="l" defTabSz="457200">
              <a:defRPr sz="4400">
                <a:solidFill>
                  <a:srgbClr val="252525"/>
                </a:solidFill>
                <a:latin typeface="Times Roman"/>
                <a:ea typeface="Times Roman"/>
                <a:cs typeface="Times Roman"/>
                <a:sym typeface="Times Roman"/>
              </a:defRPr>
            </a:pPr>
            <a:r>
              <a:rPr>
                <a:solidFill>
                  <a:srgbClr val="000000"/>
                </a:solidFill>
              </a:rPr>
              <a:t>     }</a:t>
            </a:r>
          </a:p>
          <a:p>
            <a:pPr algn="l" defTabSz="457200">
              <a:defRPr sz="4400">
                <a:solidFill>
                  <a:srgbClr val="252525"/>
                </a:solidFill>
                <a:latin typeface="Times Roman"/>
                <a:ea typeface="Times Roman"/>
                <a:cs typeface="Times Roman"/>
                <a:sym typeface="Times Roman"/>
              </a:defRPr>
            </a:pPr>
            <a:r>
              <a:rPr>
                <a:solidFill>
                  <a:srgbClr val="000000"/>
                </a:solidFill>
              </a:rPr>
              <a:t>}</a:t>
            </a:r>
          </a:p>
        </p:txBody>
      </p:sp>
      <p:sp>
        <p:nvSpPr>
          <p:cNvPr id="370" name="Command line: cargo test"/>
          <p:cNvSpPr txBox="1"/>
          <p:nvPr/>
        </p:nvSpPr>
        <p:spPr>
          <a:xfrm>
            <a:off x="4448937" y="11386106"/>
            <a:ext cx="7451091" cy="10064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defRPr sz="5000"/>
            </a:lvl1pPr>
          </a:lstStyle>
          <a:p>
            <a:r>
              <a:t>Command line: cargo test</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2" name="Java_Logo-No-Text-correct-colors.svg" descr="Java_Logo-No-Text-correct-colors.svg"/>
          <p:cNvPicPr>
            <a:picLocks noChangeAspect="1"/>
          </p:cNvPicPr>
          <p:nvPr/>
        </p:nvPicPr>
        <p:blipFill>
          <a:blip r:embed="rId2"/>
          <a:stretch>
            <a:fillRect/>
          </a:stretch>
        </p:blipFill>
        <p:spPr>
          <a:xfrm>
            <a:off x="4291789" y="159403"/>
            <a:ext cx="2266994" cy="4216401"/>
          </a:xfrm>
          <a:prstGeom prst="rect">
            <a:avLst/>
          </a:prstGeom>
          <a:ln w="12700">
            <a:miter lim="400000"/>
          </a:ln>
        </p:spPr>
      </p:pic>
      <p:sp>
        <p:nvSpPr>
          <p:cNvPr id="373" name="A Few data points"/>
          <p:cNvSpPr txBox="1">
            <a:spLocks noGrp="1"/>
          </p:cNvSpPr>
          <p:nvPr>
            <p:ph type="title"/>
          </p:nvPr>
        </p:nvSpPr>
        <p:spPr>
          <a:xfrm>
            <a:off x="3976687" y="1325120"/>
            <a:ext cx="16430626" cy="1488299"/>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A Few data points</a:t>
            </a:r>
          </a:p>
        </p:txBody>
      </p:sp>
      <p:sp>
        <p:nvSpPr>
          <p:cNvPr id="374"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26</a:t>
            </a:fld>
            <a:endParaRPr/>
          </a:p>
        </p:txBody>
      </p:sp>
      <p:sp>
        <p:nvSpPr>
          <p:cNvPr id="375"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graphicFrame>
        <p:nvGraphicFramePr>
          <p:cNvPr id="376" name="Table 1"/>
          <p:cNvGraphicFramePr/>
          <p:nvPr/>
        </p:nvGraphicFramePr>
        <p:xfrm>
          <a:off x="3529552" y="3544619"/>
          <a:ext cx="17324895" cy="9364024"/>
        </p:xfrm>
        <a:graphic>
          <a:graphicData uri="http://schemas.openxmlformats.org/drawingml/2006/table">
            <a:tbl>
              <a:tblPr firstRow="1">
                <a:tableStyleId>{4C3C2611-4C71-4FC5-86AE-919BDF0F9419}</a:tableStyleId>
              </a:tblPr>
              <a:tblGrid>
                <a:gridCol w="5774965">
                  <a:extLst>
                    <a:ext uri="{9D8B030D-6E8A-4147-A177-3AD203B41FA5}">
                      <a16:colId xmlns:a16="http://schemas.microsoft.com/office/drawing/2014/main" val="20000"/>
                    </a:ext>
                  </a:extLst>
                </a:gridCol>
                <a:gridCol w="5774965">
                  <a:extLst>
                    <a:ext uri="{9D8B030D-6E8A-4147-A177-3AD203B41FA5}">
                      <a16:colId xmlns:a16="http://schemas.microsoft.com/office/drawing/2014/main" val="20001"/>
                    </a:ext>
                  </a:extLst>
                </a:gridCol>
                <a:gridCol w="5774965">
                  <a:extLst>
                    <a:ext uri="{9D8B030D-6E8A-4147-A177-3AD203B41FA5}">
                      <a16:colId xmlns:a16="http://schemas.microsoft.com/office/drawing/2014/main" val="20002"/>
                    </a:ext>
                  </a:extLst>
                </a:gridCol>
              </a:tblGrid>
              <a:tr h="1315481">
                <a:tc>
                  <a:txBody>
                    <a:bodyPr/>
                    <a:lstStyle/>
                    <a:p>
                      <a:pPr>
                        <a:spcBef>
                          <a:spcPts val="5900"/>
                        </a:spcBef>
                        <a:defRPr sz="1800">
                          <a:solidFill>
                            <a:srgbClr val="000000"/>
                          </a:solidFill>
                        </a:defRPr>
                      </a:pPr>
                      <a:r>
                        <a:rPr sz="5000">
                          <a:solidFill>
                            <a:srgbClr val="FFFFFF"/>
                          </a:solidFill>
                        </a:rPr>
                        <a:t>Feature</a:t>
                      </a:r>
                    </a:p>
                  </a:txBody>
                  <a:tcPr marL="50800" marR="50800" marT="50800" marB="50800" anchor="ctr" horzOverflow="overflow"/>
                </a:tc>
                <a:tc>
                  <a:txBody>
                    <a:bodyPr/>
                    <a:lstStyle/>
                    <a:p>
                      <a:pPr>
                        <a:spcBef>
                          <a:spcPts val="5900"/>
                        </a:spcBef>
                        <a:defRPr sz="1800">
                          <a:solidFill>
                            <a:srgbClr val="000000"/>
                          </a:solidFill>
                        </a:defRPr>
                      </a:pPr>
                      <a:r>
                        <a:rPr sz="5000">
                          <a:solidFill>
                            <a:srgbClr val="FFFFFF"/>
                          </a:solidFill>
                        </a:rPr>
                        <a:t>Java</a:t>
                      </a:r>
                    </a:p>
                  </a:txBody>
                  <a:tcPr marL="50800" marR="50800" marT="50800" marB="50800" anchor="ctr" horzOverflow="overflow"/>
                </a:tc>
                <a:tc>
                  <a:txBody>
                    <a:bodyPr/>
                    <a:lstStyle/>
                    <a:p>
                      <a:pPr>
                        <a:spcBef>
                          <a:spcPts val="5900"/>
                        </a:spcBef>
                        <a:defRPr sz="1800">
                          <a:solidFill>
                            <a:srgbClr val="000000"/>
                          </a:solidFill>
                        </a:defRPr>
                      </a:pPr>
                      <a:r>
                        <a:rPr sz="5000">
                          <a:solidFill>
                            <a:srgbClr val="FFFFFF"/>
                          </a:solidFill>
                        </a:rPr>
                        <a:t>Rust</a:t>
                      </a:r>
                    </a:p>
                  </a:txBody>
                  <a:tcPr marL="50800" marR="50800" marT="50800" marB="50800" anchor="ctr" horzOverflow="overflow"/>
                </a:tc>
                <a:extLst>
                  <a:ext uri="{0D108BD9-81ED-4DB2-BD59-A6C34878D82A}">
                    <a16:rowId xmlns:a16="http://schemas.microsoft.com/office/drawing/2014/main" val="10000"/>
                  </a:ext>
                </a:extLst>
              </a:tr>
              <a:tr h="1886981">
                <a:tc>
                  <a:txBody>
                    <a:bodyPr/>
                    <a:lstStyle/>
                    <a:p>
                      <a:pPr>
                        <a:spcBef>
                          <a:spcPts val="5900"/>
                        </a:spcBef>
                        <a:defRPr sz="1800">
                          <a:solidFill>
                            <a:srgbClr val="000000"/>
                          </a:solidFill>
                        </a:defRPr>
                      </a:pPr>
                      <a:r>
                        <a:rPr sz="5000">
                          <a:solidFill>
                            <a:srgbClr val="FFFFFF"/>
                          </a:solidFill>
                        </a:rPr>
                        <a:t>Usage</a:t>
                      </a:r>
                    </a:p>
                  </a:txBody>
                  <a:tcPr marL="50800" marR="50800" marT="50800" marB="50800" anchor="ctr" horzOverflow="overflow"/>
                </a:tc>
                <a:tc>
                  <a:txBody>
                    <a:bodyPr/>
                    <a:lstStyle/>
                    <a:p>
                      <a:pPr>
                        <a:spcBef>
                          <a:spcPts val="5900"/>
                        </a:spcBef>
                        <a:defRPr sz="1800">
                          <a:solidFill>
                            <a:srgbClr val="000000"/>
                          </a:solidFill>
                        </a:defRPr>
                      </a:pPr>
                      <a:r>
                        <a:rPr sz="5000">
                          <a:solidFill>
                            <a:srgbClr val="FFFFFF"/>
                          </a:solidFill>
                        </a:rPr>
                        <a:t>Web/E-Commerce/Banking/Medical</a:t>
                      </a:r>
                    </a:p>
                  </a:txBody>
                  <a:tcPr marL="50800" marR="50800" marT="50800" marB="50800" anchor="ctr" horzOverflow="overflow"/>
                </a:tc>
                <a:tc>
                  <a:txBody>
                    <a:bodyPr/>
                    <a:lstStyle/>
                    <a:p>
                      <a:pPr>
                        <a:spcBef>
                          <a:spcPts val="5900"/>
                        </a:spcBef>
                        <a:defRPr sz="1800">
                          <a:solidFill>
                            <a:srgbClr val="000000"/>
                          </a:solidFill>
                        </a:defRPr>
                      </a:pPr>
                      <a:r>
                        <a:rPr sz="5000">
                          <a:solidFill>
                            <a:srgbClr val="FFFFFF"/>
                          </a:solidFill>
                        </a:rPr>
                        <a:t>Systems/Web/IoT/BlockChain</a:t>
                      </a:r>
                    </a:p>
                  </a:txBody>
                  <a:tcPr marL="50800" marR="50800" marT="50800" marB="50800" anchor="ctr" horzOverflow="overflow"/>
                </a:tc>
                <a:extLst>
                  <a:ext uri="{0D108BD9-81ED-4DB2-BD59-A6C34878D82A}">
                    <a16:rowId xmlns:a16="http://schemas.microsoft.com/office/drawing/2014/main" val="10001"/>
                  </a:ext>
                </a:extLst>
              </a:tr>
              <a:tr h="1886981">
                <a:tc>
                  <a:txBody>
                    <a:bodyPr/>
                    <a:lstStyle/>
                    <a:p>
                      <a:pPr>
                        <a:spcBef>
                          <a:spcPts val="5900"/>
                        </a:spcBef>
                        <a:defRPr sz="1800">
                          <a:solidFill>
                            <a:srgbClr val="000000"/>
                          </a:solidFill>
                        </a:defRPr>
                      </a:pPr>
                      <a:r>
                        <a:rPr sz="5000">
                          <a:solidFill>
                            <a:srgbClr val="FFFFFF"/>
                          </a:solidFill>
                        </a:rPr>
                        <a:t>Deployment</a:t>
                      </a:r>
                    </a:p>
                  </a:txBody>
                  <a:tcPr marL="50800" marR="50800" marT="50800" marB="50800" anchor="ctr" horzOverflow="overflow"/>
                </a:tc>
                <a:tc>
                  <a:txBody>
                    <a:bodyPr/>
                    <a:lstStyle/>
                    <a:p>
                      <a:pPr>
                        <a:spcBef>
                          <a:spcPts val="5900"/>
                        </a:spcBef>
                        <a:defRPr sz="5000"/>
                      </a:pPr>
                      <a:r>
                        <a:t>Bytecode/</a:t>
                      </a:r>
                    </a:p>
                    <a:p>
                      <a:pPr>
                        <a:defRPr sz="5000"/>
                      </a:pPr>
                      <a:r>
                        <a:t>Native (GraalVM)</a:t>
                      </a:r>
                    </a:p>
                  </a:txBody>
                  <a:tcPr marL="50800" marR="50800" marT="50800" marB="50800" anchor="ctr" horzOverflow="overflow"/>
                </a:tc>
                <a:tc>
                  <a:txBody>
                    <a:bodyPr/>
                    <a:lstStyle/>
                    <a:p>
                      <a:pPr>
                        <a:spcBef>
                          <a:spcPts val="5900"/>
                        </a:spcBef>
                        <a:defRPr sz="1800">
                          <a:solidFill>
                            <a:srgbClr val="000000"/>
                          </a:solidFill>
                        </a:defRPr>
                      </a:pPr>
                      <a:r>
                        <a:rPr sz="5000">
                          <a:solidFill>
                            <a:srgbClr val="FFFFFF"/>
                          </a:solidFill>
                        </a:rPr>
                        <a:t>Native/WASM</a:t>
                      </a:r>
                    </a:p>
                  </a:txBody>
                  <a:tcPr marL="50800" marR="50800" marT="50800" marB="50800" anchor="ctr" horzOverflow="overflow"/>
                </a:tc>
                <a:extLst>
                  <a:ext uri="{0D108BD9-81ED-4DB2-BD59-A6C34878D82A}">
                    <a16:rowId xmlns:a16="http://schemas.microsoft.com/office/drawing/2014/main" val="10002"/>
                  </a:ext>
                </a:extLst>
              </a:tr>
              <a:tr h="1886981">
                <a:tc>
                  <a:txBody>
                    <a:bodyPr/>
                    <a:lstStyle/>
                    <a:p>
                      <a:pPr>
                        <a:spcBef>
                          <a:spcPts val="5900"/>
                        </a:spcBef>
                        <a:defRPr sz="1800">
                          <a:solidFill>
                            <a:srgbClr val="000000"/>
                          </a:solidFill>
                        </a:defRPr>
                      </a:pPr>
                      <a:r>
                        <a:rPr sz="5000">
                          <a:solidFill>
                            <a:srgbClr val="FFFFFF"/>
                          </a:solidFill>
                        </a:rPr>
                        <a:t>Memory</a:t>
                      </a:r>
                    </a:p>
                  </a:txBody>
                  <a:tcPr marL="50800" marR="50800" marT="50800" marB="50800" anchor="ctr" horzOverflow="overflow"/>
                </a:tc>
                <a:tc>
                  <a:txBody>
                    <a:bodyPr/>
                    <a:lstStyle/>
                    <a:p>
                      <a:pPr>
                        <a:spcBef>
                          <a:spcPts val="5900"/>
                        </a:spcBef>
                        <a:defRPr sz="1800">
                          <a:solidFill>
                            <a:srgbClr val="000000"/>
                          </a:solidFill>
                        </a:defRPr>
                      </a:pPr>
                      <a:r>
                        <a:rPr sz="5000">
                          <a:solidFill>
                            <a:srgbClr val="FFFFFF"/>
                          </a:solidFill>
                        </a:rPr>
                        <a:t>GC</a:t>
                      </a:r>
                    </a:p>
                  </a:txBody>
                  <a:tcPr marL="50800" marR="50800" marT="50800" marB="50800" anchor="ctr" horzOverflow="overflow"/>
                </a:tc>
                <a:tc>
                  <a:txBody>
                    <a:bodyPr/>
                    <a:lstStyle/>
                    <a:p>
                      <a:pPr>
                        <a:spcBef>
                          <a:spcPts val="5900"/>
                        </a:spcBef>
                        <a:defRPr sz="1800">
                          <a:solidFill>
                            <a:srgbClr val="000000"/>
                          </a:solidFill>
                        </a:defRPr>
                      </a:pPr>
                      <a:r>
                        <a:rPr sz="5000">
                          <a:solidFill>
                            <a:srgbClr val="FFFFFF"/>
                          </a:solidFill>
                        </a:rPr>
                        <a:t>Ownership Model</a:t>
                      </a:r>
                    </a:p>
                  </a:txBody>
                  <a:tcPr marL="50800" marR="50800" marT="50800" marB="50800" anchor="ctr" horzOverflow="overflow"/>
                </a:tc>
                <a:extLst>
                  <a:ext uri="{0D108BD9-81ED-4DB2-BD59-A6C34878D82A}">
                    <a16:rowId xmlns:a16="http://schemas.microsoft.com/office/drawing/2014/main" val="10003"/>
                  </a:ext>
                </a:extLst>
              </a:tr>
              <a:tr h="1886981">
                <a:tc>
                  <a:txBody>
                    <a:bodyPr/>
                    <a:lstStyle/>
                    <a:p>
                      <a:pPr>
                        <a:spcBef>
                          <a:spcPts val="5900"/>
                        </a:spcBef>
                        <a:defRPr sz="1800">
                          <a:solidFill>
                            <a:srgbClr val="000000"/>
                          </a:solidFill>
                        </a:defRPr>
                      </a:pPr>
                      <a:r>
                        <a:rPr sz="5000">
                          <a:solidFill>
                            <a:srgbClr val="FFFFFF"/>
                          </a:solidFill>
                        </a:rPr>
                        <a:t>Paradigm</a:t>
                      </a:r>
                    </a:p>
                  </a:txBody>
                  <a:tcPr marL="50800" marR="50800" marT="50800" marB="50800" anchor="ctr" horzOverflow="overflow"/>
                </a:tc>
                <a:tc>
                  <a:txBody>
                    <a:bodyPr/>
                    <a:lstStyle/>
                    <a:p>
                      <a:pPr>
                        <a:spcBef>
                          <a:spcPts val="5900"/>
                        </a:spcBef>
                        <a:defRPr sz="1800">
                          <a:solidFill>
                            <a:srgbClr val="000000"/>
                          </a:solidFill>
                        </a:defRPr>
                      </a:pPr>
                      <a:r>
                        <a:rPr sz="5000">
                          <a:solidFill>
                            <a:srgbClr val="FFFFFF"/>
                          </a:solidFill>
                        </a:rPr>
                        <a:t>OOP/Functional/Generic/Declarative</a:t>
                      </a:r>
                    </a:p>
                  </a:txBody>
                  <a:tcPr marL="50800" marR="50800" marT="50800" marB="50800" anchor="ctr" horzOverflow="overflow"/>
                </a:tc>
                <a:tc>
                  <a:txBody>
                    <a:bodyPr/>
                    <a:lstStyle/>
                    <a:p>
                      <a:pPr>
                        <a:spcBef>
                          <a:spcPts val="5900"/>
                        </a:spcBef>
                        <a:defRPr sz="1800">
                          <a:solidFill>
                            <a:srgbClr val="000000"/>
                          </a:solidFill>
                        </a:defRPr>
                      </a:pPr>
                      <a:r>
                        <a:rPr sz="5000">
                          <a:solidFill>
                            <a:srgbClr val="FFFFFF"/>
                          </a:solidFill>
                        </a:rPr>
                        <a:t>Functional/Generic/Declarative</a:t>
                      </a:r>
                    </a:p>
                  </a:txBody>
                  <a:tcPr marL="50800" marR="50800" marT="50800" marB="50800" anchor="ctr" horzOverflow="overflow"/>
                </a:tc>
                <a:extLst>
                  <a:ext uri="{0D108BD9-81ED-4DB2-BD59-A6C34878D82A}">
                    <a16:rowId xmlns:a16="http://schemas.microsoft.com/office/drawing/2014/main" val="10004"/>
                  </a:ext>
                </a:extLst>
              </a:tr>
            </a:tbl>
          </a:graphicData>
        </a:graphic>
      </p:graphicFrame>
      <p:pic>
        <p:nvPicPr>
          <p:cNvPr id="377" name="Rust_programming_language_55d7ff_logo.png" descr="Rust_programming_language_55d7ff_logo.png"/>
          <p:cNvPicPr>
            <a:picLocks noChangeAspect="1"/>
          </p:cNvPicPr>
          <p:nvPr/>
        </p:nvPicPr>
        <p:blipFill>
          <a:blip r:embed="rId4"/>
          <a:stretch>
            <a:fillRect/>
          </a:stretch>
        </p:blipFill>
        <p:spPr>
          <a:xfrm>
            <a:off x="17401573" y="479028"/>
            <a:ext cx="2490990" cy="249099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Rust Use Cases"/>
          <p:cNvSpPr txBox="1">
            <a:spLocks noGrp="1"/>
          </p:cNvSpPr>
          <p:nvPr>
            <p:ph type="title"/>
          </p:nvPr>
        </p:nvSpPr>
        <p:spPr>
          <a:xfrm>
            <a:off x="3674590" y="5413001"/>
            <a:ext cx="17762867" cy="2469624"/>
          </a:xfrm>
          <a:prstGeom prst="rect">
            <a:avLst/>
          </a:prstGeom>
        </p:spPr>
        <p:txBody>
          <a:bodyPr/>
          <a:lstStyle>
            <a:lvl1pPr algn="ctr">
              <a:defRPr sz="11200" spc="1792">
                <a:solidFill>
                  <a:schemeClr val="accent2">
                    <a:satOff val="44164"/>
                    <a:lumOff val="14231"/>
                  </a:schemeClr>
                </a:solidFill>
                <a:latin typeface="Avenir Heavy"/>
                <a:ea typeface="Avenir Heavy"/>
                <a:cs typeface="Avenir Heavy"/>
                <a:sym typeface="Avenir Heavy"/>
              </a:defRPr>
            </a:lvl1pPr>
          </a:lstStyle>
          <a:p>
            <a:r>
              <a:t>Rust Use Cases</a:t>
            </a:r>
          </a:p>
        </p:txBody>
      </p:sp>
      <p:sp>
        <p:nvSpPr>
          <p:cNvPr id="380"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27</a:t>
            </a:fld>
            <a:endParaRPr/>
          </a:p>
        </p:txBody>
      </p:sp>
      <p:sp>
        <p:nvSpPr>
          <p:cNvPr id="381"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382" name="Rust_programming_language_55d7ff_logo.png" descr="Rust_programming_language_55d7ff_logo.png"/>
          <p:cNvPicPr>
            <a:picLocks noChangeAspect="1"/>
          </p:cNvPicPr>
          <p:nvPr/>
        </p:nvPicPr>
        <p:blipFill>
          <a:blip r:embed="rId3"/>
          <a:stretch>
            <a:fillRect/>
          </a:stretch>
        </p:blipFill>
        <p:spPr>
          <a:xfrm>
            <a:off x="1279858" y="5213426"/>
            <a:ext cx="2490990" cy="2490990"/>
          </a:xfrm>
          <a:prstGeom prst="rect">
            <a:avLst/>
          </a:prstGeom>
          <a:ln w="12700">
            <a:miter lim="400000"/>
          </a:ln>
        </p:spPr>
      </p:pic>
      <p:pic>
        <p:nvPicPr>
          <p:cNvPr id="383" name="Rust_programming_language_55d7ff_logo.png" descr="Rust_programming_language_55d7ff_logo.png"/>
          <p:cNvPicPr>
            <a:picLocks noChangeAspect="1"/>
          </p:cNvPicPr>
          <p:nvPr/>
        </p:nvPicPr>
        <p:blipFill>
          <a:blip r:embed="rId3"/>
          <a:stretch>
            <a:fillRect/>
          </a:stretch>
        </p:blipFill>
        <p:spPr>
          <a:xfrm>
            <a:off x="20934533" y="5035441"/>
            <a:ext cx="2490990" cy="249099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RUST Migration"/>
          <p:cNvSpPr txBox="1">
            <a:spLocks noGrp="1"/>
          </p:cNvSpPr>
          <p:nvPr>
            <p:ph type="title"/>
          </p:nvPr>
        </p:nvSpPr>
        <p:spPr>
          <a:xfrm>
            <a:off x="4136874" y="576651"/>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RUST Migration</a:t>
            </a:r>
          </a:p>
        </p:txBody>
      </p:sp>
      <p:sp>
        <p:nvSpPr>
          <p:cNvPr id="386"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28</a:t>
            </a:fld>
            <a:endParaRPr/>
          </a:p>
        </p:txBody>
      </p:sp>
      <p:sp>
        <p:nvSpPr>
          <p:cNvPr id="387"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dirty="0">
                <a:solidFill>
                  <a:schemeClr val="tx1"/>
                </a:solidFill>
              </a:rPr>
              <a:t>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388" name="Source: JetBrains State of Developer Ecosystem 2023 : https://www.jetbrains.com/lp/devecosystem-2023/rust/"/>
          <p:cNvSpPr txBox="1"/>
          <p:nvPr/>
        </p:nvSpPr>
        <p:spPr>
          <a:xfrm>
            <a:off x="2927751" y="12166627"/>
            <a:ext cx="17868669"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JetBrains State of Developer Ecosystem 2023 : https://www.jetbrains.com/lp/devecosystem-2023/rust/</a:t>
            </a:r>
          </a:p>
        </p:txBody>
      </p:sp>
      <p:pic>
        <p:nvPicPr>
          <p:cNvPr id="389" name="Rust-migration.png" descr="Rust-migration.png"/>
          <p:cNvPicPr>
            <a:picLocks noChangeAspect="1"/>
          </p:cNvPicPr>
          <p:nvPr/>
        </p:nvPicPr>
        <p:blipFill>
          <a:blip r:embed="rId3"/>
          <a:stretch>
            <a:fillRect/>
          </a:stretch>
        </p:blipFill>
        <p:spPr>
          <a:xfrm>
            <a:off x="5718859" y="1684821"/>
            <a:ext cx="12505207" cy="10473627"/>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1" name="Rust-domains.png" descr="Rust-domains.png"/>
          <p:cNvPicPr>
            <a:picLocks noChangeAspect="1"/>
          </p:cNvPicPr>
          <p:nvPr/>
        </p:nvPicPr>
        <p:blipFill>
          <a:blip r:embed="rId2"/>
          <a:stretch>
            <a:fillRect/>
          </a:stretch>
        </p:blipFill>
        <p:spPr>
          <a:xfrm>
            <a:off x="4727578" y="1334572"/>
            <a:ext cx="14614909" cy="11046856"/>
          </a:xfrm>
          <a:prstGeom prst="rect">
            <a:avLst/>
          </a:prstGeom>
          <a:ln w="12700">
            <a:miter lim="400000"/>
          </a:ln>
        </p:spPr>
      </p:pic>
      <p:sp>
        <p:nvSpPr>
          <p:cNvPr id="392" name="In What Domains is RUST Being Used"/>
          <p:cNvSpPr txBox="1">
            <a:spLocks noGrp="1"/>
          </p:cNvSpPr>
          <p:nvPr>
            <p:ph type="title"/>
          </p:nvPr>
        </p:nvSpPr>
        <p:spPr>
          <a:xfrm>
            <a:off x="1525873" y="328172"/>
            <a:ext cx="20712471" cy="1488299"/>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In What Domains is RUST Being Used</a:t>
            </a:r>
          </a:p>
        </p:txBody>
      </p:sp>
      <p:sp>
        <p:nvSpPr>
          <p:cNvPr id="393"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29</a:t>
            </a:fld>
            <a:endParaRPr/>
          </a:p>
        </p:txBody>
      </p:sp>
      <p:sp>
        <p:nvSpPr>
          <p:cNvPr id="394"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395" name="Source: 2023 Annual Rust Survey Results : https://blog.rust-lang.org/2024/02/19/2023-Rust-Annual-Survey-2023-results.html"/>
          <p:cNvSpPr txBox="1"/>
          <p:nvPr/>
        </p:nvSpPr>
        <p:spPr>
          <a:xfrm>
            <a:off x="2827488" y="12261970"/>
            <a:ext cx="18729024" cy="5443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2600">
                <a:latin typeface="Helvetica"/>
                <a:ea typeface="Helvetica"/>
                <a:cs typeface="Helvetica"/>
                <a:sym typeface="Helvetica"/>
              </a:defRPr>
            </a:pPr>
            <a:r>
              <a:rPr dirty="0"/>
              <a:t>Source: 2023 Annual Rust Survey Results : </a:t>
            </a:r>
            <a:r>
              <a:rPr u="sng" dirty="0">
                <a:solidFill>
                  <a:schemeClr val="tx1"/>
                </a:solidFill>
                <a:hlinkClick r:id="rId4">
                  <a:extLst>
                    <a:ext uri="{A12FA001-AC4F-418D-AE19-62706E023703}">
                      <ahyp:hlinkClr xmlns:ahyp="http://schemas.microsoft.com/office/drawing/2018/hyperlinkcolor" val="tx"/>
                    </a:ext>
                  </a:extLst>
                </a:hlinkClick>
              </a:rPr>
              <a:t>https://blog.rust-lang.org/2024/02/19/2023-Rust-Annual-Survey-2023-results.html</a:t>
            </a:r>
            <a:r>
              <a:rPr dirty="0">
                <a:solidFill>
                  <a:schemeClr val="tx1"/>
                </a:solidFill>
              </a:rPr>
              <a:t> </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What are DEVELOPERS making with RUST?"/>
          <p:cNvSpPr txBox="1">
            <a:spLocks noGrp="1"/>
          </p:cNvSpPr>
          <p:nvPr>
            <p:ph type="title"/>
          </p:nvPr>
        </p:nvSpPr>
        <p:spPr>
          <a:xfrm>
            <a:off x="1525873" y="328172"/>
            <a:ext cx="20712471" cy="1488299"/>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What are DEVELOPERS making with RUST?</a:t>
            </a:r>
          </a:p>
        </p:txBody>
      </p:sp>
      <p:sp>
        <p:nvSpPr>
          <p:cNvPr id="398"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30</a:t>
            </a:fld>
            <a:endParaRPr/>
          </a:p>
        </p:txBody>
      </p:sp>
      <p:sp>
        <p:nvSpPr>
          <p:cNvPr id="399"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400" name="Source: JetBrains State of Developer Ecosystem 2023 : https://www.jetbrains.com/lp/devecosystem-2023/rust/"/>
          <p:cNvSpPr txBox="1"/>
          <p:nvPr/>
        </p:nvSpPr>
        <p:spPr>
          <a:xfrm>
            <a:off x="2947775" y="11977729"/>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JetBrains State of Developer Ecosystem 2023 : https://www.jetbrains.com/lp/devecosystem-2023/rust/</a:t>
            </a:r>
          </a:p>
        </p:txBody>
      </p:sp>
      <p:pic>
        <p:nvPicPr>
          <p:cNvPr id="401" name="Rust-Project-bg-black.png" descr="Rust-Project-bg-black.png"/>
          <p:cNvPicPr>
            <a:picLocks noChangeAspect="1"/>
          </p:cNvPicPr>
          <p:nvPr/>
        </p:nvPicPr>
        <p:blipFill>
          <a:blip r:embed="rId3"/>
          <a:stretch>
            <a:fillRect/>
          </a:stretch>
        </p:blipFill>
        <p:spPr>
          <a:xfrm>
            <a:off x="853310" y="1350793"/>
            <a:ext cx="23037801" cy="1057910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3" name="which-os-do-you-target-bg-black2.png" descr="which-os-do-you-target-bg-black2.png"/>
          <p:cNvPicPr>
            <a:picLocks noChangeAspect="1"/>
          </p:cNvPicPr>
          <p:nvPr/>
        </p:nvPicPr>
        <p:blipFill>
          <a:blip r:embed="rId2"/>
          <a:stretch>
            <a:fillRect/>
          </a:stretch>
        </p:blipFill>
        <p:spPr>
          <a:xfrm>
            <a:off x="4721341" y="1630312"/>
            <a:ext cx="14748022" cy="10786509"/>
          </a:xfrm>
          <a:prstGeom prst="rect">
            <a:avLst/>
          </a:prstGeom>
          <a:ln w="12700">
            <a:miter lim="400000"/>
          </a:ln>
        </p:spPr>
      </p:pic>
      <p:sp>
        <p:nvSpPr>
          <p:cNvPr id="404" name="RUST Target OS/Runtimes"/>
          <p:cNvSpPr txBox="1">
            <a:spLocks noGrp="1"/>
          </p:cNvSpPr>
          <p:nvPr>
            <p:ph type="title"/>
          </p:nvPr>
        </p:nvSpPr>
        <p:spPr>
          <a:xfrm>
            <a:off x="1937678" y="576651"/>
            <a:ext cx="19243829"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RUST Target OS/Runtimes</a:t>
            </a:r>
          </a:p>
        </p:txBody>
      </p:sp>
      <p:sp>
        <p:nvSpPr>
          <p:cNvPr id="405"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31</a:t>
            </a:fld>
            <a:endParaRPr/>
          </a:p>
        </p:txBody>
      </p:sp>
      <p:sp>
        <p:nvSpPr>
          <p:cNvPr id="406"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407" name="Source: 2023 Annual Rust Survey Results : https://blog.rust-lang.org/2024/02/19/2023-Rust-Annual-Survey-2023-results.html"/>
          <p:cNvSpPr txBox="1"/>
          <p:nvPr/>
        </p:nvSpPr>
        <p:spPr>
          <a:xfrm>
            <a:off x="2827488" y="12261970"/>
            <a:ext cx="18729024" cy="5443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2600">
                <a:latin typeface="Helvetica"/>
                <a:ea typeface="Helvetica"/>
                <a:cs typeface="Helvetica"/>
                <a:sym typeface="Helvetica"/>
              </a:defRPr>
            </a:pPr>
            <a:r>
              <a:rPr dirty="0"/>
              <a:t>Source: 2023 Annual Rust Survey Results : </a:t>
            </a:r>
            <a:r>
              <a:rPr u="sng" dirty="0">
                <a:solidFill>
                  <a:schemeClr val="tx1"/>
                </a:solidFill>
                <a:hlinkClick r:id="rId4">
                  <a:extLst>
                    <a:ext uri="{A12FA001-AC4F-418D-AE19-62706E023703}">
                      <ahyp:hlinkClr xmlns:ahyp="http://schemas.microsoft.com/office/drawing/2018/hyperlinkcolor" val="tx"/>
                    </a:ext>
                  </a:extLst>
                </a:hlinkClick>
              </a:rPr>
              <a:t>https://blog.rust-lang.org/2024/02/19/2023-Rust-Annual-Survey-2023-results.html</a:t>
            </a:r>
            <a:r>
              <a:rPr dirty="0">
                <a:solidFill>
                  <a:schemeClr val="tx1"/>
                </a:solidFill>
              </a:rPr>
              <a:t> </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WebAssembly (WASM)"/>
          <p:cNvSpPr txBox="1">
            <a:spLocks noGrp="1"/>
          </p:cNvSpPr>
          <p:nvPr>
            <p:ph type="title"/>
          </p:nvPr>
        </p:nvSpPr>
        <p:spPr>
          <a:xfrm>
            <a:off x="3976687" y="85725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WebAssembly (WASM)</a:t>
            </a:r>
          </a:p>
        </p:txBody>
      </p:sp>
      <p:sp>
        <p:nvSpPr>
          <p:cNvPr id="410" name="Goal: Enable high-performance applications on web browsers.…"/>
          <p:cNvSpPr txBox="1">
            <a:spLocks noGrp="1"/>
          </p:cNvSpPr>
          <p:nvPr>
            <p:ph type="body" idx="1"/>
          </p:nvPr>
        </p:nvSpPr>
        <p:spPr>
          <a:xfrm>
            <a:off x="3636514" y="2974238"/>
            <a:ext cx="17110972" cy="8466460"/>
          </a:xfrm>
          <a:prstGeom prst="rect">
            <a:avLst/>
          </a:prstGeom>
        </p:spPr>
        <p:txBody>
          <a:bodyPr anchor="t"/>
          <a:lstStyle/>
          <a:p>
            <a:pPr marL="657859" indent="-657859">
              <a:spcBef>
                <a:spcPts val="5200"/>
              </a:spcBef>
              <a:defRPr sz="5600">
                <a:latin typeface="Avenir Medium"/>
                <a:ea typeface="Avenir Medium"/>
                <a:cs typeface="Avenir Medium"/>
                <a:sym typeface="Avenir Medium"/>
              </a:defRPr>
            </a:pPr>
            <a:r>
              <a:t>Goal: Enable high-performance applications on web browsers. </a:t>
            </a:r>
          </a:p>
          <a:p>
            <a:pPr marL="657859" indent="-657859">
              <a:spcBef>
                <a:spcPts val="5200"/>
              </a:spcBef>
              <a:defRPr sz="5600">
                <a:latin typeface="Avenir Medium"/>
                <a:ea typeface="Avenir Medium"/>
                <a:cs typeface="Avenir Medium"/>
                <a:sym typeface="Avenir Medium"/>
              </a:defRPr>
            </a:pPr>
            <a:r>
              <a:t>A binary instruction format for a stack-based virtual machine. Multiple languages can be used to create WASM, including       Rust.</a:t>
            </a:r>
          </a:p>
          <a:p>
            <a:pPr marL="657859" indent="-657859">
              <a:spcBef>
                <a:spcPts val="5200"/>
              </a:spcBef>
              <a:defRPr sz="5600">
                <a:latin typeface="Avenir Medium"/>
                <a:ea typeface="Avenir Medium"/>
                <a:cs typeface="Avenir Medium"/>
                <a:sym typeface="Avenir Medium"/>
              </a:defRPr>
            </a:pPr>
            <a:r>
              <a:t>Supported by all major web browsers, including mobile web browsers for iOS and Android.</a:t>
            </a:r>
          </a:p>
        </p:txBody>
      </p:sp>
      <p:sp>
        <p:nvSpPr>
          <p:cNvPr id="411"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32</a:t>
            </a:fld>
            <a:endParaRPr/>
          </a:p>
        </p:txBody>
      </p:sp>
      <p:sp>
        <p:nvSpPr>
          <p:cNvPr id="412"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413" name="WebAssembly_Logo.svg" descr="WebAssembly_Logo.svg"/>
          <p:cNvPicPr>
            <a:picLocks noChangeAspect="1"/>
          </p:cNvPicPr>
          <p:nvPr/>
        </p:nvPicPr>
        <p:blipFill>
          <a:blip r:embed="rId4"/>
          <a:stretch>
            <a:fillRect/>
          </a:stretch>
        </p:blipFill>
        <p:spPr>
          <a:xfrm>
            <a:off x="370054" y="466200"/>
            <a:ext cx="2270398" cy="2270398"/>
          </a:xfrm>
          <a:prstGeom prst="rect">
            <a:avLst/>
          </a:prstGeom>
          <a:ln w="12700">
            <a:miter lim="400000"/>
          </a:ln>
        </p:spPr>
      </p:pic>
      <p:pic>
        <p:nvPicPr>
          <p:cNvPr id="414" name="rustacean-flat-happy.png" descr="rustacean-flat-happy.png"/>
          <p:cNvPicPr>
            <a:picLocks noChangeAspect="1"/>
          </p:cNvPicPr>
          <p:nvPr/>
        </p:nvPicPr>
        <p:blipFill>
          <a:blip r:embed="rId5"/>
          <a:stretch>
            <a:fillRect/>
          </a:stretch>
        </p:blipFill>
        <p:spPr>
          <a:xfrm>
            <a:off x="13063812" y="7207468"/>
            <a:ext cx="1259539" cy="840606"/>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RUST and WebAssembly (WASM)"/>
          <p:cNvSpPr txBox="1">
            <a:spLocks noGrp="1"/>
          </p:cNvSpPr>
          <p:nvPr>
            <p:ph type="title"/>
          </p:nvPr>
        </p:nvSpPr>
        <p:spPr>
          <a:xfrm>
            <a:off x="3976687" y="85725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RUST and WebAssembly (WASM)</a:t>
            </a:r>
          </a:p>
        </p:txBody>
      </p:sp>
      <p:sp>
        <p:nvSpPr>
          <p:cNvPr id="419"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33</a:t>
            </a:fld>
            <a:endParaRPr/>
          </a:p>
        </p:txBody>
      </p:sp>
      <p:sp>
        <p:nvSpPr>
          <p:cNvPr id="420"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421" name="WebAssembly_Logo.svg" descr="WebAssembly_Logo.svg"/>
          <p:cNvPicPr>
            <a:picLocks noChangeAspect="1"/>
          </p:cNvPicPr>
          <p:nvPr/>
        </p:nvPicPr>
        <p:blipFill>
          <a:blip r:embed="rId3"/>
          <a:stretch>
            <a:fillRect/>
          </a:stretch>
        </p:blipFill>
        <p:spPr>
          <a:xfrm>
            <a:off x="1081373" y="466200"/>
            <a:ext cx="2270397" cy="2270398"/>
          </a:xfrm>
          <a:prstGeom prst="rect">
            <a:avLst/>
          </a:prstGeom>
          <a:ln w="12700">
            <a:miter lim="400000"/>
          </a:ln>
        </p:spPr>
      </p:pic>
      <p:pic>
        <p:nvPicPr>
          <p:cNvPr id="422" name="wasm-language-usage-black-bg.png" descr="wasm-language-usage-black-bg.png"/>
          <p:cNvPicPr>
            <a:picLocks noChangeAspect="1"/>
          </p:cNvPicPr>
          <p:nvPr/>
        </p:nvPicPr>
        <p:blipFill>
          <a:blip r:embed="rId4"/>
          <a:stretch>
            <a:fillRect/>
          </a:stretch>
        </p:blipFill>
        <p:spPr>
          <a:xfrm>
            <a:off x="3631575" y="2213510"/>
            <a:ext cx="16721258" cy="10016442"/>
          </a:xfrm>
          <a:prstGeom prst="rect">
            <a:avLst/>
          </a:prstGeom>
          <a:ln w="12700">
            <a:miter lim="400000"/>
          </a:ln>
        </p:spPr>
      </p:pic>
      <p:sp>
        <p:nvSpPr>
          <p:cNvPr id="423" name="Source: The State of WebAssembly 2023: https://blog.scottlogic.com/2023/10/18/the-state-of-webassembly-2023.html"/>
          <p:cNvSpPr txBox="1"/>
          <p:nvPr/>
        </p:nvSpPr>
        <p:spPr>
          <a:xfrm>
            <a:off x="2827488" y="12261970"/>
            <a:ext cx="18729024" cy="5443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2600">
                <a:latin typeface="Helvetica"/>
                <a:ea typeface="Helvetica"/>
                <a:cs typeface="Helvetica"/>
                <a:sym typeface="Helvetica"/>
              </a:defRPr>
            </a:pPr>
            <a:r>
              <a:rPr dirty="0"/>
              <a:t>Source: The State of </a:t>
            </a:r>
            <a:r>
              <a:rPr dirty="0" err="1"/>
              <a:t>WebAssembly</a:t>
            </a:r>
            <a:r>
              <a:rPr dirty="0"/>
              <a:t> 2023: </a:t>
            </a:r>
            <a:r>
              <a:rPr u="sng" dirty="0">
                <a:solidFill>
                  <a:schemeClr val="tx1"/>
                </a:solidFill>
                <a:hlinkClick r:id="rId5">
                  <a:extLst>
                    <a:ext uri="{A12FA001-AC4F-418D-AE19-62706E023703}">
                      <ahyp:hlinkClr xmlns:ahyp="http://schemas.microsoft.com/office/drawing/2018/hyperlinkcolor" val="tx"/>
                    </a:ext>
                  </a:extLst>
                </a:hlinkClick>
              </a:rPr>
              <a:t>https://blog.scottlogic.com/2023/10/18/the-state-of-webassembly-2023.html</a:t>
            </a:r>
            <a:r>
              <a:rPr dirty="0">
                <a:solidFill>
                  <a:schemeClr val="tx1"/>
                </a:solidFill>
              </a:rPr>
              <a:t> </a:t>
            </a:r>
          </a:p>
        </p:txBody>
      </p:sp>
      <p:pic>
        <p:nvPicPr>
          <p:cNvPr id="424" name="Rust_programming_language_white_logo.png" descr="Rust_programming_language_white_logo.png"/>
          <p:cNvPicPr>
            <a:picLocks noChangeAspect="1"/>
          </p:cNvPicPr>
          <p:nvPr/>
        </p:nvPicPr>
        <p:blipFill>
          <a:blip r:embed="rId6"/>
          <a:stretch>
            <a:fillRect/>
          </a:stretch>
        </p:blipFill>
        <p:spPr>
          <a:xfrm>
            <a:off x="241203" y="90780"/>
            <a:ext cx="1668614" cy="1668613"/>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WebAssembly Beyond the Browser"/>
          <p:cNvSpPr txBox="1">
            <a:spLocks noGrp="1"/>
          </p:cNvSpPr>
          <p:nvPr>
            <p:ph type="title"/>
          </p:nvPr>
        </p:nvSpPr>
        <p:spPr>
          <a:xfrm>
            <a:off x="3721208" y="857250"/>
            <a:ext cx="17828329"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WebAssembly Beyond the Browser</a:t>
            </a:r>
          </a:p>
        </p:txBody>
      </p:sp>
      <p:sp>
        <p:nvSpPr>
          <p:cNvPr id="427"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34</a:t>
            </a:fld>
            <a:endParaRPr/>
          </a:p>
        </p:txBody>
      </p:sp>
      <p:sp>
        <p:nvSpPr>
          <p:cNvPr id="428"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429" name="WebAssembly_Logo.svg" descr="WebAssembly_Logo.svg"/>
          <p:cNvPicPr>
            <a:picLocks noChangeAspect="1"/>
          </p:cNvPicPr>
          <p:nvPr/>
        </p:nvPicPr>
        <p:blipFill>
          <a:blip r:embed="rId3"/>
          <a:stretch>
            <a:fillRect/>
          </a:stretch>
        </p:blipFill>
        <p:spPr>
          <a:xfrm>
            <a:off x="370054" y="466200"/>
            <a:ext cx="2270398" cy="2270398"/>
          </a:xfrm>
          <a:prstGeom prst="rect">
            <a:avLst/>
          </a:prstGeom>
          <a:ln w="12700">
            <a:miter lim="400000"/>
          </a:ln>
        </p:spPr>
      </p:pic>
      <p:sp>
        <p:nvSpPr>
          <p:cNvPr id="430" name="The evolution of WebAssembly from browser-based to non-browser contexts.…"/>
          <p:cNvSpPr txBox="1">
            <a:spLocks noGrp="1"/>
          </p:cNvSpPr>
          <p:nvPr>
            <p:ph type="body" idx="1"/>
          </p:nvPr>
        </p:nvSpPr>
        <p:spPr>
          <a:xfrm>
            <a:off x="3636514" y="2974238"/>
            <a:ext cx="17110972" cy="8466460"/>
          </a:xfrm>
          <a:prstGeom prst="rect">
            <a:avLst/>
          </a:prstGeom>
        </p:spPr>
        <p:txBody>
          <a:bodyPr anchor="t"/>
          <a:lstStyle/>
          <a:p>
            <a:pPr marL="578916" indent="-578916" defTabSz="722947">
              <a:spcBef>
                <a:spcPts val="4500"/>
              </a:spcBef>
              <a:defRPr sz="4928">
                <a:latin typeface="Avenir Medium"/>
                <a:ea typeface="Avenir Medium"/>
                <a:cs typeface="Avenir Medium"/>
                <a:sym typeface="Avenir Medium"/>
              </a:defRPr>
            </a:pPr>
            <a:r>
              <a:t>The evolution of WebAssembly from browser-based to non-browser contexts. </a:t>
            </a:r>
          </a:p>
          <a:p>
            <a:pPr marL="578916" indent="-578916" defTabSz="722947">
              <a:spcBef>
                <a:spcPts val="4500"/>
              </a:spcBef>
              <a:defRPr sz="4928">
                <a:latin typeface="Avenir Medium"/>
                <a:ea typeface="Avenir Medium"/>
                <a:cs typeface="Avenir Medium"/>
                <a:sym typeface="Avenir Medium"/>
              </a:defRPr>
            </a:pPr>
            <a:r>
              <a:t>Mirrors evolution of JavaScript to Node.js</a:t>
            </a:r>
          </a:p>
          <a:p>
            <a:pPr marL="578916" indent="-578916" defTabSz="722947">
              <a:spcBef>
                <a:spcPts val="4500"/>
              </a:spcBef>
              <a:defRPr sz="4928">
                <a:latin typeface="Avenir Medium"/>
                <a:ea typeface="Avenir Medium"/>
                <a:cs typeface="Avenir Medium"/>
                <a:sym typeface="Avenir Medium"/>
              </a:defRPr>
            </a:pPr>
            <a:r>
              <a:t>Similarities to Java Virtual Machine.</a:t>
            </a:r>
          </a:p>
          <a:p>
            <a:pPr marL="992428" lvl="1" indent="-578916" defTabSz="722947">
              <a:spcBef>
                <a:spcPts val="4500"/>
              </a:spcBef>
              <a:defRPr sz="4928">
                <a:latin typeface="Avenir Medium"/>
                <a:ea typeface="Avenir Medium"/>
                <a:cs typeface="Avenir Medium"/>
                <a:sym typeface="Avenir Medium"/>
              </a:defRPr>
            </a:pPr>
            <a:r>
              <a:t>WasmGC is supported in Chrome and Firefox but is still pending in Safari.</a:t>
            </a:r>
          </a:p>
          <a:p>
            <a:pPr marL="992428" lvl="1" indent="-578916" defTabSz="722947">
              <a:spcBef>
                <a:spcPts val="4500"/>
              </a:spcBef>
              <a:defRPr sz="4928">
                <a:latin typeface="Avenir Medium"/>
                <a:ea typeface="Avenir Medium"/>
                <a:cs typeface="Avenir Medium"/>
                <a:sym typeface="Avenir Medium"/>
              </a:defRPr>
            </a:pPr>
            <a:r>
              <a:t>Kotlin can compile to  WASM using WasmGC.</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 name="WebAssembly Runtimes"/>
          <p:cNvSpPr txBox="1">
            <a:spLocks noGrp="1"/>
          </p:cNvSpPr>
          <p:nvPr>
            <p:ph type="title"/>
          </p:nvPr>
        </p:nvSpPr>
        <p:spPr>
          <a:xfrm>
            <a:off x="3976687" y="85725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WebAssembly Runtimes</a:t>
            </a:r>
          </a:p>
        </p:txBody>
      </p:sp>
      <p:sp>
        <p:nvSpPr>
          <p:cNvPr id="433"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35</a:t>
            </a:fld>
            <a:endParaRPr/>
          </a:p>
        </p:txBody>
      </p:sp>
      <p:sp>
        <p:nvSpPr>
          <p:cNvPr id="434"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435" name="WebAssembly_Logo.svg" descr="WebAssembly_Logo.svg"/>
          <p:cNvPicPr>
            <a:picLocks noChangeAspect="1"/>
          </p:cNvPicPr>
          <p:nvPr/>
        </p:nvPicPr>
        <p:blipFill>
          <a:blip r:embed="rId3"/>
          <a:stretch>
            <a:fillRect/>
          </a:stretch>
        </p:blipFill>
        <p:spPr>
          <a:xfrm>
            <a:off x="370054" y="466200"/>
            <a:ext cx="2270398" cy="2270398"/>
          </a:xfrm>
          <a:prstGeom prst="rect">
            <a:avLst/>
          </a:prstGeom>
          <a:ln w="12700">
            <a:miter lim="400000"/>
          </a:ln>
        </p:spPr>
      </p:pic>
      <p:sp>
        <p:nvSpPr>
          <p:cNvPr id="436" name="Source: The State of WebAssembly 2023: https://blog.scottlogic.com/2023/10/18/the-state-of-webassembly-2023.html"/>
          <p:cNvSpPr txBox="1"/>
          <p:nvPr/>
        </p:nvSpPr>
        <p:spPr>
          <a:xfrm>
            <a:off x="2515237" y="12062412"/>
            <a:ext cx="18729023" cy="5443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2600">
                <a:latin typeface="Helvetica"/>
                <a:ea typeface="Helvetica"/>
                <a:cs typeface="Helvetica"/>
                <a:sym typeface="Helvetica"/>
              </a:defRPr>
            </a:pPr>
            <a:r>
              <a:rPr dirty="0"/>
              <a:t>Source: The State of </a:t>
            </a:r>
            <a:r>
              <a:rPr dirty="0" err="1"/>
              <a:t>WebAssembly</a:t>
            </a:r>
            <a:r>
              <a:rPr dirty="0"/>
              <a:t> 2023: </a:t>
            </a:r>
            <a:r>
              <a:rPr u="sng" dirty="0">
                <a:solidFill>
                  <a:schemeClr val="tx1"/>
                </a:solidFill>
                <a:hlinkClick r:id="rId4">
                  <a:extLst>
                    <a:ext uri="{A12FA001-AC4F-418D-AE19-62706E023703}">
                      <ahyp:hlinkClr xmlns:ahyp="http://schemas.microsoft.com/office/drawing/2018/hyperlinkcolor" val="tx"/>
                    </a:ext>
                  </a:extLst>
                </a:hlinkClick>
              </a:rPr>
              <a:t>https://blog.scottlogic.com/2023/10/18/the-state-of-webassembly-2023.html</a:t>
            </a:r>
            <a:r>
              <a:rPr dirty="0">
                <a:solidFill>
                  <a:schemeClr val="tx1"/>
                </a:solidFill>
              </a:rPr>
              <a:t> </a:t>
            </a:r>
          </a:p>
        </p:txBody>
      </p:sp>
      <p:pic>
        <p:nvPicPr>
          <p:cNvPr id="437" name="wasm-runtime-usage-black-bg.png" descr="wasm-runtime-usage-black-bg.png"/>
          <p:cNvPicPr>
            <a:picLocks noChangeAspect="1"/>
          </p:cNvPicPr>
          <p:nvPr/>
        </p:nvPicPr>
        <p:blipFill>
          <a:blip r:embed="rId5"/>
          <a:stretch>
            <a:fillRect/>
          </a:stretch>
        </p:blipFill>
        <p:spPr>
          <a:xfrm>
            <a:off x="3976687" y="2924848"/>
            <a:ext cx="16430626" cy="8761723"/>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Learning More About Rust"/>
          <p:cNvSpPr txBox="1">
            <a:spLocks noGrp="1"/>
          </p:cNvSpPr>
          <p:nvPr>
            <p:ph type="title"/>
          </p:nvPr>
        </p:nvSpPr>
        <p:spPr>
          <a:xfrm>
            <a:off x="3674590" y="5413001"/>
            <a:ext cx="17762867" cy="2469624"/>
          </a:xfrm>
          <a:prstGeom prst="rect">
            <a:avLst/>
          </a:prstGeom>
        </p:spPr>
        <p:txBody>
          <a:bodyPr/>
          <a:lstStyle>
            <a:lvl1pPr algn="ctr" defTabSz="542210">
              <a:defRPr sz="7392" spc="1182">
                <a:solidFill>
                  <a:schemeClr val="accent2">
                    <a:satOff val="44164"/>
                    <a:lumOff val="14231"/>
                  </a:schemeClr>
                </a:solidFill>
                <a:latin typeface="Avenir Heavy"/>
                <a:ea typeface="Avenir Heavy"/>
                <a:cs typeface="Avenir Heavy"/>
                <a:sym typeface="Avenir Heavy"/>
              </a:defRPr>
            </a:lvl1pPr>
          </a:lstStyle>
          <a:p>
            <a:r>
              <a:t>Learning More About Rust</a:t>
            </a:r>
          </a:p>
        </p:txBody>
      </p:sp>
      <p:sp>
        <p:nvSpPr>
          <p:cNvPr id="440"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36</a:t>
            </a:fld>
            <a:endParaRPr/>
          </a:p>
        </p:txBody>
      </p:sp>
      <p:sp>
        <p:nvSpPr>
          <p:cNvPr id="441"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442" name="Easter-Island-Statue-black-background.png" descr="Easter-Island-Statue-black-background.png"/>
          <p:cNvPicPr>
            <a:picLocks noChangeAspect="1"/>
          </p:cNvPicPr>
          <p:nvPr/>
        </p:nvPicPr>
        <p:blipFill>
          <a:blip r:embed="rId4"/>
          <a:stretch>
            <a:fillRect/>
          </a:stretch>
        </p:blipFill>
        <p:spPr>
          <a:xfrm>
            <a:off x="711462" y="4271874"/>
            <a:ext cx="2433495" cy="388581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Learning more about RUST"/>
          <p:cNvSpPr txBox="1">
            <a:spLocks noGrp="1"/>
          </p:cNvSpPr>
          <p:nvPr>
            <p:ph type="title"/>
          </p:nvPr>
        </p:nvSpPr>
        <p:spPr>
          <a:xfrm>
            <a:off x="319327" y="-110758"/>
            <a:ext cx="23745346" cy="2863116"/>
          </a:xfrm>
          <a:prstGeom prst="rect">
            <a:avLst/>
          </a:prstGeom>
        </p:spPr>
        <p:txBody>
          <a:bodyPr/>
          <a:lstStyle/>
          <a:p>
            <a:pPr algn="ctr">
              <a:defRPr sz="6400" spc="1024">
                <a:solidFill>
                  <a:schemeClr val="accent2">
                    <a:satOff val="44164"/>
                    <a:lumOff val="14231"/>
                  </a:schemeClr>
                </a:solidFill>
                <a:latin typeface="Avenir Heavy"/>
                <a:ea typeface="Avenir Heavy"/>
                <a:cs typeface="Avenir Heavy"/>
                <a:sym typeface="Avenir Heavy"/>
              </a:defRPr>
            </a:pPr>
            <a:endParaRPr/>
          </a:p>
          <a:p>
            <a:pPr algn="ctr">
              <a:defRPr sz="6400" spc="1024">
                <a:solidFill>
                  <a:schemeClr val="accent2">
                    <a:satOff val="44164"/>
                    <a:lumOff val="14231"/>
                  </a:schemeClr>
                </a:solidFill>
                <a:latin typeface="Avenir Heavy"/>
                <a:ea typeface="Avenir Heavy"/>
                <a:cs typeface="Avenir Heavy"/>
                <a:sym typeface="Avenir Heavy"/>
              </a:defRPr>
            </a:pPr>
            <a:r>
              <a:t>Learning more about RUST</a:t>
            </a:r>
          </a:p>
        </p:txBody>
      </p:sp>
      <p:sp>
        <p:nvSpPr>
          <p:cNvPr id="447" name="“The Book” The Rust Programming Language…"/>
          <p:cNvSpPr txBox="1">
            <a:spLocks noGrp="1"/>
          </p:cNvSpPr>
          <p:nvPr>
            <p:ph type="body" idx="1"/>
          </p:nvPr>
        </p:nvSpPr>
        <p:spPr>
          <a:xfrm>
            <a:off x="1854226" y="3086048"/>
            <a:ext cx="20791979" cy="9372725"/>
          </a:xfrm>
          <a:prstGeom prst="rect">
            <a:avLst/>
          </a:prstGeom>
        </p:spPr>
        <p:txBody>
          <a:bodyPr anchor="t"/>
          <a:lstStyle/>
          <a:p>
            <a:pPr marL="302615" indent="-302615" defTabSz="377904">
              <a:spcBef>
                <a:spcPts val="2300"/>
              </a:spcBef>
              <a:defRPr sz="3358">
                <a:latin typeface="Avenir Medium"/>
                <a:ea typeface="Avenir Medium"/>
                <a:cs typeface="Avenir Medium"/>
                <a:sym typeface="Avenir Medium"/>
              </a:defRPr>
            </a:pPr>
            <a:r>
              <a:rPr dirty="0"/>
              <a:t>“The Book” The Rust Programming Language</a:t>
            </a:r>
          </a:p>
          <a:p>
            <a:pPr marL="734923" lvl="2" indent="-302615" defTabSz="377904">
              <a:spcBef>
                <a:spcPts val="2300"/>
              </a:spcBef>
              <a:defRPr sz="2990">
                <a:latin typeface="Avenir Medium"/>
                <a:ea typeface="Avenir Medium"/>
                <a:cs typeface="Avenir Medium"/>
                <a:sym typeface="Avenir Medium"/>
              </a:defRPr>
            </a:pPr>
            <a:r>
              <a:rPr u="sng" dirty="0">
                <a:solidFill>
                  <a:schemeClr val="tx1"/>
                </a:solidFill>
                <a:hlinkClick r:id="rId2">
                  <a:extLst>
                    <a:ext uri="{A12FA001-AC4F-418D-AE19-62706E023703}">
                      <ahyp:hlinkClr xmlns:ahyp="http://schemas.microsoft.com/office/drawing/2018/hyperlinkcolor" val="tx"/>
                    </a:ext>
                  </a:extLst>
                </a:hlinkClick>
              </a:rPr>
              <a:t>https://doc.rust-lang.org/book/</a:t>
            </a:r>
          </a:p>
          <a:p>
            <a:pPr marL="734923" lvl="2" indent="-302615" defTabSz="377904">
              <a:spcBef>
                <a:spcPts val="2300"/>
              </a:spcBef>
              <a:defRPr sz="2990">
                <a:latin typeface="Avenir Medium"/>
                <a:ea typeface="Avenir Medium"/>
                <a:cs typeface="Avenir Medium"/>
                <a:sym typeface="Avenir Medium"/>
              </a:defRPr>
            </a:pPr>
            <a:r>
              <a:rPr u="sng" dirty="0">
                <a:solidFill>
                  <a:schemeClr val="tx1"/>
                </a:solidFill>
                <a:hlinkClick r:id="rId3">
                  <a:extLst>
                    <a:ext uri="{A12FA001-AC4F-418D-AE19-62706E023703}">
                      <ahyp:hlinkClr xmlns:ahyp="http://schemas.microsoft.com/office/drawing/2018/hyperlinkcolor" val="tx"/>
                    </a:ext>
                  </a:extLst>
                </a:hlinkClick>
              </a:rPr>
              <a:t>https://www.amazon.com/Rust-Programming-Language-2nd/dp/1718503105/</a:t>
            </a:r>
          </a:p>
          <a:p>
            <a:pPr marL="302615" indent="-302615" defTabSz="377904">
              <a:spcBef>
                <a:spcPts val="2300"/>
              </a:spcBef>
              <a:defRPr sz="3358">
                <a:latin typeface="Avenir Medium"/>
                <a:ea typeface="Avenir Medium"/>
                <a:cs typeface="Avenir Medium"/>
                <a:sym typeface="Avenir Medium"/>
              </a:defRPr>
            </a:pPr>
            <a:r>
              <a:rPr dirty="0"/>
              <a:t>Let’s Get Rusty (“The Book” in videos)</a:t>
            </a:r>
          </a:p>
          <a:p>
            <a:pPr marL="734923" lvl="2" indent="-302615" defTabSz="377904">
              <a:spcBef>
                <a:spcPts val="2300"/>
              </a:spcBef>
              <a:defRPr sz="2990">
                <a:latin typeface="Avenir Medium"/>
                <a:ea typeface="Avenir Medium"/>
                <a:cs typeface="Avenir Medium"/>
                <a:sym typeface="Avenir Medium"/>
              </a:defRPr>
            </a:pPr>
            <a:r>
              <a:rPr u="sng" dirty="0">
                <a:solidFill>
                  <a:schemeClr val="tx1"/>
                </a:solidFill>
                <a:hlinkClick r:id="rId4">
                  <a:extLst>
                    <a:ext uri="{A12FA001-AC4F-418D-AE19-62706E023703}">
                      <ahyp:hlinkClr xmlns:ahyp="http://schemas.microsoft.com/office/drawing/2018/hyperlinkcolor" val="tx"/>
                    </a:ext>
                  </a:extLst>
                </a:hlinkClick>
              </a:rPr>
              <a:t>https://www.youtube.com/playlist?list=PLai5B987bZ9CoVR-QEIN9foz4QCJ0H2Y8</a:t>
            </a:r>
          </a:p>
          <a:p>
            <a:pPr marL="302615" indent="-302615" defTabSz="377904">
              <a:spcBef>
                <a:spcPts val="2300"/>
              </a:spcBef>
              <a:defRPr sz="3358">
                <a:latin typeface="Avenir Medium"/>
                <a:ea typeface="Avenir Medium"/>
                <a:cs typeface="Avenir Medium"/>
                <a:sym typeface="Avenir Medium"/>
              </a:defRPr>
            </a:pPr>
            <a:r>
              <a:rPr dirty="0"/>
              <a:t>Rust by Example</a:t>
            </a:r>
          </a:p>
          <a:p>
            <a:pPr marL="734923" lvl="2" indent="-302615" defTabSz="377904">
              <a:spcBef>
                <a:spcPts val="2300"/>
              </a:spcBef>
              <a:defRPr sz="2990">
                <a:latin typeface="Avenir Medium"/>
                <a:ea typeface="Avenir Medium"/>
                <a:cs typeface="Avenir Medium"/>
                <a:sym typeface="Avenir Medium"/>
              </a:defRPr>
            </a:pPr>
            <a:r>
              <a:rPr u="sng" dirty="0">
                <a:solidFill>
                  <a:schemeClr val="tx1"/>
                </a:solidFill>
                <a:hlinkClick r:id="rId5">
                  <a:extLst>
                    <a:ext uri="{A12FA001-AC4F-418D-AE19-62706E023703}">
                      <ahyp:hlinkClr xmlns:ahyp="http://schemas.microsoft.com/office/drawing/2018/hyperlinkcolor" val="tx"/>
                    </a:ext>
                  </a:extLst>
                </a:hlinkClick>
              </a:rPr>
              <a:t>https://doc.rust-lang.org/rust-by-example/</a:t>
            </a:r>
          </a:p>
          <a:p>
            <a:pPr marL="302615" indent="-302615" defTabSz="377904">
              <a:spcBef>
                <a:spcPts val="2300"/>
              </a:spcBef>
              <a:defRPr sz="3358">
                <a:latin typeface="Avenir Medium"/>
                <a:ea typeface="Avenir Medium"/>
                <a:cs typeface="Avenir Medium"/>
                <a:sym typeface="Avenir Medium"/>
              </a:defRPr>
            </a:pPr>
            <a:r>
              <a:rPr dirty="0"/>
              <a:t>Rust Playground (Interactive Rust)</a:t>
            </a:r>
          </a:p>
          <a:p>
            <a:pPr marL="734923" lvl="2" indent="-302615" defTabSz="377904">
              <a:spcBef>
                <a:spcPts val="2300"/>
              </a:spcBef>
              <a:defRPr sz="3358">
                <a:latin typeface="Avenir Medium"/>
                <a:ea typeface="Avenir Medium"/>
                <a:cs typeface="Avenir Medium"/>
                <a:sym typeface="Avenir Medium"/>
              </a:defRPr>
            </a:pPr>
            <a:r>
              <a:rPr u="sng" dirty="0">
                <a:solidFill>
                  <a:schemeClr val="tx1"/>
                </a:solidFill>
                <a:hlinkClick r:id="rId6">
                  <a:extLst>
                    <a:ext uri="{A12FA001-AC4F-418D-AE19-62706E023703}">
                      <ahyp:hlinkClr xmlns:ahyp="http://schemas.microsoft.com/office/drawing/2018/hyperlinkcolor" val="tx"/>
                    </a:ext>
                  </a:extLst>
                </a:hlinkClick>
              </a:rPr>
              <a:t>https://play.rust-lang.org/</a:t>
            </a:r>
          </a:p>
          <a:p>
            <a:pPr marL="302615" indent="-302615" defTabSz="377904">
              <a:spcBef>
                <a:spcPts val="2300"/>
              </a:spcBef>
              <a:defRPr sz="3358">
                <a:latin typeface="Avenir Medium"/>
                <a:ea typeface="Avenir Medium"/>
                <a:cs typeface="Avenir Medium"/>
                <a:sym typeface="Avenir Medium"/>
              </a:defRPr>
            </a:pPr>
            <a:r>
              <a:rPr dirty="0"/>
              <a:t>Rust for </a:t>
            </a:r>
            <a:r>
              <a:rPr dirty="0" err="1"/>
              <a:t>Rustaceans</a:t>
            </a:r>
            <a:endParaRPr dirty="0"/>
          </a:p>
          <a:p>
            <a:pPr marL="734923" lvl="2" indent="-302615" defTabSz="377904">
              <a:spcBef>
                <a:spcPts val="2300"/>
              </a:spcBef>
              <a:defRPr sz="2990">
                <a:latin typeface="Avenir Medium"/>
                <a:ea typeface="Avenir Medium"/>
                <a:cs typeface="Avenir Medium"/>
                <a:sym typeface="Avenir Medium"/>
              </a:defRPr>
            </a:pPr>
            <a:r>
              <a:rPr u="sng" dirty="0">
                <a:solidFill>
                  <a:schemeClr val="tx1"/>
                </a:solidFill>
                <a:hlinkClick r:id="rId7">
                  <a:extLst>
                    <a:ext uri="{A12FA001-AC4F-418D-AE19-62706E023703}">
                      <ahyp:hlinkClr xmlns:ahyp="http://schemas.microsoft.com/office/drawing/2018/hyperlinkcolor" val="tx"/>
                    </a:ext>
                  </a:extLst>
                </a:hlinkClick>
              </a:rPr>
              <a:t>https://www.amazon.com/Rust-for-Rustaceans/dp/1718501854/</a:t>
            </a:r>
          </a:p>
        </p:txBody>
      </p:sp>
      <p:sp>
        <p:nvSpPr>
          <p:cNvPr id="448"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37</a:t>
            </a:fld>
            <a:endParaRPr/>
          </a:p>
        </p:txBody>
      </p:sp>
      <p:sp>
        <p:nvSpPr>
          <p:cNvPr id="449"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8">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450" name="Rust-book.jpg" descr="Rust-book.jpg"/>
          <p:cNvPicPr>
            <a:picLocks noChangeAspect="1"/>
          </p:cNvPicPr>
          <p:nvPr/>
        </p:nvPicPr>
        <p:blipFill>
          <a:blip r:embed="rId9"/>
          <a:stretch>
            <a:fillRect/>
          </a:stretch>
        </p:blipFill>
        <p:spPr>
          <a:xfrm>
            <a:off x="20428540" y="2425190"/>
            <a:ext cx="3526058" cy="4661455"/>
          </a:xfrm>
          <a:prstGeom prst="rect">
            <a:avLst/>
          </a:prstGeom>
          <a:ln w="12700">
            <a:miter lim="400000"/>
          </a:ln>
        </p:spPr>
      </p:pic>
      <p:pic>
        <p:nvPicPr>
          <p:cNvPr id="451" name="Rust-for-Rustaceans-book.jpg" descr="Rust-for-Rustaceans-book.jpg"/>
          <p:cNvPicPr>
            <a:picLocks noChangeAspect="1"/>
          </p:cNvPicPr>
          <p:nvPr/>
        </p:nvPicPr>
        <p:blipFill>
          <a:blip r:embed="rId10"/>
          <a:stretch>
            <a:fillRect/>
          </a:stretch>
        </p:blipFill>
        <p:spPr>
          <a:xfrm>
            <a:off x="20396235" y="7362886"/>
            <a:ext cx="3590669" cy="4742392"/>
          </a:xfrm>
          <a:prstGeom prst="rect">
            <a:avLst/>
          </a:prstGeom>
          <a:ln w="12700">
            <a:miter lim="400000"/>
          </a:ln>
        </p:spPr>
      </p:pic>
      <p:pic>
        <p:nvPicPr>
          <p:cNvPr id="452" name="Rust_programming_language_white_logo.png" descr="Rust_programming_language_white_logo.png"/>
          <p:cNvPicPr>
            <a:picLocks noChangeAspect="1"/>
          </p:cNvPicPr>
          <p:nvPr/>
        </p:nvPicPr>
        <p:blipFill>
          <a:blip r:embed="rId11"/>
          <a:stretch>
            <a:fillRect/>
          </a:stretch>
        </p:blipFill>
        <p:spPr>
          <a:xfrm>
            <a:off x="1504633" y="249965"/>
            <a:ext cx="2617411" cy="2617411"/>
          </a:xfrm>
          <a:prstGeom prst="rect">
            <a:avLst/>
          </a:prstGeom>
          <a:ln w="12700">
            <a:miter lim="400000"/>
          </a:ln>
        </p:spPr>
      </p:pic>
      <p:pic>
        <p:nvPicPr>
          <p:cNvPr id="453" name="Rust_programming_language_55d7ff_logo.png" descr="Rust_programming_language_55d7ff_logo.png"/>
          <p:cNvPicPr>
            <a:picLocks noChangeAspect="1"/>
          </p:cNvPicPr>
          <p:nvPr/>
        </p:nvPicPr>
        <p:blipFill>
          <a:blip r:embed="rId12"/>
          <a:stretch>
            <a:fillRect/>
          </a:stretch>
        </p:blipFill>
        <p:spPr>
          <a:xfrm>
            <a:off x="1567843" y="313176"/>
            <a:ext cx="2490990" cy="249099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5" name="background-blur-black-bg-550x367.jpg" descr="background-blur-black-bg-550x367.jpg"/>
          <p:cNvPicPr>
            <a:picLocks noChangeAspect="1"/>
          </p:cNvPicPr>
          <p:nvPr/>
        </p:nvPicPr>
        <p:blipFill>
          <a:blip r:embed="rId3"/>
          <a:stretch>
            <a:fillRect/>
          </a:stretch>
        </p:blipFill>
        <p:spPr>
          <a:xfrm>
            <a:off x="8338004" y="1785197"/>
            <a:ext cx="7982721" cy="5326652"/>
          </a:xfrm>
          <a:prstGeom prst="rect">
            <a:avLst/>
          </a:prstGeom>
          <a:ln w="12700">
            <a:miter lim="400000"/>
          </a:ln>
        </p:spPr>
      </p:pic>
      <p:sp>
        <p:nvSpPr>
          <p:cNvPr id="456" name="Thank You"/>
          <p:cNvSpPr txBox="1"/>
          <p:nvPr/>
        </p:nvSpPr>
        <p:spPr>
          <a:xfrm>
            <a:off x="7624309" y="7290825"/>
            <a:ext cx="9135382" cy="2568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14000">
                <a:latin typeface="Avenir Heavy"/>
                <a:ea typeface="Avenir Heavy"/>
                <a:cs typeface="Avenir Heavy"/>
                <a:sym typeface="Avenir Heavy"/>
              </a:defRPr>
            </a:lvl1pPr>
          </a:lstStyle>
          <a:p>
            <a:r>
              <a:t>Thank You</a:t>
            </a:r>
          </a:p>
        </p:txBody>
      </p:sp>
      <p:sp>
        <p:nvSpPr>
          <p:cNvPr id="457" name="Miami JVM Group (MJUG)…"/>
          <p:cNvSpPr txBox="1"/>
          <p:nvPr/>
        </p:nvSpPr>
        <p:spPr>
          <a:xfrm>
            <a:off x="5615681" y="9910628"/>
            <a:ext cx="13152639" cy="16985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p>
            <a:pPr>
              <a:defRPr>
                <a:latin typeface="Avenir Black"/>
                <a:ea typeface="Avenir Black"/>
                <a:cs typeface="Avenir Black"/>
                <a:sym typeface="Avenir Black"/>
              </a:defRPr>
            </a:pPr>
            <a:r>
              <a:rPr dirty="0"/>
              <a:t>Miami JVM Group (MJUG)</a:t>
            </a:r>
          </a:p>
          <a:p>
            <a:pPr>
              <a:defRPr sz="4500">
                <a:latin typeface="Avenir Medium"/>
                <a:ea typeface="Avenir Medium"/>
                <a:cs typeface="Avenir Medium"/>
                <a:sym typeface="Avenir Medium"/>
              </a:defRPr>
            </a:pPr>
            <a:r>
              <a:rPr u="sng" dirty="0">
                <a:solidFill>
                  <a:schemeClr val="tx1"/>
                </a:solidFill>
                <a:hlinkClick r:id="rId4">
                  <a:extLst>
                    <a:ext uri="{A12FA001-AC4F-418D-AE19-62706E023703}">
                      <ahyp:hlinkClr xmlns:ahyp="http://schemas.microsoft.com/office/drawing/2018/hyperlinkcolor" val="tx"/>
                    </a:ext>
                  </a:extLst>
                </a:hlinkClick>
              </a:rPr>
              <a:t>https://www.meetup.com/miami-java-user-group/</a:t>
            </a:r>
          </a:p>
        </p:txBody>
      </p:sp>
      <p:sp>
        <p:nvSpPr>
          <p:cNvPr id="458" name="www.linkedin.com/in/ealvarez"/>
          <p:cNvSpPr txBox="1"/>
          <p:nvPr/>
        </p:nvSpPr>
        <p:spPr>
          <a:xfrm>
            <a:off x="9221944" y="11734729"/>
            <a:ext cx="6908943" cy="7598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a:defRPr sz="4000">
                <a:hlinkClick r:id="rId5"/>
              </a:defRPr>
            </a:lvl1pPr>
          </a:lstStyle>
          <a:p>
            <a:r>
              <a:rPr dirty="0">
                <a:solidFill>
                  <a:schemeClr val="tx1"/>
                </a:solidFill>
                <a:hlinkClick r:id="rId5">
                  <a:extLst>
                    <a:ext uri="{A12FA001-AC4F-418D-AE19-62706E023703}">
                      <ahyp:hlinkClr xmlns:ahyp="http://schemas.microsoft.com/office/drawing/2018/hyperlinkcolor" val="tx"/>
                    </a:ext>
                  </a:extLst>
                </a:hlinkClick>
              </a:rPr>
              <a:t>www.linkedin.com/in/ealvarez</a:t>
            </a:r>
          </a:p>
        </p:txBody>
      </p:sp>
      <p:pic>
        <p:nvPicPr>
          <p:cNvPr id="459" name="Miami-JUG-Vice-Square-No-Border-256x256.gif" descr="Miami-JUG-Vice-Square-No-Border-256x256.gif"/>
          <p:cNvPicPr>
            <a:picLocks noChangeAspect="1"/>
          </p:cNvPicPr>
          <p:nvPr/>
        </p:nvPicPr>
        <p:blipFill>
          <a:blip r:embed="rId6"/>
          <a:stretch>
            <a:fillRect/>
          </a:stretch>
        </p:blipFill>
        <p:spPr>
          <a:xfrm>
            <a:off x="8500814" y="4607194"/>
            <a:ext cx="2233568" cy="2233568"/>
          </a:xfrm>
          <a:prstGeom prst="rect">
            <a:avLst/>
          </a:prstGeom>
          <a:ln w="12700">
            <a:miter lim="400000"/>
          </a:ln>
        </p:spPr>
      </p:pic>
      <p:pic>
        <p:nvPicPr>
          <p:cNvPr id="460" name="QR_Code_MJUG_meetup-URL-black-bg-350x350.png" descr="QR_Code_MJUG_meetup-URL-black-bg-350x350.png"/>
          <p:cNvPicPr>
            <a:picLocks noChangeAspect="1"/>
          </p:cNvPicPr>
          <p:nvPr/>
        </p:nvPicPr>
        <p:blipFill>
          <a:blip r:embed="rId7"/>
          <a:stretch>
            <a:fillRect/>
          </a:stretch>
        </p:blipFill>
        <p:spPr>
          <a:xfrm>
            <a:off x="1258290" y="1874452"/>
            <a:ext cx="5488710" cy="5488709"/>
          </a:xfrm>
          <a:prstGeom prst="rect">
            <a:avLst/>
          </a:prstGeom>
          <a:ln w="12700">
            <a:miter lim="400000"/>
          </a:ln>
        </p:spPr>
      </p:pic>
      <p:pic>
        <p:nvPicPr>
          <p:cNvPr id="461" name="QR_Code_LinkedIn_w_logo_ealvarez-black-bg-589x589.png" descr="QR_Code_LinkedIn_w_logo_ealvarez-black-bg-589x589.png"/>
          <p:cNvPicPr>
            <a:picLocks noChangeAspect="1"/>
          </p:cNvPicPr>
          <p:nvPr/>
        </p:nvPicPr>
        <p:blipFill>
          <a:blip r:embed="rId8"/>
          <a:stretch>
            <a:fillRect/>
          </a:stretch>
        </p:blipFill>
        <p:spPr>
          <a:xfrm>
            <a:off x="17911729" y="1819715"/>
            <a:ext cx="5257617" cy="5257616"/>
          </a:xfrm>
          <a:prstGeom prst="rect">
            <a:avLst/>
          </a:prstGeom>
          <a:ln w="12700">
            <a:miter lim="400000"/>
          </a:ln>
        </p:spPr>
      </p:pic>
      <p:sp>
        <p:nvSpPr>
          <p:cNvPr id="462" name="Slide Number"/>
          <p:cNvSpPr txBox="1">
            <a:spLocks noGrp="1"/>
          </p:cNvSpPr>
          <p:nvPr>
            <p:ph type="sldNum" sz="quarter" idx="4294967295"/>
          </p:nvPr>
        </p:nvSpPr>
        <p:spPr>
          <a:xfrm>
            <a:off x="2763033" y="12982630"/>
            <a:ext cx="494607" cy="4885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latin typeface="Arial"/>
                <a:ea typeface="Arial"/>
                <a:cs typeface="Arial"/>
                <a:sym typeface="Arial"/>
              </a:defRPr>
            </a:lvl1pPr>
          </a:lstStyle>
          <a:p>
            <a:fld id="{86CB4B4D-7CA3-9044-876B-883B54F8677D}" type="slidenum">
              <a:t>38</a:t>
            </a:fld>
            <a:endParaRPr/>
          </a:p>
        </p:txBody>
      </p:sp>
      <p:sp>
        <p:nvSpPr>
          <p:cNvPr id="463"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4">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7" name="Easter-Island-Statue-black-bg.png" descr="Easter-Island-Statue-black-bg.png"/>
          <p:cNvPicPr>
            <a:picLocks noChangeAspect="1"/>
          </p:cNvPicPr>
          <p:nvPr/>
        </p:nvPicPr>
        <p:blipFill>
          <a:blip r:embed="rId3"/>
          <a:stretch>
            <a:fillRect/>
          </a:stretch>
        </p:blipFill>
        <p:spPr>
          <a:xfrm>
            <a:off x="15169" y="430753"/>
            <a:ext cx="3541553" cy="3885812"/>
          </a:xfrm>
          <a:prstGeom prst="rect">
            <a:avLst/>
          </a:prstGeom>
          <a:ln w="12700">
            <a:miter lim="400000"/>
          </a:ln>
        </p:spPr>
      </p:pic>
      <p:sp>
        <p:nvSpPr>
          <p:cNvPr id="468" name="REFERENCES"/>
          <p:cNvSpPr txBox="1">
            <a:spLocks noGrp="1"/>
          </p:cNvSpPr>
          <p:nvPr>
            <p:ph type="title"/>
          </p:nvPr>
        </p:nvSpPr>
        <p:spPr>
          <a:xfrm>
            <a:off x="3558066" y="808000"/>
            <a:ext cx="16430626" cy="2000251"/>
          </a:xfrm>
          <a:prstGeom prst="rect">
            <a:avLst/>
          </a:prstGeom>
        </p:spPr>
        <p:txBody>
          <a:bodyPr/>
          <a:lstStyle>
            <a:lvl1pPr>
              <a:defRPr>
                <a:solidFill>
                  <a:schemeClr val="accent2">
                    <a:satOff val="44164"/>
                    <a:lumOff val="14231"/>
                  </a:schemeClr>
                </a:solidFill>
                <a:latin typeface="Avenir Heavy"/>
                <a:ea typeface="Avenir Heavy"/>
                <a:cs typeface="Avenir Heavy"/>
                <a:sym typeface="Avenir Heavy"/>
              </a:defRPr>
            </a:lvl1pPr>
          </a:lstStyle>
          <a:p>
            <a:r>
              <a:t>REFERENCES</a:t>
            </a:r>
          </a:p>
        </p:txBody>
      </p:sp>
      <p:sp>
        <p:nvSpPr>
          <p:cNvPr id="469" name="2024 Stack Overflow Developer Survey…"/>
          <p:cNvSpPr txBox="1">
            <a:spLocks noGrp="1"/>
          </p:cNvSpPr>
          <p:nvPr>
            <p:ph type="body" idx="1"/>
          </p:nvPr>
        </p:nvSpPr>
        <p:spPr>
          <a:xfrm>
            <a:off x="3044563" y="2459399"/>
            <a:ext cx="18682187" cy="9999675"/>
          </a:xfrm>
          <a:prstGeom prst="rect">
            <a:avLst/>
          </a:prstGeom>
        </p:spPr>
        <p:txBody>
          <a:bodyPr anchor="t"/>
          <a:lstStyle/>
          <a:p>
            <a:pPr marL="395387" indent="-395387" defTabSz="509349">
              <a:spcBef>
                <a:spcPts val="1700"/>
              </a:spcBef>
              <a:defRPr sz="2356">
                <a:latin typeface="Helvetica"/>
                <a:ea typeface="Helvetica"/>
                <a:cs typeface="Helvetica"/>
                <a:sym typeface="Helvetica"/>
              </a:defRPr>
            </a:pPr>
            <a:r>
              <a:rPr dirty="0">
                <a:solidFill>
                  <a:schemeClr val="tx1"/>
                </a:solidFill>
              </a:rPr>
              <a:t>2024 Stack Overflow Developer Survey</a:t>
            </a:r>
          </a:p>
          <a:p>
            <a:pPr marL="395387" indent="-395387" defTabSz="509349">
              <a:spcBef>
                <a:spcPts val="1700"/>
              </a:spcBef>
              <a:defRPr sz="2356">
                <a:latin typeface="Helvetica"/>
                <a:ea typeface="Helvetica"/>
                <a:cs typeface="Helvetica"/>
                <a:sym typeface="Helvetica"/>
              </a:defRPr>
            </a:pPr>
            <a:r>
              <a:rPr u="sng" dirty="0">
                <a:solidFill>
                  <a:schemeClr val="tx1"/>
                </a:solidFill>
                <a:hlinkClick r:id="rId4">
                  <a:extLst>
                    <a:ext uri="{A12FA001-AC4F-418D-AE19-62706E023703}">
                      <ahyp:hlinkClr xmlns:ahyp="http://schemas.microsoft.com/office/drawing/2018/hyperlinkcolor" val="tx"/>
                    </a:ext>
                  </a:extLst>
                </a:hlinkClick>
              </a:rPr>
              <a:t>https://survey.stackoverflow.co/2024/technology#admired-and-desired</a:t>
            </a:r>
          </a:p>
          <a:p>
            <a:pPr marL="395387" indent="-395387" defTabSz="509349">
              <a:spcBef>
                <a:spcPts val="1700"/>
              </a:spcBef>
              <a:defRPr sz="2356">
                <a:latin typeface="Helvetica"/>
                <a:ea typeface="Helvetica"/>
                <a:cs typeface="Helvetica"/>
                <a:sym typeface="Helvetica"/>
              </a:defRPr>
            </a:pPr>
            <a:endParaRPr u="sng" dirty="0">
              <a:solidFill>
                <a:schemeClr val="tx1"/>
              </a:solidFill>
              <a:hlinkClick r:id="rId4">
                <a:extLst>
                  <a:ext uri="{A12FA001-AC4F-418D-AE19-62706E023703}">
                    <ahyp:hlinkClr xmlns:ahyp="http://schemas.microsoft.com/office/drawing/2018/hyperlinkcolor" val="tx"/>
                  </a:ext>
                </a:extLst>
              </a:hlinkClick>
            </a:endParaRPr>
          </a:p>
          <a:p>
            <a:pPr marL="395387" indent="-395387" defTabSz="509349">
              <a:spcBef>
                <a:spcPts val="1700"/>
              </a:spcBef>
              <a:defRPr sz="2356">
                <a:latin typeface="Helvetica"/>
                <a:ea typeface="Helvetica"/>
                <a:cs typeface="Helvetica"/>
                <a:sym typeface="Helvetica"/>
              </a:defRPr>
            </a:pPr>
            <a:r>
              <a:rPr dirty="0">
                <a:solidFill>
                  <a:schemeClr val="tx1"/>
                </a:solidFill>
              </a:rPr>
              <a:t>How Rust went from a side project to the world’s most-loved programming language</a:t>
            </a:r>
          </a:p>
          <a:p>
            <a:pPr marL="395387" indent="-395387" defTabSz="509349">
              <a:spcBef>
                <a:spcPts val="1700"/>
              </a:spcBef>
              <a:defRPr sz="2356">
                <a:latin typeface="Helvetica"/>
                <a:ea typeface="Helvetica"/>
                <a:cs typeface="Helvetica"/>
                <a:sym typeface="Helvetica"/>
              </a:defRPr>
            </a:pPr>
            <a:r>
              <a:rPr u="sng" dirty="0">
                <a:solidFill>
                  <a:schemeClr val="tx1"/>
                </a:solidFill>
                <a:hlinkClick r:id="rId5">
                  <a:extLst>
                    <a:ext uri="{A12FA001-AC4F-418D-AE19-62706E023703}">
                      <ahyp:hlinkClr xmlns:ahyp="http://schemas.microsoft.com/office/drawing/2018/hyperlinkcolor" val="tx"/>
                    </a:ext>
                  </a:extLst>
                </a:hlinkClick>
              </a:rPr>
              <a:t>https://www.technologyreview.com/2023/02/14/1067869/rust-worlds-fastest-growing-programming-language/</a:t>
            </a:r>
          </a:p>
          <a:p>
            <a:pPr marL="395387" indent="-395387" defTabSz="509349">
              <a:spcBef>
                <a:spcPts val="1700"/>
              </a:spcBef>
              <a:defRPr sz="2356">
                <a:latin typeface="Helvetica"/>
                <a:ea typeface="Helvetica"/>
                <a:cs typeface="Helvetica"/>
                <a:sym typeface="Helvetica"/>
              </a:defRPr>
            </a:pPr>
            <a:endParaRPr u="sng" dirty="0">
              <a:solidFill>
                <a:schemeClr val="tx1"/>
              </a:solidFill>
              <a:hlinkClick r:id="rId5">
                <a:extLst>
                  <a:ext uri="{A12FA001-AC4F-418D-AE19-62706E023703}">
                    <ahyp:hlinkClr xmlns:ahyp="http://schemas.microsoft.com/office/drawing/2018/hyperlinkcolor" val="tx"/>
                  </a:ext>
                </a:extLst>
              </a:hlinkClick>
            </a:endParaRPr>
          </a:p>
          <a:p>
            <a:pPr marL="395387" indent="-395387" defTabSz="509349">
              <a:spcBef>
                <a:spcPts val="1700"/>
              </a:spcBef>
              <a:defRPr sz="2356">
                <a:latin typeface="Helvetica"/>
                <a:ea typeface="Helvetica"/>
                <a:cs typeface="Helvetica"/>
                <a:sym typeface="Helvetica"/>
              </a:defRPr>
            </a:pPr>
            <a:r>
              <a:rPr b="1" dirty="0">
                <a:solidFill>
                  <a:schemeClr val="tx1"/>
                </a:solidFill>
              </a:rPr>
              <a:t>LLVM</a:t>
            </a:r>
            <a:r>
              <a:rPr dirty="0">
                <a:solidFill>
                  <a:schemeClr val="tx1"/>
                </a:solidFill>
              </a:rPr>
              <a:t> Compiler Infrastructure</a:t>
            </a:r>
          </a:p>
          <a:p>
            <a:pPr marL="395387" indent="-395387" defTabSz="509349">
              <a:spcBef>
                <a:spcPts val="1700"/>
              </a:spcBef>
              <a:defRPr sz="2356">
                <a:latin typeface="Helvetica"/>
                <a:ea typeface="Helvetica"/>
                <a:cs typeface="Helvetica"/>
                <a:sym typeface="Helvetica"/>
              </a:defRPr>
            </a:pPr>
            <a:r>
              <a:rPr u="sng" dirty="0">
                <a:solidFill>
                  <a:schemeClr val="tx1"/>
                </a:solidFill>
                <a:hlinkClick r:id="rId6">
                  <a:extLst>
                    <a:ext uri="{A12FA001-AC4F-418D-AE19-62706E023703}">
                      <ahyp:hlinkClr xmlns:ahyp="http://schemas.microsoft.com/office/drawing/2018/hyperlinkcolor" val="tx"/>
                    </a:ext>
                  </a:extLst>
                </a:hlinkClick>
              </a:rPr>
              <a:t>https://llvm.org/</a:t>
            </a:r>
          </a:p>
          <a:p>
            <a:pPr marL="395387" indent="-395387" defTabSz="509349">
              <a:spcBef>
                <a:spcPts val="1700"/>
              </a:spcBef>
              <a:defRPr sz="2356">
                <a:latin typeface="Helvetica"/>
                <a:ea typeface="Helvetica"/>
                <a:cs typeface="Helvetica"/>
                <a:sym typeface="Helvetica"/>
              </a:defRPr>
            </a:pPr>
            <a:endParaRPr u="sng" dirty="0">
              <a:solidFill>
                <a:schemeClr val="tx1"/>
              </a:solidFill>
              <a:hlinkClick r:id="rId6">
                <a:extLst>
                  <a:ext uri="{A12FA001-AC4F-418D-AE19-62706E023703}">
                    <ahyp:hlinkClr xmlns:ahyp="http://schemas.microsoft.com/office/drawing/2018/hyperlinkcolor" val="tx"/>
                  </a:ext>
                </a:extLst>
              </a:hlinkClick>
            </a:endParaRPr>
          </a:p>
          <a:p>
            <a:pPr marL="395387" indent="-395387" defTabSz="509349">
              <a:spcBef>
                <a:spcPts val="1700"/>
              </a:spcBef>
              <a:defRPr sz="2356">
                <a:latin typeface="Helvetica"/>
                <a:ea typeface="Helvetica"/>
                <a:cs typeface="Helvetica"/>
                <a:sym typeface="Helvetica"/>
              </a:defRPr>
            </a:pPr>
            <a:r>
              <a:rPr dirty="0" err="1">
                <a:solidFill>
                  <a:schemeClr val="tx1"/>
                </a:solidFill>
              </a:rPr>
              <a:t>Rustc</a:t>
            </a:r>
            <a:r>
              <a:rPr dirty="0">
                <a:solidFill>
                  <a:schemeClr val="tx1"/>
                </a:solidFill>
              </a:rPr>
              <a:t> Platform Support</a:t>
            </a:r>
          </a:p>
          <a:p>
            <a:pPr marL="395387" indent="-395387" defTabSz="509349">
              <a:spcBef>
                <a:spcPts val="1700"/>
              </a:spcBef>
              <a:defRPr sz="2356">
                <a:latin typeface="Helvetica"/>
                <a:ea typeface="Helvetica"/>
                <a:cs typeface="Helvetica"/>
                <a:sym typeface="Helvetica"/>
              </a:defRPr>
            </a:pPr>
            <a:r>
              <a:rPr u="sng" dirty="0">
                <a:solidFill>
                  <a:schemeClr val="tx1"/>
                </a:solidFill>
                <a:hlinkClick r:id="rId7">
                  <a:extLst>
                    <a:ext uri="{A12FA001-AC4F-418D-AE19-62706E023703}">
                      <ahyp:hlinkClr xmlns:ahyp="http://schemas.microsoft.com/office/drawing/2018/hyperlinkcolor" val="tx"/>
                    </a:ext>
                  </a:extLst>
                </a:hlinkClick>
              </a:rPr>
              <a:t>https://doc.rust-lang.org/rustc/platform-support.html</a:t>
            </a:r>
          </a:p>
          <a:p>
            <a:pPr marL="395387" indent="-395387" defTabSz="509349">
              <a:spcBef>
                <a:spcPts val="1700"/>
              </a:spcBef>
              <a:defRPr sz="2356">
                <a:latin typeface="Helvetica"/>
                <a:ea typeface="Helvetica"/>
                <a:cs typeface="Helvetica"/>
                <a:sym typeface="Helvetica"/>
              </a:defRPr>
            </a:pPr>
            <a:endParaRPr u="sng" dirty="0">
              <a:solidFill>
                <a:schemeClr val="tx1"/>
              </a:solidFill>
              <a:hlinkClick r:id="rId7">
                <a:extLst>
                  <a:ext uri="{A12FA001-AC4F-418D-AE19-62706E023703}">
                    <ahyp:hlinkClr xmlns:ahyp="http://schemas.microsoft.com/office/drawing/2018/hyperlinkcolor" val="tx"/>
                  </a:ext>
                </a:extLst>
              </a:hlinkClick>
            </a:endParaRPr>
          </a:p>
          <a:p>
            <a:pPr marL="395387" indent="-395387" defTabSz="509349">
              <a:spcBef>
                <a:spcPts val="1700"/>
              </a:spcBef>
              <a:defRPr sz="2356">
                <a:latin typeface="Helvetica"/>
                <a:ea typeface="Helvetica"/>
                <a:cs typeface="Helvetica"/>
                <a:sym typeface="Helvetica"/>
              </a:defRPr>
            </a:pPr>
            <a:r>
              <a:rPr dirty="0">
                <a:solidFill>
                  <a:schemeClr val="tx1"/>
                </a:solidFill>
              </a:rPr>
              <a:t>Energy Efficiency Across Programming Languages</a:t>
            </a:r>
          </a:p>
          <a:p>
            <a:pPr marL="395387" indent="-395387" defTabSz="509349">
              <a:spcBef>
                <a:spcPts val="1700"/>
              </a:spcBef>
              <a:defRPr sz="2356">
                <a:latin typeface="Helvetica"/>
                <a:ea typeface="Helvetica"/>
                <a:cs typeface="Helvetica"/>
                <a:sym typeface="Helvetica"/>
              </a:defRPr>
            </a:pPr>
            <a:r>
              <a:rPr u="sng" dirty="0">
                <a:solidFill>
                  <a:schemeClr val="tx1"/>
                </a:solidFill>
                <a:hlinkClick r:id="rId8">
                  <a:extLst>
                    <a:ext uri="{A12FA001-AC4F-418D-AE19-62706E023703}">
                      <ahyp:hlinkClr xmlns:ahyp="http://schemas.microsoft.com/office/drawing/2018/hyperlinkcolor" val="tx"/>
                    </a:ext>
                  </a:extLst>
                </a:hlinkClick>
              </a:rPr>
              <a:t>https://sites.google.com/view/energy-efficiency-languages/</a:t>
            </a:r>
          </a:p>
          <a:p>
            <a:pPr marL="395387" indent="-395387" defTabSz="509349">
              <a:spcBef>
                <a:spcPts val="1700"/>
              </a:spcBef>
              <a:defRPr sz="2356">
                <a:latin typeface="Helvetica"/>
                <a:ea typeface="Helvetica"/>
                <a:cs typeface="Helvetica"/>
                <a:sym typeface="Helvetica"/>
              </a:defRPr>
            </a:pPr>
            <a:endParaRPr u="sng" dirty="0">
              <a:solidFill>
                <a:schemeClr val="tx1"/>
              </a:solidFill>
              <a:hlinkClick r:id="rId8">
                <a:extLst>
                  <a:ext uri="{A12FA001-AC4F-418D-AE19-62706E023703}">
                    <ahyp:hlinkClr xmlns:ahyp="http://schemas.microsoft.com/office/drawing/2018/hyperlinkcolor" val="tx"/>
                  </a:ext>
                </a:extLst>
              </a:hlinkClick>
            </a:endParaRPr>
          </a:p>
          <a:p>
            <a:pPr marL="395387" indent="-395387" defTabSz="509349">
              <a:spcBef>
                <a:spcPts val="1700"/>
              </a:spcBef>
              <a:defRPr sz="2356">
                <a:latin typeface="Helvetica"/>
                <a:ea typeface="Helvetica"/>
                <a:cs typeface="Helvetica"/>
                <a:sym typeface="Helvetica"/>
              </a:defRPr>
            </a:pPr>
            <a:r>
              <a:rPr dirty="0">
                <a:solidFill>
                  <a:schemeClr val="tx1"/>
                </a:solidFill>
              </a:rPr>
              <a:t>AWS </a:t>
            </a:r>
            <a:r>
              <a:rPr dirty="0" err="1">
                <a:solidFill>
                  <a:schemeClr val="tx1"/>
                </a:solidFill>
              </a:rPr>
              <a:t>re:Inforce</a:t>
            </a:r>
            <a:r>
              <a:rPr dirty="0">
                <a:solidFill>
                  <a:schemeClr val="tx1"/>
                </a:solidFill>
              </a:rPr>
              <a:t> 2024 - Keynote with Chris Betz</a:t>
            </a:r>
          </a:p>
          <a:p>
            <a:pPr marL="395387" indent="-395387" defTabSz="509349">
              <a:spcBef>
                <a:spcPts val="1700"/>
              </a:spcBef>
              <a:defRPr sz="2356">
                <a:latin typeface="Helvetica"/>
                <a:ea typeface="Helvetica"/>
                <a:cs typeface="Helvetica"/>
                <a:sym typeface="Helvetica"/>
              </a:defRPr>
            </a:pPr>
            <a:r>
              <a:rPr u="sng" dirty="0">
                <a:solidFill>
                  <a:schemeClr val="tx1"/>
                </a:solidFill>
                <a:hlinkClick r:id="rId9">
                  <a:extLst>
                    <a:ext uri="{A12FA001-AC4F-418D-AE19-62706E023703}">
                      <ahyp:hlinkClr xmlns:ahyp="http://schemas.microsoft.com/office/drawing/2018/hyperlinkcolor" val="tx"/>
                    </a:ext>
                  </a:extLst>
                </a:hlinkClick>
              </a:rPr>
              <a:t>https://www.youtube.com/watch?v=skH3Q90llss</a:t>
            </a:r>
          </a:p>
        </p:txBody>
      </p:sp>
      <p:sp>
        <p:nvSpPr>
          <p:cNvPr id="470"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39</a:t>
            </a:fld>
            <a:endParaRPr/>
          </a:p>
        </p:txBody>
      </p:sp>
      <p:sp>
        <p:nvSpPr>
          <p:cNvPr id="471"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10">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a14="http://schemas.microsoft.com/office/drawing/2010/main" xmlns:m="http://schemas.openxmlformats.org/officeDocument/2006/math"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5" name="Duke-Wave-background-oval.png" descr="Duke-Wave-background-oval.png"/>
          <p:cNvPicPr>
            <a:picLocks noChangeAspect="1"/>
          </p:cNvPicPr>
          <p:nvPr/>
        </p:nvPicPr>
        <p:blipFill>
          <a:blip r:embed="rId3"/>
          <a:stretch>
            <a:fillRect/>
          </a:stretch>
        </p:blipFill>
        <p:spPr>
          <a:xfrm>
            <a:off x="411149" y="78293"/>
            <a:ext cx="2574953" cy="4215700"/>
          </a:xfrm>
          <a:prstGeom prst="rect">
            <a:avLst/>
          </a:prstGeom>
          <a:ln w="12700">
            <a:miter lim="400000"/>
          </a:ln>
        </p:spPr>
      </p:pic>
      <p:sp>
        <p:nvSpPr>
          <p:cNvPr id="476" name="REFERENCES"/>
          <p:cNvSpPr txBox="1">
            <a:spLocks noGrp="1"/>
          </p:cNvSpPr>
          <p:nvPr>
            <p:ph type="title"/>
          </p:nvPr>
        </p:nvSpPr>
        <p:spPr>
          <a:xfrm>
            <a:off x="3582691" y="832625"/>
            <a:ext cx="16430626" cy="2000251"/>
          </a:xfrm>
          <a:prstGeom prst="rect">
            <a:avLst/>
          </a:prstGeom>
        </p:spPr>
        <p:txBody>
          <a:bodyPr/>
          <a:lstStyle>
            <a:lvl1pPr>
              <a:defRPr>
                <a:solidFill>
                  <a:schemeClr val="accent2">
                    <a:satOff val="44164"/>
                    <a:lumOff val="14231"/>
                  </a:schemeClr>
                </a:solidFill>
                <a:latin typeface="Avenir Heavy"/>
                <a:ea typeface="Avenir Heavy"/>
                <a:cs typeface="Avenir Heavy"/>
                <a:sym typeface="Avenir Heavy"/>
              </a:defRPr>
            </a:lvl1pPr>
          </a:lstStyle>
          <a:p>
            <a:r>
              <a:t>REFERENCES</a:t>
            </a:r>
          </a:p>
        </p:txBody>
      </p:sp>
      <p:sp>
        <p:nvSpPr>
          <p:cNvPr id="477" name="First Rust Code in the Windows 11 Kernel…"/>
          <p:cNvSpPr txBox="1">
            <a:spLocks noGrp="1"/>
          </p:cNvSpPr>
          <p:nvPr>
            <p:ph type="body" idx="1"/>
          </p:nvPr>
        </p:nvSpPr>
        <p:spPr>
          <a:xfrm>
            <a:off x="3044563" y="2459399"/>
            <a:ext cx="18682187" cy="9999675"/>
          </a:xfrm>
          <a:prstGeom prst="rect">
            <a:avLst/>
          </a:prstGeom>
        </p:spPr>
        <p:txBody>
          <a:bodyPr anchor="t">
            <a:normAutofit/>
          </a:bodyPr>
          <a:lstStyle/>
          <a:p>
            <a:pPr marL="471913" indent="-471913" defTabSz="607933">
              <a:spcBef>
                <a:spcPts val="2000"/>
              </a:spcBef>
              <a:defRPr sz="2812">
                <a:latin typeface="Helvetica"/>
                <a:ea typeface="Helvetica"/>
                <a:cs typeface="Helvetica"/>
                <a:sym typeface="Helvetica"/>
              </a:defRPr>
            </a:pPr>
            <a:r>
              <a:rPr dirty="0">
                <a:solidFill>
                  <a:schemeClr val="tx1"/>
                </a:solidFill>
              </a:rPr>
              <a:t>First Rust Code in the Windows 11 Kernel</a:t>
            </a:r>
          </a:p>
          <a:p>
            <a:pPr marL="471913" indent="-471913" defTabSz="607933">
              <a:spcBef>
                <a:spcPts val="2000"/>
              </a:spcBef>
              <a:defRPr sz="2294">
                <a:latin typeface="Helvetica"/>
                <a:ea typeface="Helvetica"/>
                <a:cs typeface="Helvetica"/>
                <a:sym typeface="Helvetica"/>
              </a:defRPr>
            </a:pPr>
            <a:r>
              <a:rPr dirty="0">
                <a:solidFill>
                  <a:schemeClr val="tx1"/>
                </a:solidFill>
                <a:hlinkClick r:id="rId4">
                  <a:extLst>
                    <a:ext uri="{A12FA001-AC4F-418D-AE19-62706E023703}">
                      <ahyp:hlinkClr xmlns:ahyp="http://schemas.microsoft.com/office/drawing/2018/hyperlinkcolor" val="tx"/>
                    </a:ext>
                  </a:extLst>
                </a:hlinkClick>
              </a:rPr>
              <a:t>https://www.thurrott.com/windows/windows-11/282995/first-rust-code-shows-up-in-the-windows-11-kernel</a:t>
            </a:r>
            <a:endParaRPr lang="en-US" dirty="0">
              <a:solidFill>
                <a:schemeClr val="tx1"/>
              </a:solidFill>
            </a:endParaRPr>
          </a:p>
          <a:p>
            <a:pPr marL="471913" indent="-471913" defTabSz="607933">
              <a:spcBef>
                <a:spcPts val="2000"/>
              </a:spcBef>
              <a:defRPr sz="2812">
                <a:latin typeface="Helvetica"/>
                <a:ea typeface="Helvetica"/>
                <a:cs typeface="Helvetica"/>
                <a:sym typeface="Helvetica"/>
              </a:defRPr>
            </a:pPr>
            <a:endParaRPr dirty="0">
              <a:solidFill>
                <a:schemeClr val="tx1"/>
              </a:solidFill>
            </a:endParaRPr>
          </a:p>
          <a:p>
            <a:pPr marL="471913" indent="-471913" defTabSz="607933">
              <a:spcBef>
                <a:spcPts val="2000"/>
              </a:spcBef>
              <a:defRPr sz="2812">
                <a:latin typeface="Helvetica"/>
                <a:ea typeface="Helvetica"/>
                <a:cs typeface="Helvetica"/>
                <a:sym typeface="Helvetica"/>
              </a:defRPr>
            </a:pPr>
            <a:r>
              <a:rPr dirty="0">
                <a:solidFill>
                  <a:schemeClr val="tx1"/>
                </a:solidFill>
              </a:rPr>
              <a:t>Rust for Linux</a:t>
            </a:r>
          </a:p>
          <a:p>
            <a:pPr marL="471913" indent="-471913" defTabSz="607933">
              <a:spcBef>
                <a:spcPts val="2000"/>
              </a:spcBef>
              <a:defRPr sz="2812">
                <a:latin typeface="Helvetica"/>
                <a:ea typeface="Helvetica"/>
                <a:cs typeface="Helvetica"/>
                <a:sym typeface="Helvetica"/>
              </a:defRPr>
            </a:pPr>
            <a:r>
              <a:rPr dirty="0">
                <a:solidFill>
                  <a:schemeClr val="tx1"/>
                </a:solidFill>
                <a:hlinkClick r:id="rId5">
                  <a:extLst>
                    <a:ext uri="{A12FA001-AC4F-418D-AE19-62706E023703}">
                      <ahyp:hlinkClr xmlns:ahyp="http://schemas.microsoft.com/office/drawing/2018/hyperlinkcolor" val="tx"/>
                    </a:ext>
                  </a:extLst>
                </a:hlinkClick>
              </a:rPr>
              <a:t>https://en.wikipedia.org/wiki/Rust_for_Linux</a:t>
            </a:r>
            <a:endParaRPr dirty="0">
              <a:solidFill>
                <a:schemeClr val="tx1"/>
              </a:solidFill>
            </a:endParaRPr>
          </a:p>
          <a:p>
            <a:pPr marL="471913" indent="-471913" defTabSz="607933">
              <a:spcBef>
                <a:spcPts val="2000"/>
              </a:spcBef>
              <a:defRPr sz="2812">
                <a:latin typeface="Helvetica"/>
                <a:ea typeface="Helvetica"/>
                <a:cs typeface="Helvetica"/>
                <a:sym typeface="Helvetica"/>
              </a:defRPr>
            </a:pPr>
            <a:endParaRPr dirty="0">
              <a:solidFill>
                <a:schemeClr val="tx1"/>
              </a:solidFill>
            </a:endParaRPr>
          </a:p>
          <a:p>
            <a:pPr marL="471913" indent="-471913" defTabSz="607933">
              <a:spcBef>
                <a:spcPts val="2000"/>
              </a:spcBef>
              <a:defRPr sz="2812">
                <a:latin typeface="Helvetica"/>
                <a:ea typeface="Helvetica"/>
                <a:cs typeface="Helvetica"/>
                <a:sym typeface="Helvetica"/>
              </a:defRPr>
            </a:pPr>
            <a:r>
              <a:rPr dirty="0">
                <a:solidFill>
                  <a:schemeClr val="tx1"/>
                </a:solidFill>
              </a:rPr>
              <a:t>In Rust we trust? White House Office urges memory safety</a:t>
            </a:r>
          </a:p>
          <a:p>
            <a:pPr marL="471913" indent="-471913" defTabSz="607933">
              <a:spcBef>
                <a:spcPts val="2000"/>
              </a:spcBef>
              <a:defRPr sz="2812">
                <a:latin typeface="Helvetica"/>
                <a:ea typeface="Helvetica"/>
                <a:cs typeface="Helvetica"/>
                <a:sym typeface="Helvetica"/>
              </a:defRPr>
            </a:pPr>
            <a:r>
              <a:rPr u="sng" dirty="0">
                <a:solidFill>
                  <a:schemeClr val="tx1"/>
                </a:solidFill>
                <a:hlinkClick r:id="rId6">
                  <a:extLst>
                    <a:ext uri="{A12FA001-AC4F-418D-AE19-62706E023703}">
                      <ahyp:hlinkClr xmlns:ahyp="http://schemas.microsoft.com/office/drawing/2018/hyperlinkcolor" val="tx"/>
                    </a:ext>
                  </a:extLst>
                </a:hlinkClick>
              </a:rPr>
              <a:t>https://stackoverflow.blog/2024/03/04/in-rust-we-trust-white-house-office-urges-memory-safety/</a:t>
            </a:r>
          </a:p>
          <a:p>
            <a:pPr marL="471913" indent="-471913" defTabSz="607933">
              <a:spcBef>
                <a:spcPts val="2000"/>
              </a:spcBef>
              <a:defRPr sz="2812">
                <a:latin typeface="Helvetica"/>
                <a:ea typeface="Helvetica"/>
                <a:cs typeface="Helvetica"/>
                <a:sym typeface="Helvetica"/>
              </a:defRPr>
            </a:pPr>
            <a:endParaRPr u="sng" dirty="0">
              <a:solidFill>
                <a:schemeClr val="tx1"/>
              </a:solidFill>
              <a:hlinkClick r:id="rId6">
                <a:extLst>
                  <a:ext uri="{A12FA001-AC4F-418D-AE19-62706E023703}">
                    <ahyp:hlinkClr xmlns:ahyp="http://schemas.microsoft.com/office/drawing/2018/hyperlinkcolor" val="tx"/>
                  </a:ext>
                </a:extLst>
              </a:hlinkClick>
            </a:endParaRPr>
          </a:p>
          <a:p>
            <a:pPr marL="471913" indent="-471913" defTabSz="607933">
              <a:spcBef>
                <a:spcPts val="2000"/>
              </a:spcBef>
              <a:defRPr sz="2812">
                <a:latin typeface="Helvetica"/>
                <a:ea typeface="Helvetica"/>
                <a:cs typeface="Helvetica"/>
                <a:sym typeface="Helvetica"/>
              </a:defRPr>
            </a:pPr>
            <a:r>
              <a:rPr dirty="0">
                <a:solidFill>
                  <a:schemeClr val="tx1"/>
                </a:solidFill>
              </a:rPr>
              <a:t>The Case for Memory Safe Roadmaps</a:t>
            </a:r>
          </a:p>
          <a:p>
            <a:pPr marL="471913" indent="-471913" defTabSz="607933">
              <a:spcBef>
                <a:spcPts val="2000"/>
              </a:spcBef>
              <a:defRPr sz="2812">
                <a:latin typeface="Helvetica"/>
                <a:ea typeface="Helvetica"/>
                <a:cs typeface="Helvetica"/>
                <a:sym typeface="Helvetica"/>
              </a:defRPr>
            </a:pPr>
            <a:r>
              <a:rPr u="sng" dirty="0">
                <a:solidFill>
                  <a:schemeClr val="tx1"/>
                </a:solidFill>
                <a:hlinkClick r:id="rId7">
                  <a:extLst>
                    <a:ext uri="{A12FA001-AC4F-418D-AE19-62706E023703}">
                      <ahyp:hlinkClr xmlns:ahyp="http://schemas.microsoft.com/office/drawing/2018/hyperlinkcolor" val="tx"/>
                    </a:ext>
                  </a:extLst>
                </a:hlinkClick>
              </a:rPr>
              <a:t>https://media.defense.gov/2023/Dec/06/2003352724/-1/-1/0/The-Case-for-Memory-Safe-Roadmaps-TLP-clear.pdf</a:t>
            </a:r>
          </a:p>
          <a:p>
            <a:pPr marL="471913" indent="-471913" defTabSz="607933">
              <a:spcBef>
                <a:spcPts val="2000"/>
              </a:spcBef>
              <a:defRPr sz="2812">
                <a:latin typeface="Helvetica"/>
                <a:ea typeface="Helvetica"/>
                <a:cs typeface="Helvetica"/>
                <a:sym typeface="Helvetica"/>
              </a:defRPr>
            </a:pPr>
            <a:endParaRPr u="sng" dirty="0">
              <a:solidFill>
                <a:schemeClr val="tx1"/>
              </a:solidFill>
              <a:hlinkClick r:id="rId7">
                <a:extLst>
                  <a:ext uri="{A12FA001-AC4F-418D-AE19-62706E023703}">
                    <ahyp:hlinkClr xmlns:ahyp="http://schemas.microsoft.com/office/drawing/2018/hyperlinkcolor" val="tx"/>
                  </a:ext>
                </a:extLst>
              </a:hlinkClick>
            </a:endParaRPr>
          </a:p>
          <a:p>
            <a:pPr marL="471913" indent="-471913" defTabSz="607933">
              <a:spcBef>
                <a:spcPts val="2000"/>
              </a:spcBef>
              <a:defRPr sz="2812">
                <a:latin typeface="Helvetica"/>
                <a:ea typeface="Helvetica"/>
                <a:cs typeface="Helvetica"/>
                <a:sym typeface="Helvetica"/>
              </a:defRPr>
            </a:pPr>
            <a:r>
              <a:rPr dirty="0">
                <a:solidFill>
                  <a:schemeClr val="tx1"/>
                </a:solidFill>
              </a:rPr>
              <a:t>Eliminating Memory Safety Vulnerabilities at the Source</a:t>
            </a:r>
          </a:p>
          <a:p>
            <a:pPr marL="471913" indent="-471913" defTabSz="607933">
              <a:spcBef>
                <a:spcPts val="2000"/>
              </a:spcBef>
              <a:defRPr sz="2812">
                <a:latin typeface="Helvetica"/>
                <a:ea typeface="Helvetica"/>
                <a:cs typeface="Helvetica"/>
                <a:sym typeface="Helvetica"/>
              </a:defRPr>
            </a:pPr>
            <a:r>
              <a:rPr u="sng" dirty="0">
                <a:solidFill>
                  <a:schemeClr val="tx1"/>
                </a:solidFill>
                <a:hlinkClick r:id="rId8">
                  <a:extLst>
                    <a:ext uri="{A12FA001-AC4F-418D-AE19-62706E023703}">
                      <ahyp:hlinkClr xmlns:ahyp="http://schemas.microsoft.com/office/drawing/2018/hyperlinkcolor" val="tx"/>
                    </a:ext>
                  </a:extLst>
                </a:hlinkClick>
              </a:rPr>
              <a:t>https://security.googleblog.com/2024/09/eliminating-memory-safety-vulnerabilities-Android.html</a:t>
            </a:r>
          </a:p>
        </p:txBody>
      </p:sp>
      <p:sp>
        <p:nvSpPr>
          <p:cNvPr id="478"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40</a:t>
            </a:fld>
            <a:endParaRPr/>
          </a:p>
        </p:txBody>
      </p:sp>
      <p:sp>
        <p:nvSpPr>
          <p:cNvPr id="479"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9">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3" name="Easter-Island-Statue-black-background.png" descr="Easter-Island-Statue-black-background.png"/>
          <p:cNvPicPr>
            <a:picLocks noChangeAspect="1"/>
          </p:cNvPicPr>
          <p:nvPr/>
        </p:nvPicPr>
        <p:blipFill>
          <a:blip r:embed="rId3"/>
          <a:stretch>
            <a:fillRect/>
          </a:stretch>
        </p:blipFill>
        <p:spPr>
          <a:xfrm>
            <a:off x="467586" y="221444"/>
            <a:ext cx="2804503" cy="4478239"/>
          </a:xfrm>
          <a:prstGeom prst="rect">
            <a:avLst/>
          </a:prstGeom>
          <a:ln w="12700">
            <a:miter lim="400000"/>
          </a:ln>
        </p:spPr>
      </p:pic>
      <p:sp>
        <p:nvSpPr>
          <p:cNvPr id="484" name="REFERENCES"/>
          <p:cNvSpPr txBox="1">
            <a:spLocks noGrp="1"/>
          </p:cNvSpPr>
          <p:nvPr>
            <p:ph type="title"/>
          </p:nvPr>
        </p:nvSpPr>
        <p:spPr>
          <a:xfrm>
            <a:off x="3582691" y="832625"/>
            <a:ext cx="16430626" cy="2000251"/>
          </a:xfrm>
          <a:prstGeom prst="rect">
            <a:avLst/>
          </a:prstGeom>
        </p:spPr>
        <p:txBody>
          <a:bodyPr/>
          <a:lstStyle>
            <a:lvl1pPr>
              <a:defRPr>
                <a:solidFill>
                  <a:schemeClr val="accent2">
                    <a:satOff val="44164"/>
                    <a:lumOff val="14231"/>
                  </a:schemeClr>
                </a:solidFill>
                <a:latin typeface="Avenir Heavy"/>
                <a:ea typeface="Avenir Heavy"/>
                <a:cs typeface="Avenir Heavy"/>
                <a:sym typeface="Avenir Heavy"/>
              </a:defRPr>
            </a:lvl1pPr>
          </a:lstStyle>
          <a:p>
            <a:r>
              <a:t>REFERENCES</a:t>
            </a:r>
          </a:p>
        </p:txBody>
      </p:sp>
      <p:sp>
        <p:nvSpPr>
          <p:cNvPr id="485" name="Safe C++ proposal…"/>
          <p:cNvSpPr txBox="1">
            <a:spLocks noGrp="1"/>
          </p:cNvSpPr>
          <p:nvPr>
            <p:ph type="body" idx="1"/>
          </p:nvPr>
        </p:nvSpPr>
        <p:spPr>
          <a:xfrm>
            <a:off x="3044563" y="2459399"/>
            <a:ext cx="18682187" cy="9999675"/>
          </a:xfrm>
          <a:prstGeom prst="rect">
            <a:avLst/>
          </a:prstGeom>
        </p:spPr>
        <p:txBody>
          <a:bodyPr anchor="t">
            <a:normAutofit/>
          </a:bodyPr>
          <a:lstStyle/>
          <a:p>
            <a:pPr marL="618589" indent="-618589" defTabSz="796885">
              <a:spcBef>
                <a:spcPts val="2700"/>
              </a:spcBef>
              <a:defRPr sz="3686">
                <a:latin typeface="Helvetica"/>
                <a:ea typeface="Helvetica"/>
                <a:cs typeface="Helvetica"/>
                <a:sym typeface="Helvetica"/>
              </a:defRPr>
            </a:pPr>
            <a:r>
              <a:rPr dirty="0">
                <a:solidFill>
                  <a:schemeClr val="tx1"/>
                </a:solidFill>
              </a:rPr>
              <a:t>Safe C++ proposal</a:t>
            </a:r>
          </a:p>
          <a:p>
            <a:pPr marL="618589" indent="-618589" defTabSz="796885">
              <a:spcBef>
                <a:spcPts val="2700"/>
              </a:spcBef>
              <a:defRPr sz="3686">
                <a:latin typeface="Helvetica"/>
                <a:ea typeface="Helvetica"/>
                <a:cs typeface="Helvetica"/>
                <a:sym typeface="Helvetica"/>
              </a:defRPr>
            </a:pPr>
            <a:r>
              <a:rPr dirty="0">
                <a:solidFill>
                  <a:schemeClr val="tx1"/>
                </a:solidFill>
                <a:hlinkClick r:id="rId4">
                  <a:extLst>
                    <a:ext uri="{A12FA001-AC4F-418D-AE19-62706E023703}">
                      <ahyp:hlinkClr xmlns:ahyp="http://schemas.microsoft.com/office/drawing/2018/hyperlinkcolor" val="tx"/>
                    </a:ext>
                  </a:extLst>
                </a:hlinkClick>
              </a:rPr>
              <a:t>https://safecpp.org/draft.html</a:t>
            </a:r>
            <a:endParaRPr dirty="0">
              <a:solidFill>
                <a:schemeClr val="tx1"/>
              </a:solidFill>
            </a:endParaRPr>
          </a:p>
          <a:p>
            <a:pPr marL="618589" indent="-618589" defTabSz="796885">
              <a:spcBef>
                <a:spcPts val="2700"/>
              </a:spcBef>
              <a:defRPr sz="3686">
                <a:latin typeface="Helvetica"/>
                <a:ea typeface="Helvetica"/>
                <a:cs typeface="Helvetica"/>
                <a:sym typeface="Helvetica"/>
              </a:defRPr>
            </a:pPr>
            <a:endParaRPr dirty="0">
              <a:solidFill>
                <a:schemeClr val="tx1"/>
              </a:solidFill>
            </a:endParaRPr>
          </a:p>
          <a:p>
            <a:pPr marL="618589" indent="-618589" defTabSz="796885">
              <a:spcBef>
                <a:spcPts val="2700"/>
              </a:spcBef>
              <a:defRPr sz="3686">
                <a:latin typeface="Helvetica"/>
                <a:ea typeface="Helvetica"/>
                <a:cs typeface="Helvetica"/>
                <a:sym typeface="Helvetica"/>
              </a:defRPr>
            </a:pPr>
            <a:r>
              <a:rPr dirty="0">
                <a:solidFill>
                  <a:schemeClr val="tx1"/>
                </a:solidFill>
              </a:rPr>
              <a:t>Fil-C</a:t>
            </a:r>
          </a:p>
          <a:p>
            <a:pPr marL="618589" indent="-618589" defTabSz="796885">
              <a:spcBef>
                <a:spcPts val="2700"/>
              </a:spcBef>
              <a:defRPr sz="3686">
                <a:latin typeface="Helvetica"/>
                <a:ea typeface="Helvetica"/>
                <a:cs typeface="Helvetica"/>
                <a:sym typeface="Helvetica"/>
              </a:defRPr>
            </a:pPr>
            <a:r>
              <a:rPr u="sng" dirty="0">
                <a:solidFill>
                  <a:schemeClr val="tx1"/>
                </a:solidFill>
                <a:hlinkClick r:id="rId5">
                  <a:extLst>
                    <a:ext uri="{A12FA001-AC4F-418D-AE19-62706E023703}">
                      <ahyp:hlinkClr xmlns:ahyp="http://schemas.microsoft.com/office/drawing/2018/hyperlinkcolor" val="tx"/>
                    </a:ext>
                  </a:extLst>
                </a:hlinkClick>
              </a:rPr>
              <a:t>https://github.com/pizlonator/llvm-project-deluge/blob/deluge/Manifesto.md</a:t>
            </a:r>
          </a:p>
          <a:p>
            <a:pPr marL="618589" indent="-618589" defTabSz="796885">
              <a:spcBef>
                <a:spcPts val="2700"/>
              </a:spcBef>
              <a:defRPr sz="3686">
                <a:latin typeface="Helvetica"/>
                <a:ea typeface="Helvetica"/>
                <a:cs typeface="Helvetica"/>
                <a:sym typeface="Helvetica"/>
              </a:defRPr>
            </a:pPr>
            <a:endParaRPr u="sng" dirty="0">
              <a:solidFill>
                <a:schemeClr val="tx1"/>
              </a:solidFill>
              <a:hlinkClick r:id="rId5">
                <a:extLst>
                  <a:ext uri="{A12FA001-AC4F-418D-AE19-62706E023703}">
                    <ahyp:hlinkClr xmlns:ahyp="http://schemas.microsoft.com/office/drawing/2018/hyperlinkcolor" val="tx"/>
                  </a:ext>
                </a:extLst>
              </a:hlinkClick>
            </a:endParaRPr>
          </a:p>
          <a:p>
            <a:pPr marL="618589" indent="-618589" defTabSz="796885">
              <a:spcBef>
                <a:spcPts val="2700"/>
              </a:spcBef>
              <a:defRPr sz="3686">
                <a:latin typeface="Helvetica"/>
                <a:ea typeface="Helvetica"/>
                <a:cs typeface="Helvetica"/>
                <a:sym typeface="Helvetica"/>
              </a:defRPr>
            </a:pPr>
            <a:r>
              <a:rPr dirty="0" err="1">
                <a:solidFill>
                  <a:schemeClr val="tx1"/>
                </a:solidFill>
              </a:rPr>
              <a:t>TrapC</a:t>
            </a:r>
            <a:endParaRPr dirty="0">
              <a:solidFill>
                <a:schemeClr val="tx1"/>
              </a:solidFill>
            </a:endParaRPr>
          </a:p>
          <a:p>
            <a:pPr marL="618589" indent="-618589" defTabSz="796885">
              <a:spcBef>
                <a:spcPts val="2700"/>
              </a:spcBef>
              <a:defRPr sz="3686">
                <a:latin typeface="Helvetica"/>
                <a:ea typeface="Helvetica"/>
                <a:cs typeface="Helvetica"/>
                <a:sym typeface="Helvetica"/>
              </a:defRPr>
            </a:pPr>
            <a:r>
              <a:rPr dirty="0">
                <a:solidFill>
                  <a:schemeClr val="tx1"/>
                </a:solidFill>
                <a:hlinkClick r:id="rId6">
                  <a:extLst>
                    <a:ext uri="{A12FA001-AC4F-418D-AE19-62706E023703}">
                      <ahyp:hlinkClr xmlns:ahyp="http://schemas.microsoft.com/office/drawing/2018/hyperlinkcolor" val="tx"/>
                    </a:ext>
                  </a:extLst>
                </a:hlinkClick>
              </a:rPr>
              <a:t>https://vimeo.com/1028578347</a:t>
            </a:r>
            <a:endParaRPr dirty="0">
              <a:solidFill>
                <a:schemeClr val="tx1"/>
              </a:solidFill>
            </a:endParaRPr>
          </a:p>
          <a:p>
            <a:pPr marL="618589" indent="-618589" defTabSz="796885">
              <a:spcBef>
                <a:spcPts val="2700"/>
              </a:spcBef>
              <a:defRPr sz="3686">
                <a:latin typeface="Helvetica"/>
                <a:ea typeface="Helvetica"/>
                <a:cs typeface="Helvetica"/>
                <a:sym typeface="Helvetica"/>
              </a:defRPr>
            </a:pPr>
            <a:endParaRPr dirty="0">
              <a:solidFill>
                <a:schemeClr val="tx1"/>
              </a:solidFill>
            </a:endParaRPr>
          </a:p>
          <a:p>
            <a:pPr marL="618589" indent="-618589" defTabSz="796885">
              <a:spcBef>
                <a:spcPts val="2700"/>
              </a:spcBef>
              <a:defRPr sz="3686">
                <a:latin typeface="Helvetica"/>
                <a:ea typeface="Helvetica"/>
                <a:cs typeface="Helvetica"/>
                <a:sym typeface="Helvetica"/>
              </a:defRPr>
            </a:pPr>
            <a:r>
              <a:rPr dirty="0">
                <a:solidFill>
                  <a:schemeClr val="tx1"/>
                </a:solidFill>
              </a:rPr>
              <a:t>Enabling hardened </a:t>
            </a:r>
            <a:r>
              <a:rPr dirty="0" err="1">
                <a:solidFill>
                  <a:schemeClr val="tx1"/>
                </a:solidFill>
              </a:rPr>
              <a:t>libc</a:t>
            </a:r>
            <a:r>
              <a:rPr dirty="0">
                <a:solidFill>
                  <a:schemeClr val="tx1"/>
                </a:solidFill>
              </a:rPr>
              <a:t>++ / </a:t>
            </a:r>
            <a:r>
              <a:rPr dirty="0" err="1">
                <a:solidFill>
                  <a:schemeClr val="tx1"/>
                </a:solidFill>
              </a:rPr>
              <a:t>listedc</a:t>
            </a:r>
            <a:r>
              <a:rPr dirty="0">
                <a:solidFill>
                  <a:schemeClr val="tx1"/>
                </a:solidFill>
              </a:rPr>
              <a:t>++</a:t>
            </a:r>
          </a:p>
          <a:p>
            <a:pPr marL="618589" indent="-618589" defTabSz="796885">
              <a:spcBef>
                <a:spcPts val="2700"/>
              </a:spcBef>
              <a:defRPr sz="3686">
                <a:latin typeface="Helvetica"/>
                <a:ea typeface="Helvetica"/>
                <a:cs typeface="Helvetica"/>
                <a:sym typeface="Helvetica"/>
              </a:defRPr>
            </a:pPr>
            <a:r>
              <a:rPr u="sng" dirty="0">
                <a:solidFill>
                  <a:schemeClr val="tx1"/>
                </a:solidFill>
                <a:hlinkClick r:id="rId7">
                  <a:extLst>
                    <a:ext uri="{A12FA001-AC4F-418D-AE19-62706E023703}">
                      <ahyp:hlinkClr xmlns:ahyp="http://schemas.microsoft.com/office/drawing/2018/hyperlinkcolor" val="tx"/>
                    </a:ext>
                  </a:extLst>
                </a:hlinkClick>
              </a:rPr>
              <a:t>https://security.googleblog.com/2024/11/retrofitting-spatial-safety-to-hundreds.html</a:t>
            </a:r>
          </a:p>
        </p:txBody>
      </p:sp>
      <p:sp>
        <p:nvSpPr>
          <p:cNvPr id="486"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41</a:t>
            </a:fld>
            <a:endParaRPr/>
          </a:p>
        </p:txBody>
      </p:sp>
      <p:sp>
        <p:nvSpPr>
          <p:cNvPr id="487"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8">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 name="squidward-house-black-background.png" descr="squidward-house-black-background.png"/>
          <p:cNvPicPr>
            <a:picLocks noChangeAspect="1"/>
          </p:cNvPicPr>
          <p:nvPr/>
        </p:nvPicPr>
        <p:blipFill>
          <a:blip r:embed="rId3"/>
          <a:stretch>
            <a:fillRect/>
          </a:stretch>
        </p:blipFill>
        <p:spPr>
          <a:xfrm>
            <a:off x="678148" y="427743"/>
            <a:ext cx="2167254" cy="2810014"/>
          </a:xfrm>
          <a:prstGeom prst="rect">
            <a:avLst/>
          </a:prstGeom>
          <a:ln w="12700">
            <a:miter lim="400000"/>
          </a:ln>
        </p:spPr>
      </p:pic>
      <p:sp>
        <p:nvSpPr>
          <p:cNvPr id="492" name="REFERENCES"/>
          <p:cNvSpPr txBox="1">
            <a:spLocks noGrp="1"/>
          </p:cNvSpPr>
          <p:nvPr>
            <p:ph type="title"/>
          </p:nvPr>
        </p:nvSpPr>
        <p:spPr>
          <a:xfrm>
            <a:off x="3582691" y="832625"/>
            <a:ext cx="16430626" cy="2000251"/>
          </a:xfrm>
          <a:prstGeom prst="rect">
            <a:avLst/>
          </a:prstGeom>
        </p:spPr>
        <p:txBody>
          <a:bodyPr/>
          <a:lstStyle>
            <a:lvl1pPr>
              <a:defRPr>
                <a:solidFill>
                  <a:schemeClr val="accent2">
                    <a:satOff val="44164"/>
                    <a:lumOff val="14231"/>
                  </a:schemeClr>
                </a:solidFill>
                <a:latin typeface="Avenir Heavy"/>
                <a:ea typeface="Avenir Heavy"/>
                <a:cs typeface="Avenir Heavy"/>
                <a:sym typeface="Avenir Heavy"/>
              </a:defRPr>
            </a:lvl1pPr>
          </a:lstStyle>
          <a:p>
            <a:r>
              <a:t>REFERENCES</a:t>
            </a:r>
          </a:p>
        </p:txBody>
      </p:sp>
      <p:sp>
        <p:nvSpPr>
          <p:cNvPr id="493" name="2023 JetBrains State of Developer Ecosystem…"/>
          <p:cNvSpPr txBox="1">
            <a:spLocks noGrp="1"/>
          </p:cNvSpPr>
          <p:nvPr>
            <p:ph type="body" idx="1"/>
          </p:nvPr>
        </p:nvSpPr>
        <p:spPr>
          <a:xfrm>
            <a:off x="3044563" y="2459399"/>
            <a:ext cx="18682187" cy="9999675"/>
          </a:xfrm>
          <a:prstGeom prst="rect">
            <a:avLst/>
          </a:prstGeom>
        </p:spPr>
        <p:txBody>
          <a:bodyPr anchor="t"/>
          <a:lstStyle/>
          <a:p>
            <a:pPr marL="618589" indent="-618589" defTabSz="796885">
              <a:spcBef>
                <a:spcPts val="2700"/>
              </a:spcBef>
              <a:defRPr sz="3686">
                <a:latin typeface="Helvetica"/>
                <a:ea typeface="Helvetica"/>
                <a:cs typeface="Helvetica"/>
                <a:sym typeface="Helvetica"/>
              </a:defRPr>
            </a:pPr>
            <a:r>
              <a:rPr dirty="0">
                <a:solidFill>
                  <a:schemeClr val="tx1"/>
                </a:solidFill>
              </a:rPr>
              <a:t>2023 JetBrains State of Developer Ecosystem</a:t>
            </a:r>
          </a:p>
          <a:p>
            <a:pPr marL="618589" indent="-618589" defTabSz="796885">
              <a:spcBef>
                <a:spcPts val="2700"/>
              </a:spcBef>
              <a:defRPr sz="3686">
                <a:latin typeface="Helvetica"/>
                <a:ea typeface="Helvetica"/>
                <a:cs typeface="Helvetica"/>
                <a:sym typeface="Helvetica"/>
              </a:defRPr>
            </a:pPr>
            <a:r>
              <a:rPr u="sng" dirty="0">
                <a:solidFill>
                  <a:schemeClr val="tx1"/>
                </a:solidFill>
                <a:hlinkClick r:id="rId4">
                  <a:extLst>
                    <a:ext uri="{A12FA001-AC4F-418D-AE19-62706E023703}">
                      <ahyp:hlinkClr xmlns:ahyp="http://schemas.microsoft.com/office/drawing/2018/hyperlinkcolor" val="tx"/>
                    </a:ext>
                  </a:extLst>
                </a:hlinkClick>
              </a:rPr>
              <a:t>https://www.jetbrains.com/lp/devecosystem-2023/rust/</a:t>
            </a:r>
          </a:p>
          <a:p>
            <a:pPr marL="618589" indent="-618589" defTabSz="796885">
              <a:spcBef>
                <a:spcPts val="2700"/>
              </a:spcBef>
              <a:defRPr sz="3686">
                <a:latin typeface="Helvetica"/>
                <a:ea typeface="Helvetica"/>
                <a:cs typeface="Helvetica"/>
                <a:sym typeface="Helvetica"/>
              </a:defRPr>
            </a:pPr>
            <a:endParaRPr u="sng" dirty="0">
              <a:solidFill>
                <a:schemeClr val="tx1"/>
              </a:solidFill>
              <a:hlinkClick r:id="rId4">
                <a:extLst>
                  <a:ext uri="{A12FA001-AC4F-418D-AE19-62706E023703}">
                    <ahyp:hlinkClr xmlns:ahyp="http://schemas.microsoft.com/office/drawing/2018/hyperlinkcolor" val="tx"/>
                  </a:ext>
                </a:extLst>
              </a:hlinkClick>
            </a:endParaRPr>
          </a:p>
          <a:p>
            <a:pPr marL="618589" indent="-618589" defTabSz="796885">
              <a:spcBef>
                <a:spcPts val="2700"/>
              </a:spcBef>
              <a:defRPr sz="3686">
                <a:latin typeface="Helvetica"/>
                <a:ea typeface="Helvetica"/>
                <a:cs typeface="Helvetica"/>
                <a:sym typeface="Helvetica"/>
              </a:defRPr>
            </a:pPr>
            <a:r>
              <a:rPr dirty="0">
                <a:solidFill>
                  <a:schemeClr val="tx1"/>
                </a:solidFill>
              </a:rPr>
              <a:t>The Rust community’s crate registry</a:t>
            </a:r>
          </a:p>
          <a:p>
            <a:pPr marL="618589" indent="-618589" defTabSz="796885">
              <a:spcBef>
                <a:spcPts val="2700"/>
              </a:spcBef>
              <a:defRPr sz="3686">
                <a:latin typeface="Helvetica"/>
                <a:ea typeface="Helvetica"/>
                <a:cs typeface="Helvetica"/>
                <a:sym typeface="Helvetica"/>
              </a:defRPr>
            </a:pPr>
            <a:r>
              <a:rPr dirty="0">
                <a:solidFill>
                  <a:schemeClr val="tx1"/>
                </a:solidFill>
              </a:rPr>
              <a:t>https://</a:t>
            </a:r>
            <a:r>
              <a:rPr dirty="0" err="1">
                <a:solidFill>
                  <a:schemeClr val="tx1"/>
                </a:solidFill>
              </a:rPr>
              <a:t>crates.io</a:t>
            </a:r>
            <a:r>
              <a:rPr dirty="0">
                <a:solidFill>
                  <a:schemeClr val="tx1"/>
                </a:solidFill>
              </a:rPr>
              <a:t>/</a:t>
            </a:r>
          </a:p>
          <a:p>
            <a:pPr marL="618589" indent="-618589" defTabSz="796885">
              <a:spcBef>
                <a:spcPts val="2700"/>
              </a:spcBef>
              <a:defRPr sz="3686">
                <a:latin typeface="Helvetica"/>
                <a:ea typeface="Helvetica"/>
                <a:cs typeface="Helvetica"/>
                <a:sym typeface="Helvetica"/>
              </a:defRPr>
            </a:pPr>
            <a:endParaRPr dirty="0">
              <a:solidFill>
                <a:schemeClr val="tx1"/>
              </a:solidFill>
            </a:endParaRPr>
          </a:p>
          <a:p>
            <a:pPr marL="618589" indent="-618589" defTabSz="796885">
              <a:spcBef>
                <a:spcPts val="2700"/>
              </a:spcBef>
              <a:defRPr sz="3686">
                <a:latin typeface="Helvetica"/>
                <a:ea typeface="Helvetica"/>
                <a:cs typeface="Helvetica"/>
                <a:sym typeface="Helvetica"/>
              </a:defRPr>
            </a:pPr>
            <a:r>
              <a:rPr dirty="0">
                <a:solidFill>
                  <a:schemeClr val="tx1"/>
                </a:solidFill>
              </a:rPr>
              <a:t>2023 Annual Rust Survey Results</a:t>
            </a:r>
          </a:p>
          <a:p>
            <a:pPr marL="618589" indent="-618589" defTabSz="796885">
              <a:spcBef>
                <a:spcPts val="2700"/>
              </a:spcBef>
              <a:defRPr sz="3686">
                <a:latin typeface="Helvetica"/>
                <a:ea typeface="Helvetica"/>
                <a:cs typeface="Helvetica"/>
                <a:sym typeface="Helvetica"/>
              </a:defRPr>
            </a:pPr>
            <a:r>
              <a:rPr u="sng" dirty="0">
                <a:solidFill>
                  <a:schemeClr val="tx1"/>
                </a:solidFill>
                <a:hlinkClick r:id="rId5">
                  <a:extLst>
                    <a:ext uri="{A12FA001-AC4F-418D-AE19-62706E023703}">
                      <ahyp:hlinkClr xmlns:ahyp="http://schemas.microsoft.com/office/drawing/2018/hyperlinkcolor" val="tx"/>
                    </a:ext>
                  </a:extLst>
                </a:hlinkClick>
              </a:rPr>
              <a:t>https://blog.rust-lang.org/2024/02/19/2023-Rust-Annual-Survey-2023-results.html</a:t>
            </a:r>
            <a:r>
              <a:rPr dirty="0">
                <a:solidFill>
                  <a:schemeClr val="tx1"/>
                </a:solidFill>
              </a:rPr>
              <a:t> </a:t>
            </a:r>
          </a:p>
          <a:p>
            <a:pPr marL="618589" indent="-618589" defTabSz="796885">
              <a:spcBef>
                <a:spcPts val="2700"/>
              </a:spcBef>
              <a:defRPr sz="3686">
                <a:latin typeface="Helvetica"/>
                <a:ea typeface="Helvetica"/>
                <a:cs typeface="Helvetica"/>
                <a:sym typeface="Helvetica"/>
              </a:defRPr>
            </a:pPr>
            <a:endParaRPr dirty="0">
              <a:solidFill>
                <a:schemeClr val="tx1"/>
              </a:solidFill>
            </a:endParaRPr>
          </a:p>
          <a:p>
            <a:pPr marL="618589" indent="-618589" defTabSz="796885">
              <a:spcBef>
                <a:spcPts val="2700"/>
              </a:spcBef>
              <a:defRPr sz="3686">
                <a:latin typeface="Helvetica"/>
                <a:ea typeface="Helvetica"/>
                <a:cs typeface="Helvetica"/>
                <a:sym typeface="Helvetica"/>
              </a:defRPr>
            </a:pPr>
            <a:r>
              <a:rPr dirty="0">
                <a:solidFill>
                  <a:schemeClr val="tx1"/>
                </a:solidFill>
              </a:rPr>
              <a:t>The State of </a:t>
            </a:r>
            <a:r>
              <a:rPr dirty="0" err="1">
                <a:solidFill>
                  <a:schemeClr val="tx1"/>
                </a:solidFill>
              </a:rPr>
              <a:t>WebAssembly</a:t>
            </a:r>
            <a:r>
              <a:rPr dirty="0">
                <a:solidFill>
                  <a:schemeClr val="tx1"/>
                </a:solidFill>
              </a:rPr>
              <a:t> 2023</a:t>
            </a:r>
          </a:p>
          <a:p>
            <a:pPr marL="618589" indent="-618589" defTabSz="796885">
              <a:spcBef>
                <a:spcPts val="2700"/>
              </a:spcBef>
              <a:defRPr sz="3686">
                <a:latin typeface="Helvetica"/>
                <a:ea typeface="Helvetica"/>
                <a:cs typeface="Helvetica"/>
                <a:sym typeface="Helvetica"/>
              </a:defRPr>
            </a:pPr>
            <a:r>
              <a:rPr dirty="0">
                <a:solidFill>
                  <a:schemeClr val="tx1"/>
                </a:solidFill>
              </a:rPr>
              <a:t>https://</a:t>
            </a:r>
            <a:r>
              <a:rPr dirty="0" err="1">
                <a:solidFill>
                  <a:schemeClr val="tx1"/>
                </a:solidFill>
              </a:rPr>
              <a:t>blog.scottlogic.com</a:t>
            </a:r>
            <a:r>
              <a:rPr dirty="0">
                <a:solidFill>
                  <a:schemeClr val="tx1"/>
                </a:solidFill>
              </a:rPr>
              <a:t>/2023/10/18/the-state-of-webassembly-2023.html</a:t>
            </a:r>
          </a:p>
        </p:txBody>
      </p:sp>
      <p:sp>
        <p:nvSpPr>
          <p:cNvPr id="494"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42</a:t>
            </a:fld>
            <a:endParaRPr/>
          </a:p>
        </p:txBody>
      </p:sp>
      <p:sp>
        <p:nvSpPr>
          <p:cNvPr id="495"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6">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9" name="rustacean-flat-happy.png" descr="rustacean-flat-happy.png"/>
          <p:cNvPicPr>
            <a:picLocks noChangeAspect="1"/>
          </p:cNvPicPr>
          <p:nvPr/>
        </p:nvPicPr>
        <p:blipFill>
          <a:blip r:embed="rId3"/>
          <a:stretch>
            <a:fillRect/>
          </a:stretch>
        </p:blipFill>
        <p:spPr>
          <a:xfrm>
            <a:off x="282503" y="268161"/>
            <a:ext cx="3154486" cy="2105278"/>
          </a:xfrm>
          <a:prstGeom prst="rect">
            <a:avLst/>
          </a:prstGeom>
          <a:ln w="12700">
            <a:miter lim="400000"/>
          </a:ln>
        </p:spPr>
      </p:pic>
      <p:sp>
        <p:nvSpPr>
          <p:cNvPr id="500" name="REFERENCES"/>
          <p:cNvSpPr txBox="1">
            <a:spLocks noGrp="1"/>
          </p:cNvSpPr>
          <p:nvPr>
            <p:ph type="title"/>
          </p:nvPr>
        </p:nvSpPr>
        <p:spPr>
          <a:xfrm>
            <a:off x="3582691" y="832625"/>
            <a:ext cx="16430626" cy="2000251"/>
          </a:xfrm>
          <a:prstGeom prst="rect">
            <a:avLst/>
          </a:prstGeom>
        </p:spPr>
        <p:txBody>
          <a:bodyPr/>
          <a:lstStyle>
            <a:lvl1pPr>
              <a:defRPr>
                <a:solidFill>
                  <a:schemeClr val="accent2">
                    <a:satOff val="44164"/>
                    <a:lumOff val="14231"/>
                  </a:schemeClr>
                </a:solidFill>
                <a:latin typeface="Avenir Heavy"/>
                <a:ea typeface="Avenir Heavy"/>
                <a:cs typeface="Avenir Heavy"/>
                <a:sym typeface="Avenir Heavy"/>
              </a:defRPr>
            </a:lvl1pPr>
          </a:lstStyle>
          <a:p>
            <a:r>
              <a:t>REFERENCES</a:t>
            </a:r>
          </a:p>
        </p:txBody>
      </p:sp>
      <p:sp>
        <p:nvSpPr>
          <p:cNvPr id="501" name="The Rust Programming Language “The Book”…"/>
          <p:cNvSpPr txBox="1">
            <a:spLocks noGrp="1"/>
          </p:cNvSpPr>
          <p:nvPr>
            <p:ph type="body" idx="1"/>
          </p:nvPr>
        </p:nvSpPr>
        <p:spPr>
          <a:xfrm>
            <a:off x="3044563" y="2459399"/>
            <a:ext cx="18682187" cy="9999675"/>
          </a:xfrm>
          <a:prstGeom prst="rect">
            <a:avLst/>
          </a:prstGeom>
        </p:spPr>
        <p:txBody>
          <a:bodyPr anchor="t"/>
          <a:lstStyle/>
          <a:p>
            <a:pPr marL="484668" indent="-484668" defTabSz="624363">
              <a:spcBef>
                <a:spcPts val="2100"/>
              </a:spcBef>
              <a:defRPr sz="2888">
                <a:latin typeface="Helvetica"/>
                <a:ea typeface="Helvetica"/>
                <a:cs typeface="Helvetica"/>
                <a:sym typeface="Helvetica"/>
              </a:defRPr>
            </a:pPr>
            <a:r>
              <a:rPr dirty="0">
                <a:solidFill>
                  <a:schemeClr val="tx1"/>
                </a:solidFill>
              </a:rPr>
              <a:t>The Rust Programming Language “The Book”</a:t>
            </a:r>
          </a:p>
          <a:p>
            <a:pPr marL="484668" indent="-484668" defTabSz="624363">
              <a:spcBef>
                <a:spcPts val="2100"/>
              </a:spcBef>
              <a:defRPr sz="2888">
                <a:latin typeface="Helvetica"/>
                <a:ea typeface="Helvetica"/>
                <a:cs typeface="Helvetica"/>
                <a:sym typeface="Helvetica"/>
              </a:defRPr>
            </a:pPr>
            <a:r>
              <a:rPr u="sng" dirty="0">
                <a:solidFill>
                  <a:schemeClr val="tx1"/>
                </a:solidFill>
                <a:hlinkClick r:id="rId4">
                  <a:extLst>
                    <a:ext uri="{A12FA001-AC4F-418D-AE19-62706E023703}">
                      <ahyp:hlinkClr xmlns:ahyp="http://schemas.microsoft.com/office/drawing/2018/hyperlinkcolor" val="tx"/>
                    </a:ext>
                  </a:extLst>
                </a:hlinkClick>
              </a:rPr>
              <a:t>https://doc.rust-lang.org/book/</a:t>
            </a:r>
          </a:p>
          <a:p>
            <a:pPr marL="484668" indent="-484668" defTabSz="624363">
              <a:spcBef>
                <a:spcPts val="2100"/>
              </a:spcBef>
              <a:defRPr sz="2888">
                <a:latin typeface="Helvetica"/>
                <a:ea typeface="Helvetica"/>
                <a:cs typeface="Helvetica"/>
                <a:sym typeface="Helvetica"/>
              </a:defRPr>
            </a:pPr>
            <a:endParaRPr u="sng" dirty="0">
              <a:solidFill>
                <a:schemeClr val="tx1"/>
              </a:solidFill>
              <a:hlinkClick r:id="rId4">
                <a:extLst>
                  <a:ext uri="{A12FA001-AC4F-418D-AE19-62706E023703}">
                    <ahyp:hlinkClr xmlns:ahyp="http://schemas.microsoft.com/office/drawing/2018/hyperlinkcolor" val="tx"/>
                  </a:ext>
                </a:extLst>
              </a:hlinkClick>
            </a:endParaRPr>
          </a:p>
          <a:p>
            <a:pPr marL="484668" indent="-484668" defTabSz="624363">
              <a:spcBef>
                <a:spcPts val="2100"/>
              </a:spcBef>
              <a:defRPr sz="2888">
                <a:latin typeface="Helvetica"/>
                <a:ea typeface="Helvetica"/>
                <a:cs typeface="Helvetica"/>
                <a:sym typeface="Helvetica"/>
              </a:defRPr>
            </a:pPr>
            <a:r>
              <a:rPr dirty="0">
                <a:solidFill>
                  <a:schemeClr val="tx1"/>
                </a:solidFill>
              </a:rPr>
              <a:t>Let’s Get Rusty (Videos)</a:t>
            </a:r>
          </a:p>
          <a:p>
            <a:pPr marL="484668" indent="-484668" defTabSz="624363">
              <a:spcBef>
                <a:spcPts val="2100"/>
              </a:spcBef>
              <a:defRPr sz="2888">
                <a:latin typeface="Helvetica"/>
                <a:ea typeface="Helvetica"/>
                <a:cs typeface="Helvetica"/>
                <a:sym typeface="Helvetica"/>
              </a:defRPr>
            </a:pPr>
            <a:r>
              <a:rPr u="sng" dirty="0">
                <a:solidFill>
                  <a:schemeClr val="tx1"/>
                </a:solidFill>
                <a:hlinkClick r:id="rId5">
                  <a:extLst>
                    <a:ext uri="{A12FA001-AC4F-418D-AE19-62706E023703}">
                      <ahyp:hlinkClr xmlns:ahyp="http://schemas.microsoft.com/office/drawing/2018/hyperlinkcolor" val="tx"/>
                    </a:ext>
                  </a:extLst>
                </a:hlinkClick>
              </a:rPr>
              <a:t>https://www.youtube.com/playlist?list=PLai5B987bZ9CoVR-QEIN9foz4QCJ0H2Y8</a:t>
            </a:r>
          </a:p>
          <a:p>
            <a:pPr marL="484668" indent="-484668" defTabSz="624363">
              <a:spcBef>
                <a:spcPts val="2100"/>
              </a:spcBef>
              <a:defRPr sz="2888">
                <a:latin typeface="Helvetica"/>
                <a:ea typeface="Helvetica"/>
                <a:cs typeface="Helvetica"/>
                <a:sym typeface="Helvetica"/>
              </a:defRPr>
            </a:pPr>
            <a:endParaRPr u="sng" dirty="0">
              <a:solidFill>
                <a:schemeClr val="tx1"/>
              </a:solidFill>
              <a:hlinkClick r:id="rId5">
                <a:extLst>
                  <a:ext uri="{A12FA001-AC4F-418D-AE19-62706E023703}">
                    <ahyp:hlinkClr xmlns:ahyp="http://schemas.microsoft.com/office/drawing/2018/hyperlinkcolor" val="tx"/>
                  </a:ext>
                </a:extLst>
              </a:hlinkClick>
            </a:endParaRPr>
          </a:p>
          <a:p>
            <a:pPr marL="484668" indent="-484668" defTabSz="624363">
              <a:spcBef>
                <a:spcPts val="2100"/>
              </a:spcBef>
              <a:defRPr sz="2888">
                <a:latin typeface="Helvetica"/>
                <a:ea typeface="Helvetica"/>
                <a:cs typeface="Helvetica"/>
                <a:sym typeface="Helvetica"/>
              </a:defRPr>
            </a:pPr>
            <a:r>
              <a:rPr dirty="0">
                <a:solidFill>
                  <a:schemeClr val="tx1"/>
                </a:solidFill>
              </a:rPr>
              <a:t>Rust by Example</a:t>
            </a:r>
          </a:p>
          <a:p>
            <a:pPr marL="484668" indent="-484668" defTabSz="624363">
              <a:spcBef>
                <a:spcPts val="2100"/>
              </a:spcBef>
              <a:defRPr sz="2888">
                <a:latin typeface="Helvetica"/>
                <a:ea typeface="Helvetica"/>
                <a:cs typeface="Helvetica"/>
                <a:sym typeface="Helvetica"/>
              </a:defRPr>
            </a:pPr>
            <a:r>
              <a:rPr u="sng" dirty="0">
                <a:solidFill>
                  <a:schemeClr val="tx1"/>
                </a:solidFill>
                <a:hlinkClick r:id="rId6">
                  <a:extLst>
                    <a:ext uri="{A12FA001-AC4F-418D-AE19-62706E023703}">
                      <ahyp:hlinkClr xmlns:ahyp="http://schemas.microsoft.com/office/drawing/2018/hyperlinkcolor" val="tx"/>
                    </a:ext>
                  </a:extLst>
                </a:hlinkClick>
              </a:rPr>
              <a:t>https://doc.rust-lang.org/rust-by-example/</a:t>
            </a:r>
          </a:p>
          <a:p>
            <a:pPr marL="484668" indent="-484668" defTabSz="624363">
              <a:spcBef>
                <a:spcPts val="2100"/>
              </a:spcBef>
              <a:defRPr sz="2888">
                <a:latin typeface="Helvetica"/>
                <a:ea typeface="Helvetica"/>
                <a:cs typeface="Helvetica"/>
                <a:sym typeface="Helvetica"/>
              </a:defRPr>
            </a:pPr>
            <a:endParaRPr u="sng" dirty="0">
              <a:solidFill>
                <a:schemeClr val="tx1"/>
              </a:solidFill>
              <a:hlinkClick r:id="rId6">
                <a:extLst>
                  <a:ext uri="{A12FA001-AC4F-418D-AE19-62706E023703}">
                    <ahyp:hlinkClr xmlns:ahyp="http://schemas.microsoft.com/office/drawing/2018/hyperlinkcolor" val="tx"/>
                  </a:ext>
                </a:extLst>
              </a:hlinkClick>
            </a:endParaRPr>
          </a:p>
          <a:p>
            <a:pPr marL="484668" indent="-484668" defTabSz="624363">
              <a:spcBef>
                <a:spcPts val="2100"/>
              </a:spcBef>
              <a:defRPr sz="2888">
                <a:latin typeface="Helvetica"/>
                <a:ea typeface="Helvetica"/>
                <a:cs typeface="Helvetica"/>
                <a:sym typeface="Helvetica"/>
              </a:defRPr>
            </a:pPr>
            <a:r>
              <a:rPr dirty="0">
                <a:solidFill>
                  <a:schemeClr val="tx1"/>
                </a:solidFill>
              </a:rPr>
              <a:t>Rust Playground</a:t>
            </a:r>
          </a:p>
          <a:p>
            <a:pPr marL="484668" indent="-484668" defTabSz="624363">
              <a:spcBef>
                <a:spcPts val="2100"/>
              </a:spcBef>
              <a:defRPr sz="2888">
                <a:latin typeface="Helvetica"/>
                <a:ea typeface="Helvetica"/>
                <a:cs typeface="Helvetica"/>
                <a:sym typeface="Helvetica"/>
              </a:defRPr>
            </a:pPr>
            <a:r>
              <a:rPr u="sng" dirty="0">
                <a:solidFill>
                  <a:schemeClr val="tx1"/>
                </a:solidFill>
                <a:hlinkClick r:id="rId7">
                  <a:extLst>
                    <a:ext uri="{A12FA001-AC4F-418D-AE19-62706E023703}">
                      <ahyp:hlinkClr xmlns:ahyp="http://schemas.microsoft.com/office/drawing/2018/hyperlinkcolor" val="tx"/>
                    </a:ext>
                  </a:extLst>
                </a:hlinkClick>
              </a:rPr>
              <a:t>https://play.rust-lang.org/</a:t>
            </a:r>
          </a:p>
          <a:p>
            <a:pPr marL="484668" indent="-484668" defTabSz="624363">
              <a:spcBef>
                <a:spcPts val="2100"/>
              </a:spcBef>
              <a:defRPr sz="2888">
                <a:latin typeface="Helvetica"/>
                <a:ea typeface="Helvetica"/>
                <a:cs typeface="Helvetica"/>
                <a:sym typeface="Helvetica"/>
              </a:defRPr>
            </a:pPr>
            <a:endParaRPr u="sng" dirty="0">
              <a:solidFill>
                <a:schemeClr val="tx1"/>
              </a:solidFill>
              <a:hlinkClick r:id="rId7">
                <a:extLst>
                  <a:ext uri="{A12FA001-AC4F-418D-AE19-62706E023703}">
                    <ahyp:hlinkClr xmlns:ahyp="http://schemas.microsoft.com/office/drawing/2018/hyperlinkcolor" val="tx"/>
                  </a:ext>
                </a:extLst>
              </a:hlinkClick>
            </a:endParaRPr>
          </a:p>
          <a:p>
            <a:pPr marL="484668" indent="-484668" defTabSz="624363">
              <a:spcBef>
                <a:spcPts val="2100"/>
              </a:spcBef>
              <a:defRPr sz="2888">
                <a:latin typeface="Helvetica"/>
                <a:ea typeface="Helvetica"/>
                <a:cs typeface="Helvetica"/>
                <a:sym typeface="Helvetica"/>
              </a:defRPr>
            </a:pPr>
            <a:r>
              <a:rPr dirty="0">
                <a:solidFill>
                  <a:schemeClr val="tx1"/>
                </a:solidFill>
              </a:rPr>
              <a:t>Rust for </a:t>
            </a:r>
            <a:r>
              <a:rPr dirty="0" err="1">
                <a:solidFill>
                  <a:schemeClr val="tx1"/>
                </a:solidFill>
              </a:rPr>
              <a:t>Rustaceans</a:t>
            </a:r>
            <a:endParaRPr dirty="0">
              <a:solidFill>
                <a:schemeClr val="tx1"/>
              </a:solidFill>
            </a:endParaRPr>
          </a:p>
          <a:p>
            <a:pPr marL="484668" indent="-484668" defTabSz="624363">
              <a:spcBef>
                <a:spcPts val="2100"/>
              </a:spcBef>
              <a:defRPr sz="2888">
                <a:latin typeface="Helvetica"/>
                <a:ea typeface="Helvetica"/>
                <a:cs typeface="Helvetica"/>
                <a:sym typeface="Helvetica"/>
              </a:defRPr>
            </a:pPr>
            <a:r>
              <a:rPr u="sng" dirty="0">
                <a:solidFill>
                  <a:schemeClr val="tx1"/>
                </a:solidFill>
                <a:hlinkClick r:id="rId8">
                  <a:extLst>
                    <a:ext uri="{A12FA001-AC4F-418D-AE19-62706E023703}">
                      <ahyp:hlinkClr xmlns:ahyp="http://schemas.microsoft.com/office/drawing/2018/hyperlinkcolor" val="tx"/>
                    </a:ext>
                  </a:extLst>
                </a:hlinkClick>
              </a:rPr>
              <a:t>https://www.amazon.com/Rust-Rustaceans-Programming-Experienced-Developers/dp/1718501854/ </a:t>
            </a:r>
          </a:p>
        </p:txBody>
      </p:sp>
      <p:sp>
        <p:nvSpPr>
          <p:cNvPr id="502"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43</a:t>
            </a:fld>
            <a:endParaRPr/>
          </a:p>
        </p:txBody>
      </p:sp>
      <p:sp>
        <p:nvSpPr>
          <p:cNvPr id="503"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9">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Et cetera"/>
          <p:cNvSpPr txBox="1">
            <a:spLocks noGrp="1"/>
          </p:cNvSpPr>
          <p:nvPr>
            <p:ph type="title"/>
          </p:nvPr>
        </p:nvSpPr>
        <p:spPr>
          <a:xfrm>
            <a:off x="3674590" y="5413001"/>
            <a:ext cx="17762867" cy="2469624"/>
          </a:xfrm>
          <a:prstGeom prst="rect">
            <a:avLst/>
          </a:prstGeom>
        </p:spPr>
        <p:txBody>
          <a:bodyPr/>
          <a:lstStyle>
            <a:lvl1pPr algn="ctr">
              <a:defRPr sz="11200" spc="1792">
                <a:solidFill>
                  <a:schemeClr val="accent2">
                    <a:satOff val="44164"/>
                    <a:lumOff val="14231"/>
                  </a:schemeClr>
                </a:solidFill>
                <a:latin typeface="Avenir Heavy"/>
                <a:ea typeface="Avenir Heavy"/>
                <a:cs typeface="Avenir Heavy"/>
                <a:sym typeface="Avenir Heavy"/>
              </a:defRPr>
            </a:lvl1pPr>
          </a:lstStyle>
          <a:p>
            <a:r>
              <a:t>Et cetera</a:t>
            </a:r>
          </a:p>
        </p:txBody>
      </p:sp>
      <p:sp>
        <p:nvSpPr>
          <p:cNvPr id="508"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44</a:t>
            </a:fld>
            <a:endParaRPr/>
          </a:p>
        </p:txBody>
      </p:sp>
      <p:sp>
        <p:nvSpPr>
          <p:cNvPr id="509"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pic>
        <p:nvPicPr>
          <p:cNvPr id="510" name="island-single-coconut-tree-black-bg.png" descr="island-single-coconut-tree-black-bg.png"/>
          <p:cNvPicPr>
            <a:picLocks noChangeAspect="1"/>
          </p:cNvPicPr>
          <p:nvPr/>
        </p:nvPicPr>
        <p:blipFill>
          <a:blip r:embed="rId3"/>
          <a:stretch>
            <a:fillRect/>
          </a:stretch>
        </p:blipFill>
        <p:spPr>
          <a:xfrm>
            <a:off x="1626170" y="2755029"/>
            <a:ext cx="5731925" cy="7378905"/>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Building Java Applications"/>
          <p:cNvSpPr txBox="1">
            <a:spLocks noGrp="1"/>
          </p:cNvSpPr>
          <p:nvPr>
            <p:ph type="title"/>
          </p:nvPr>
        </p:nvSpPr>
        <p:spPr>
          <a:xfrm>
            <a:off x="3976687" y="57150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Building Java Applications</a:t>
            </a:r>
          </a:p>
        </p:txBody>
      </p:sp>
      <p:sp>
        <p:nvSpPr>
          <p:cNvPr id="513"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45</a:t>
            </a:fld>
            <a:endParaRPr/>
          </a:p>
        </p:txBody>
      </p:sp>
      <p:sp>
        <p:nvSpPr>
          <p:cNvPr id="514"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2">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515" name="Source: JetBrains State of Developer Ecosystem 2023 : https://www.jetbrains.com/lp/devecosystem-2023/java/"/>
          <p:cNvSpPr txBox="1"/>
          <p:nvPr/>
        </p:nvSpPr>
        <p:spPr>
          <a:xfrm>
            <a:off x="2907728" y="11886167"/>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JetBrains State of Developer Ecosystem 2023 : https://www.jetbrains.com/lp/devecosystem-2023/java/</a:t>
            </a:r>
          </a:p>
        </p:txBody>
      </p:sp>
      <p:sp>
        <p:nvSpPr>
          <p:cNvPr id="516" name="Maven ● Gradle ● Ant ● sbt ● Bazel"/>
          <p:cNvSpPr txBox="1"/>
          <p:nvPr/>
        </p:nvSpPr>
        <p:spPr>
          <a:xfrm>
            <a:off x="2907728" y="9966700"/>
            <a:ext cx="17868668" cy="1082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6200">
                <a:latin typeface="Helvetica"/>
                <a:ea typeface="Helvetica"/>
                <a:cs typeface="Helvetica"/>
                <a:sym typeface="Helvetica"/>
              </a:defRPr>
            </a:pPr>
            <a:r>
              <a:rPr>
                <a:solidFill>
                  <a:srgbClr val="00FA95"/>
                </a:solidFill>
              </a:rPr>
              <a:t>Maven</a:t>
            </a:r>
            <a:r>
              <a:t> ● Gradle ● Ant ● sbt ● Bazel</a:t>
            </a:r>
          </a:p>
        </p:txBody>
      </p:sp>
      <p:pic>
        <p:nvPicPr>
          <p:cNvPr id="517" name="Java-build-tools-black-background-2.png" descr="Java-build-tools-black-background-2.png"/>
          <p:cNvPicPr>
            <a:picLocks noChangeAspect="1"/>
          </p:cNvPicPr>
          <p:nvPr/>
        </p:nvPicPr>
        <p:blipFill>
          <a:blip r:embed="rId3"/>
          <a:stretch>
            <a:fillRect/>
          </a:stretch>
        </p:blipFill>
        <p:spPr>
          <a:xfrm>
            <a:off x="952500" y="2360809"/>
            <a:ext cx="22479000" cy="676910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RUST IDE"/>
          <p:cNvSpPr txBox="1">
            <a:spLocks noGrp="1"/>
          </p:cNvSpPr>
          <p:nvPr>
            <p:ph type="title"/>
          </p:nvPr>
        </p:nvSpPr>
        <p:spPr>
          <a:xfrm>
            <a:off x="3976687" y="57150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RUST IDE</a:t>
            </a:r>
          </a:p>
        </p:txBody>
      </p:sp>
      <p:sp>
        <p:nvSpPr>
          <p:cNvPr id="520"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46</a:t>
            </a:fld>
            <a:endParaRPr/>
          </a:p>
        </p:txBody>
      </p:sp>
      <p:sp>
        <p:nvSpPr>
          <p:cNvPr id="521"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522" name="Source: JetBrains State of Developer Ecosystem 2023 : https://www.jetbrains.com/lp/devecosystem-2023/rust/"/>
          <p:cNvSpPr txBox="1"/>
          <p:nvPr/>
        </p:nvSpPr>
        <p:spPr>
          <a:xfrm>
            <a:off x="2947775" y="11977729"/>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JetBrains State of Developer Ecosystem 2023 : https://www.jetbrains.com/lp/devecosystem-2023/rust/</a:t>
            </a:r>
          </a:p>
        </p:txBody>
      </p:sp>
      <p:pic>
        <p:nvPicPr>
          <p:cNvPr id="523" name="Rust-IDE-4.png" descr="Rust-IDE-4.png"/>
          <p:cNvPicPr>
            <a:picLocks noChangeAspect="1"/>
          </p:cNvPicPr>
          <p:nvPr/>
        </p:nvPicPr>
        <p:blipFill>
          <a:blip r:embed="rId4"/>
          <a:stretch>
            <a:fillRect/>
          </a:stretch>
        </p:blipFill>
        <p:spPr>
          <a:xfrm>
            <a:off x="5873750" y="2141501"/>
            <a:ext cx="12636500" cy="935679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MICROSOFT Blazor"/>
          <p:cNvSpPr txBox="1">
            <a:spLocks noGrp="1"/>
          </p:cNvSpPr>
          <p:nvPr>
            <p:ph type="title"/>
          </p:nvPr>
        </p:nvSpPr>
        <p:spPr>
          <a:xfrm>
            <a:off x="3976687" y="857250"/>
            <a:ext cx="16430626" cy="1488298"/>
          </a:xfrm>
          <a:prstGeom prst="rect">
            <a:avLst/>
          </a:prstGeom>
        </p:spPr>
        <p:txBody>
          <a:bodyPr/>
          <a:lstStyle>
            <a:lvl1pPr algn="ctr">
              <a:defRPr sz="5600" spc="896">
                <a:solidFill>
                  <a:schemeClr val="accent2">
                    <a:satOff val="44164"/>
                    <a:lumOff val="14231"/>
                  </a:schemeClr>
                </a:solidFill>
                <a:latin typeface="Avenir Heavy"/>
                <a:ea typeface="Avenir Heavy"/>
                <a:cs typeface="Avenir Heavy"/>
                <a:sym typeface="Avenir Heavy"/>
              </a:defRPr>
            </a:lvl1pPr>
          </a:lstStyle>
          <a:p>
            <a:r>
              <a:t>MICROSOFT Blazor</a:t>
            </a:r>
          </a:p>
        </p:txBody>
      </p:sp>
      <p:sp>
        <p:nvSpPr>
          <p:cNvPr id="528" name="C#-Based Web Development: Enables building interactive web applications using C# and .NET instead of JavaScript.…"/>
          <p:cNvSpPr txBox="1">
            <a:spLocks noGrp="1"/>
          </p:cNvSpPr>
          <p:nvPr>
            <p:ph type="body" idx="1"/>
          </p:nvPr>
        </p:nvSpPr>
        <p:spPr>
          <a:xfrm>
            <a:off x="2444840" y="2663657"/>
            <a:ext cx="19494320" cy="8388686"/>
          </a:xfrm>
          <a:prstGeom prst="rect">
            <a:avLst/>
          </a:prstGeom>
        </p:spPr>
        <p:txBody>
          <a:bodyPr anchor="t"/>
          <a:lstStyle/>
          <a:p>
            <a:pPr marL="434187" indent="-434187" defTabSz="542210">
              <a:spcBef>
                <a:spcPts val="3400"/>
              </a:spcBef>
              <a:defRPr sz="3696">
                <a:latin typeface="Avenir Medium"/>
                <a:ea typeface="Avenir Medium"/>
                <a:cs typeface="Avenir Medium"/>
                <a:sym typeface="Avenir Medium"/>
              </a:defRPr>
            </a:pPr>
            <a:r>
              <a:rPr>
                <a:latin typeface="Avenir Heavy"/>
                <a:ea typeface="Avenir Heavy"/>
                <a:cs typeface="Avenir Heavy"/>
                <a:sym typeface="Avenir Heavy"/>
              </a:rPr>
              <a:t>C#-Based Web Development</a:t>
            </a:r>
            <a:r>
              <a:t>: Enables building interactive web applications using C# and .NET instead of JavaScript.</a:t>
            </a:r>
          </a:p>
          <a:p>
            <a:pPr marL="434187" indent="-434187" defTabSz="542210">
              <a:spcBef>
                <a:spcPts val="3400"/>
              </a:spcBef>
              <a:defRPr sz="3696">
                <a:latin typeface="Avenir Medium"/>
                <a:ea typeface="Avenir Medium"/>
                <a:cs typeface="Avenir Medium"/>
                <a:sym typeface="Avenir Medium"/>
              </a:defRPr>
            </a:pPr>
            <a:r>
              <a:rPr>
                <a:latin typeface="Avenir Heavy"/>
                <a:ea typeface="Avenir Heavy"/>
                <a:cs typeface="Avenir Heavy"/>
                <a:sym typeface="Avenir Heavy"/>
              </a:rPr>
              <a:t>Component-Based Architecture</a:t>
            </a:r>
            <a:r>
              <a:t>: Allows developers to create reusable UI components using Razor syntax (HTML + C#).</a:t>
            </a:r>
          </a:p>
          <a:p>
            <a:pPr marL="434187" indent="-434187" defTabSz="542210">
              <a:spcBef>
                <a:spcPts val="3400"/>
              </a:spcBef>
              <a:defRPr sz="3696">
                <a:latin typeface="Avenir Medium"/>
                <a:ea typeface="Avenir Medium"/>
                <a:cs typeface="Avenir Medium"/>
                <a:sym typeface="Avenir Medium"/>
              </a:defRPr>
            </a:pPr>
            <a:r>
              <a:rPr>
                <a:latin typeface="Avenir Heavy"/>
                <a:ea typeface="Avenir Heavy"/>
                <a:cs typeface="Avenir Heavy"/>
                <a:sym typeface="Avenir Heavy"/>
              </a:rPr>
              <a:t>WebAssembly and Server-Side Models</a:t>
            </a:r>
            <a:r>
              <a:t>: Supports both Blazor WebAssembly for client-side execution and Blazor Server for server-side execution via SignalR.</a:t>
            </a:r>
          </a:p>
          <a:p>
            <a:pPr marL="434187" indent="-434187" defTabSz="542210">
              <a:spcBef>
                <a:spcPts val="3400"/>
              </a:spcBef>
              <a:defRPr sz="3696">
                <a:latin typeface="Avenir Medium"/>
                <a:ea typeface="Avenir Medium"/>
                <a:cs typeface="Avenir Medium"/>
                <a:sym typeface="Avenir Medium"/>
              </a:defRPr>
            </a:pPr>
            <a:r>
              <a:rPr>
                <a:latin typeface="Avenir Heavy"/>
                <a:ea typeface="Avenir Heavy"/>
                <a:cs typeface="Avenir Heavy"/>
                <a:sym typeface="Avenir Heavy"/>
              </a:rPr>
              <a:t>Seamless Integration</a:t>
            </a:r>
            <a:r>
              <a:t>: Works seamlessly with the .NET ecosystem, offering robust support for libraries, tools, and frameworks.</a:t>
            </a:r>
          </a:p>
          <a:p>
            <a:pPr marL="434187" indent="-434187" defTabSz="542210">
              <a:spcBef>
                <a:spcPts val="3400"/>
              </a:spcBef>
              <a:defRPr sz="3696">
                <a:latin typeface="Avenir Medium"/>
                <a:ea typeface="Avenir Medium"/>
                <a:cs typeface="Avenir Medium"/>
                <a:sym typeface="Avenir Medium"/>
              </a:defRPr>
            </a:pPr>
            <a:r>
              <a:rPr>
                <a:latin typeface="Avenir Heavy"/>
                <a:ea typeface="Avenir Heavy"/>
                <a:cs typeface="Avenir Heavy"/>
                <a:sym typeface="Avenir Heavy"/>
              </a:rPr>
              <a:t>Unified Full-Stack Development</a:t>
            </a:r>
            <a:r>
              <a:t>: Allows developers to use a single programming language (C#) for both client-side and server-side logic.</a:t>
            </a:r>
          </a:p>
        </p:txBody>
      </p:sp>
      <p:sp>
        <p:nvSpPr>
          <p:cNvPr id="529" name="Slide Number"/>
          <p:cNvSpPr txBox="1">
            <a:spLocks noGrp="1"/>
          </p:cNvSpPr>
          <p:nvPr>
            <p:ph type="sldNum" sz="quarter" idx="4294967295"/>
          </p:nvPr>
        </p:nvSpPr>
        <p:spPr>
          <a:xfrm>
            <a:off x="2774052" y="12982630"/>
            <a:ext cx="472568" cy="5619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47</a:t>
            </a:fld>
            <a:endParaRPr/>
          </a:p>
        </p:txBody>
      </p:sp>
      <p:sp>
        <p:nvSpPr>
          <p:cNvPr id="530" name="Miami JVM Group     https://www.meetup.com/miami-java-user-group/     Thursday, December 5, 2024"/>
          <p:cNvSpPr txBox="1"/>
          <p:nvPr/>
        </p:nvSpPr>
        <p:spPr>
          <a:xfrm>
            <a:off x="3156067" y="12960769"/>
            <a:ext cx="18071867" cy="60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p>
            <a:pPr>
              <a:defRPr sz="3000" b="1">
                <a:latin typeface="Arial"/>
                <a:ea typeface="Arial"/>
                <a:cs typeface="Arial"/>
                <a:sym typeface="Arial"/>
              </a:defRPr>
            </a:pPr>
            <a:r>
              <a:rPr dirty="0"/>
              <a:t>Miami JVM Group     </a:t>
            </a:r>
            <a:r>
              <a:rPr b="0" u="sng" dirty="0">
                <a:solidFill>
                  <a:schemeClr val="tx1"/>
                </a:solidFill>
                <a:hlinkClick r:id="rId3">
                  <a:extLst>
                    <a:ext uri="{A12FA001-AC4F-418D-AE19-62706E023703}">
                      <ahyp:hlinkClr xmlns:ahyp="http://schemas.microsoft.com/office/drawing/2018/hyperlinkcolor" val="tx"/>
                    </a:ext>
                  </a:extLst>
                </a:hlinkClick>
              </a:rPr>
              <a:t>https://www.meetup.com/miami-java-user-group/</a:t>
            </a:r>
            <a:r>
              <a:rPr b="0" dirty="0">
                <a:solidFill>
                  <a:schemeClr val="tx1"/>
                </a:solidFill>
              </a:rPr>
              <a:t>     </a:t>
            </a:r>
            <a:r>
              <a:rPr b="0" dirty="0"/>
              <a:t>Thursday, December 5, 2024</a:t>
            </a:r>
          </a:p>
        </p:txBody>
      </p:sp>
      <p:sp>
        <p:nvSpPr>
          <p:cNvPr id="531" name="Source: Blazor: https://en.wikipedia.org/wiki/Blazor"/>
          <p:cNvSpPr txBox="1"/>
          <p:nvPr/>
        </p:nvSpPr>
        <p:spPr>
          <a:xfrm>
            <a:off x="2947775" y="11977729"/>
            <a:ext cx="17868668" cy="536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defRPr sz="2600">
                <a:latin typeface="Helvetica"/>
                <a:ea typeface="Helvetica"/>
                <a:cs typeface="Helvetica"/>
                <a:sym typeface="Helvetica"/>
              </a:defRPr>
            </a:lvl1pPr>
          </a:lstStyle>
          <a:p>
            <a:r>
              <a:t>Source: Blazor: https://en.wikipedia.org/wiki/Blazor</a:t>
            </a:r>
          </a:p>
        </p:txBody>
      </p:sp>
      <p:pic>
        <p:nvPicPr>
          <p:cNvPr id="532" name="Blazor.png" descr="Blazor.png"/>
          <p:cNvPicPr>
            <a:picLocks noChangeAspect="1"/>
          </p:cNvPicPr>
          <p:nvPr/>
        </p:nvPicPr>
        <p:blipFill>
          <a:blip r:embed="rId4"/>
          <a:stretch>
            <a:fillRect/>
          </a:stretch>
        </p:blipFill>
        <p:spPr>
          <a:xfrm>
            <a:off x="4814218" y="211156"/>
            <a:ext cx="2219287" cy="221928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a14="http://schemas.microsoft.com/office/drawing/2010/main" xmlns:m="http://schemas.openxmlformats.org/officeDocument/2006/math"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2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2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2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2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52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5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 grpId="1" build="p" bldLvl="5" animBg="1" advAuto="0"/>
    </p:bldLst>
  </p:timing>
</p:sld>
</file>

<file path=ppt/theme/theme1.xml><?xml version="1.0" encoding="utf-8"?>
<a:theme xmlns:a="http://schemas.openxmlformats.org/drawingml/2006/main" name="New_Template1">
  <a:themeElements>
    <a:clrScheme name="New_Template1">
      <a:dk1>
        <a:srgbClr val="000000"/>
      </a:dk1>
      <a:lt1>
        <a:srgbClr val="FFFFFF"/>
      </a:lt1>
      <a:dk2>
        <a:srgbClr val="4F4F4F"/>
      </a:dk2>
      <a:lt2>
        <a:srgbClr val="BFBFBF"/>
      </a:lt2>
      <a:accent1>
        <a:srgbClr val="1B6BBC"/>
      </a:accent1>
      <a:accent2>
        <a:srgbClr val="42AAC9"/>
      </a:accent2>
      <a:accent3>
        <a:srgbClr val="518C15"/>
      </a:accent3>
      <a:accent4>
        <a:srgbClr val="DE9000"/>
      </a:accent4>
      <a:accent5>
        <a:srgbClr val="DB2800"/>
      </a:accent5>
      <a:accent6>
        <a:srgbClr val="B130C2"/>
      </a:accent6>
      <a:hlink>
        <a:srgbClr val="0000FF"/>
      </a:hlink>
      <a:folHlink>
        <a:srgbClr val="FF00FF"/>
      </a:folHlink>
    </a:clrScheme>
    <a:fontScheme name="New_Template1">
      <a:majorFont>
        <a:latin typeface="Avenir Light"/>
        <a:ea typeface="Avenir Light"/>
        <a:cs typeface="Avenir Light"/>
      </a:majorFont>
      <a:minorFont>
        <a:latin typeface="Avenir Light"/>
        <a:ea typeface="Avenir Light"/>
        <a:cs typeface="Avenir Light"/>
      </a:minorFont>
    </a:fontScheme>
    <a:fmtScheme name="New_Templat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450000"/>
            <a:satOff val="-18071"/>
            <a:lumOff val="-14609"/>
          </a:schemeClr>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0" i="0" u="none" strike="noStrike" cap="all" spc="512" normalizeH="0" baseline="0">
            <a:ln>
              <a:noFill/>
            </a:ln>
            <a:solidFill>
              <a:srgbClr val="FFFFFF"/>
            </a:solidFill>
            <a:effectLst/>
            <a:uFillTx/>
            <a:latin typeface="Avenir Medium"/>
            <a:ea typeface="Avenir Medium"/>
            <a:cs typeface="Avenir Medium"/>
            <a:sym typeface="Avenir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1">
  <a:themeElements>
    <a:clrScheme name="New_Template1">
      <a:dk1>
        <a:srgbClr val="000000"/>
      </a:dk1>
      <a:lt1>
        <a:srgbClr val="FFFFFF"/>
      </a:lt1>
      <a:dk2>
        <a:srgbClr val="4F4F4F"/>
      </a:dk2>
      <a:lt2>
        <a:srgbClr val="BFBFBF"/>
      </a:lt2>
      <a:accent1>
        <a:srgbClr val="1B6BBC"/>
      </a:accent1>
      <a:accent2>
        <a:srgbClr val="42AAC9"/>
      </a:accent2>
      <a:accent3>
        <a:srgbClr val="518C15"/>
      </a:accent3>
      <a:accent4>
        <a:srgbClr val="DE9000"/>
      </a:accent4>
      <a:accent5>
        <a:srgbClr val="DB2800"/>
      </a:accent5>
      <a:accent6>
        <a:srgbClr val="B130C2"/>
      </a:accent6>
      <a:hlink>
        <a:srgbClr val="0000FF"/>
      </a:hlink>
      <a:folHlink>
        <a:srgbClr val="FF00FF"/>
      </a:folHlink>
    </a:clrScheme>
    <a:fontScheme name="New_Template1">
      <a:majorFont>
        <a:latin typeface="Avenir Light"/>
        <a:ea typeface="Avenir Light"/>
        <a:cs typeface="Avenir Light"/>
      </a:majorFont>
      <a:minorFont>
        <a:latin typeface="Avenir Light"/>
        <a:ea typeface="Avenir Light"/>
        <a:cs typeface="Avenir Light"/>
      </a:minorFont>
    </a:fontScheme>
    <a:fmtScheme name="New_Templat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450000"/>
            <a:satOff val="-18071"/>
            <a:lumOff val="-14609"/>
          </a:schemeClr>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0" i="0" u="none" strike="noStrike" cap="all" spc="512" normalizeH="0" baseline="0">
            <a:ln>
              <a:noFill/>
            </a:ln>
            <a:solidFill>
              <a:srgbClr val="FFFFFF"/>
            </a:solidFill>
            <a:effectLst/>
            <a:uFillTx/>
            <a:latin typeface="Avenir Medium"/>
            <a:ea typeface="Avenir Medium"/>
            <a:cs typeface="Avenir Medium"/>
            <a:sym typeface="Avenir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Avenir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23</TotalTime>
  <Words>4207</Words>
  <Application>Microsoft Macintosh PowerPoint</Application>
  <PresentationFormat>Custom</PresentationFormat>
  <Paragraphs>504</Paragraphs>
  <Slides>47</Slides>
  <Notes>23</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Avenir</vt:lpstr>
      <vt:lpstr>Avenir Book</vt:lpstr>
      <vt:lpstr>Avenir Heavy</vt:lpstr>
      <vt:lpstr>Avenir Light</vt:lpstr>
      <vt:lpstr>New_Template1</vt:lpstr>
      <vt:lpstr>PowerPoint Presentation</vt:lpstr>
      <vt:lpstr>Eugenio Alvarez</vt:lpstr>
      <vt:lpstr>What IS this Video ABOUT</vt:lpstr>
      <vt:lpstr>BRIEF Rust HISTORY</vt:lpstr>
      <vt:lpstr>Where did RuST Come From?</vt:lpstr>
      <vt:lpstr>Rust Compiler Infrastructure </vt:lpstr>
      <vt:lpstr>Why is Rust so Admired?</vt:lpstr>
      <vt:lpstr>Why all the LOVE</vt:lpstr>
      <vt:lpstr>Why all the LOVE (partie deux)</vt:lpstr>
      <vt:lpstr>Cloud providers Love Rust</vt:lpstr>
      <vt:lpstr>Operating System Vendors Love Rust</vt:lpstr>
      <vt:lpstr>The United States GOVERNMENT Loves Rust and Java Too</vt:lpstr>
      <vt:lpstr>Operating System Vendors Love Rust</vt:lpstr>
      <vt:lpstr>C/C++ Reaction to Rust</vt:lpstr>
      <vt:lpstr>Rust / Java Ecosystems</vt:lpstr>
      <vt:lpstr>Rust Ecosystem</vt:lpstr>
      <vt:lpstr>BUILDING RUST Applications</vt:lpstr>
      <vt:lpstr>RUST Crates</vt:lpstr>
      <vt:lpstr>RUST IDE</vt:lpstr>
      <vt:lpstr>Rust / Java Language Features</vt:lpstr>
      <vt:lpstr>JAVA Features Not Rust</vt:lpstr>
      <vt:lpstr> A String IN RUST Compared to Java</vt:lpstr>
      <vt:lpstr>RUST Traits / Java INTERFACE</vt:lpstr>
      <vt:lpstr> RUST Ownership </vt:lpstr>
      <vt:lpstr> Testing IN RUST </vt:lpstr>
      <vt:lpstr>A Few data points</vt:lpstr>
      <vt:lpstr>Rust Use Cases</vt:lpstr>
      <vt:lpstr>RUST Migration</vt:lpstr>
      <vt:lpstr>In What Domains is RUST Being Used</vt:lpstr>
      <vt:lpstr>What are DEVELOPERS making with RUST?</vt:lpstr>
      <vt:lpstr>RUST Target OS/Runtimes</vt:lpstr>
      <vt:lpstr>WebAssembly (WASM)</vt:lpstr>
      <vt:lpstr>RUST and WebAssembly (WASM)</vt:lpstr>
      <vt:lpstr>WebAssembly Beyond the Browser</vt:lpstr>
      <vt:lpstr>WebAssembly Runtimes</vt:lpstr>
      <vt:lpstr>Learning More About Rust</vt:lpstr>
      <vt:lpstr> Learning more about RUST</vt:lpstr>
      <vt:lpstr>PowerPoint Presentation</vt:lpstr>
      <vt:lpstr>REFERENCES</vt:lpstr>
      <vt:lpstr>REFERENCES</vt:lpstr>
      <vt:lpstr>REFERENCES</vt:lpstr>
      <vt:lpstr>REFERENCES</vt:lpstr>
      <vt:lpstr>REFERENCES</vt:lpstr>
      <vt:lpstr>Et cetera</vt:lpstr>
      <vt:lpstr>Building Java Applications</vt:lpstr>
      <vt:lpstr>RUST IDE</vt:lpstr>
      <vt:lpstr>MICROSOFT Blazor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Alejandro A</cp:lastModifiedBy>
  <cp:revision>2</cp:revision>
  <dcterms:modified xsi:type="dcterms:W3CDTF">2025-01-05T02:04:33Z</dcterms:modified>
</cp:coreProperties>
</file>